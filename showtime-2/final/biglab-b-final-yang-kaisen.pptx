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38d585a0d046b5" /><Relationship Type="http://schemas.openxmlformats.org/officeDocument/2006/relationships/extended-properties" Target="/docProps/app.xml" Id="R12de7c36d125453b" /><Relationship Type="http://schemas.openxmlformats.org/officeDocument/2006/relationships/officeDocument" Target="/ppt/presentation.xml" Id="R315c9951db3b42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4bf261cda4457"/>
  </p:sldMasterIdLst>
  <p:notesMasterIdLst>
    <p:notesMasterId xmlns:r="http://schemas.openxmlformats.org/officeDocument/2006/relationships" r:id="R31ff26221fa7433f"/>
  </p:notesMasterIdLst>
  <p:sldIdLst>
    <p:sldId xmlns:r="http://schemas.openxmlformats.org/officeDocument/2006/relationships" id="256" r:id="R631345bf232f4289"/>
    <p:sldId xmlns:r="http://schemas.openxmlformats.org/officeDocument/2006/relationships" id="257" r:id="R8b5ac237418b4cd8"/>
    <p:sldId xmlns:r="http://schemas.openxmlformats.org/officeDocument/2006/relationships" id="258" r:id="R643ca2d3f1d54010"/>
    <p:sldId xmlns:r="http://schemas.openxmlformats.org/officeDocument/2006/relationships" id="259" r:id="Rda878ddd9dcf4ef9"/>
    <p:sldId xmlns:r="http://schemas.openxmlformats.org/officeDocument/2006/relationships" id="260" r:id="R06684192373d4321"/>
    <p:sldId xmlns:r="http://schemas.openxmlformats.org/officeDocument/2006/relationships" id="261" r:id="R4612bbeaac654af0"/>
    <p:sldId xmlns:r="http://schemas.openxmlformats.org/officeDocument/2006/relationships" id="262" r:id="Re8cc80571a294b0e"/>
    <p:sldId xmlns:r="http://schemas.openxmlformats.org/officeDocument/2006/relationships" id="263" r:id="Rc7df5581c29d4c58"/>
    <p:sldId xmlns:r="http://schemas.openxmlformats.org/officeDocument/2006/relationships" id="264" r:id="R55d3975bea8544da"/>
    <p:sldId xmlns:r="http://schemas.openxmlformats.org/officeDocument/2006/relationships" id="265" r:id="Rc5b2451538d343ff"/>
    <p:sldId xmlns:r="http://schemas.openxmlformats.org/officeDocument/2006/relationships" id="266" r:id="Rd9235e4037644ccc"/>
    <p:sldId xmlns:r="http://schemas.openxmlformats.org/officeDocument/2006/relationships" id="267" r:id="R83ad3dc73b5b4817"/>
    <p:sldId xmlns:r="http://schemas.openxmlformats.org/officeDocument/2006/relationships" id="268" r:id="R5a89687c60714497"/>
    <p:sldId xmlns:r="http://schemas.openxmlformats.org/officeDocument/2006/relationships" id="269" r:id="R22e63ea31e954d27"/>
    <p:sldId xmlns:r="http://schemas.openxmlformats.org/officeDocument/2006/relationships" id="270" r:id="R62138492b2eb4b53"/>
    <p:sldId xmlns:r="http://schemas.openxmlformats.org/officeDocument/2006/relationships" id="271" r:id="R89d63869be2b42b3"/>
    <p:sldId xmlns:r="http://schemas.openxmlformats.org/officeDocument/2006/relationships" id="272" r:id="Re8c7ef705d5c4719"/>
    <p:sldId xmlns:r="http://schemas.openxmlformats.org/officeDocument/2006/relationships" id="273" r:id="R209e4823d5f7422e"/>
    <p:sldId xmlns:r="http://schemas.openxmlformats.org/officeDocument/2006/relationships" id="274" r:id="R7accab2e333948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4bf261cda4457" /><Relationship Type="http://schemas.openxmlformats.org/officeDocument/2006/relationships/theme" Target="/ppt/theme/theme1.xml" Id="Reb6d42a6dceb40cd" /><Relationship Type="http://schemas.openxmlformats.org/officeDocument/2006/relationships/notesMaster" Target="/ppt/notesMasters/notesMaster1.xml" Id="R31ff26221fa7433f" /><Relationship Type="http://schemas.openxmlformats.org/officeDocument/2006/relationships/presProps" Target="/ppt/presProps.xml" Id="R4823ea775d414a31" /><Relationship Type="http://schemas.openxmlformats.org/officeDocument/2006/relationships/viewProps" Target="/ppt/viewProps.xml" Id="R59aa7503acdc4225" /><Relationship Type="http://schemas.openxmlformats.org/officeDocument/2006/relationships/tableStyles" Target="/ppt/tableStyles.xml" Id="Rc96349c091ef4ef6" /><Relationship Type="http://schemas.openxmlformats.org/officeDocument/2006/relationships/slide" Target="/ppt/slides/slide1.xml" Id="R631345bf232f4289" /><Relationship Type="http://schemas.openxmlformats.org/officeDocument/2006/relationships/slide" Target="/ppt/slides/slide2.xml" Id="R8b5ac237418b4cd8" /><Relationship Type="http://schemas.openxmlformats.org/officeDocument/2006/relationships/slide" Target="/ppt/slides/slide3.xml" Id="R643ca2d3f1d54010" /><Relationship Type="http://schemas.openxmlformats.org/officeDocument/2006/relationships/slide" Target="/ppt/slides/slide4.xml" Id="Rda878ddd9dcf4ef9" /><Relationship Type="http://schemas.openxmlformats.org/officeDocument/2006/relationships/slide" Target="/ppt/slides/slide5.xml" Id="R06684192373d4321" /><Relationship Type="http://schemas.openxmlformats.org/officeDocument/2006/relationships/slide" Target="/ppt/slides/slide6.xml" Id="R4612bbeaac654af0" /><Relationship Type="http://schemas.openxmlformats.org/officeDocument/2006/relationships/slide" Target="/ppt/slides/slide7.xml" Id="Re8cc80571a294b0e" /><Relationship Type="http://schemas.openxmlformats.org/officeDocument/2006/relationships/slide" Target="/ppt/slides/slide8.xml" Id="Rc7df5581c29d4c58" /><Relationship Type="http://schemas.openxmlformats.org/officeDocument/2006/relationships/slide" Target="/ppt/slides/slide9.xml" Id="R55d3975bea8544da" /><Relationship Type="http://schemas.openxmlformats.org/officeDocument/2006/relationships/slide" Target="/ppt/slides/slide10.xml" Id="Rc5b2451538d343ff" /><Relationship Type="http://schemas.openxmlformats.org/officeDocument/2006/relationships/slide" Target="/ppt/slides/slide11.xml" Id="Rd9235e4037644ccc" /><Relationship Type="http://schemas.openxmlformats.org/officeDocument/2006/relationships/slide" Target="/ppt/slides/slide12.xml" Id="R83ad3dc73b5b4817" /><Relationship Type="http://schemas.openxmlformats.org/officeDocument/2006/relationships/slide" Target="/ppt/slides/slide13.xml" Id="R5a89687c60714497" /><Relationship Type="http://schemas.openxmlformats.org/officeDocument/2006/relationships/slide" Target="/ppt/slides/slide14.xml" Id="R22e63ea31e954d27" /><Relationship Type="http://schemas.openxmlformats.org/officeDocument/2006/relationships/slide" Target="/ppt/slides/slide15.xml" Id="R62138492b2eb4b53" /><Relationship Type="http://schemas.openxmlformats.org/officeDocument/2006/relationships/slide" Target="/ppt/slides/slide16.xml" Id="R89d63869be2b42b3" /><Relationship Type="http://schemas.openxmlformats.org/officeDocument/2006/relationships/slide" Target="/ppt/slides/slide17.xml" Id="Re8c7ef705d5c4719" /><Relationship Type="http://schemas.openxmlformats.org/officeDocument/2006/relationships/slide" Target="/ppt/slides/slide18.xml" Id="R209e4823d5f7422e" /><Relationship Type="http://schemas.openxmlformats.org/officeDocument/2006/relationships/slide" Target="/ppt/slides/slide19.xml" Id="R7accab2e333948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976cece01e84d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340546d4f9449c" /><Relationship Type="http://schemas.openxmlformats.org/officeDocument/2006/relationships/notesMaster" Target="/ppt/notesMasters/notesMaster1.xml" Id="Rbbe35f85381048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3447812376447b" /><Relationship Type="http://schemas.openxmlformats.org/officeDocument/2006/relationships/notesMaster" Target="/ppt/notesMasters/notesMaster1.xml" Id="R18308784e8e242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1c52f162604c22" /><Relationship Type="http://schemas.openxmlformats.org/officeDocument/2006/relationships/notesMaster" Target="/ppt/notesMasters/notesMaster1.xml" Id="Rea05124bf87c4c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363881ddcd4684" /><Relationship Type="http://schemas.openxmlformats.org/officeDocument/2006/relationships/notesMaster" Target="/ppt/notesMasters/notesMaster1.xml" Id="R7758f2dfc18d41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ba758bd67d40bc" /><Relationship Type="http://schemas.openxmlformats.org/officeDocument/2006/relationships/notesMaster" Target="/ppt/notesMasters/notesMaster1.xml" Id="R5f30d63bfd8744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18cc37e2d845c5" /><Relationship Type="http://schemas.openxmlformats.org/officeDocument/2006/relationships/notesMaster" Target="/ppt/notesMasters/notesMaster1.xml" Id="Rd37286c40d5648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194131923d4299" /><Relationship Type="http://schemas.openxmlformats.org/officeDocument/2006/relationships/notesMaster" Target="/ppt/notesMasters/notesMaster1.xml" Id="R2b5ee3798e8543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49ff89990f4c8e" /><Relationship Type="http://schemas.openxmlformats.org/officeDocument/2006/relationships/notesMaster" Target="/ppt/notesMasters/notesMaster1.xml" Id="Rdc13f7dcef3a45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c5fa99c489467f" /><Relationship Type="http://schemas.openxmlformats.org/officeDocument/2006/relationships/notesMaster" Target="/ppt/notesMasters/notesMaster1.xml" Id="Rbd51479b324d4f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cc2e4e29514bf6" /><Relationship Type="http://schemas.openxmlformats.org/officeDocument/2006/relationships/notesMaster" Target="/ppt/notesMasters/notesMaster1.xml" Id="Ra3b12a84ab3145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b34c3fee914904" /><Relationship Type="http://schemas.openxmlformats.org/officeDocument/2006/relationships/notesMaster" Target="/ppt/notesMasters/notesMaster1.xml" Id="Ra6abcef452854a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df2630914e4e39" /><Relationship Type="http://schemas.openxmlformats.org/officeDocument/2006/relationships/notesMaster" Target="/ppt/notesMasters/notesMaster1.xml" Id="Ref21798bcc4948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ba178c242c4c02" /><Relationship Type="http://schemas.openxmlformats.org/officeDocument/2006/relationships/notesMaster" Target="/ppt/notesMasters/notesMaster1.xml" Id="R7f53f05d9bac4c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3ed7b8b21f42a1" /><Relationship Type="http://schemas.openxmlformats.org/officeDocument/2006/relationships/notesMaster" Target="/ppt/notesMasters/notesMaster1.xml" Id="R5f2b09c4c3fc4d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890a7e7de44836" /><Relationship Type="http://schemas.openxmlformats.org/officeDocument/2006/relationships/notesMaster" Target="/ppt/notesMasters/notesMaster1.xml" Id="Rc54a2a9593604d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cc84c974314d29" /><Relationship Type="http://schemas.openxmlformats.org/officeDocument/2006/relationships/notesMaster" Target="/ppt/notesMasters/notesMaster1.xml" Id="R811c1e350fc147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df82dbe11f4212" /><Relationship Type="http://schemas.openxmlformats.org/officeDocument/2006/relationships/notesMaster" Target="/ppt/notesMasters/notesMaster1.xml" Id="Re1b02e09d86547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21d6f0dd12439c" /><Relationship Type="http://schemas.openxmlformats.org/officeDocument/2006/relationships/notesMaster" Target="/ppt/notesMasters/notesMaster1.xml" Id="Ree5a5fcac3fa4d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3c913a25b44974" /><Relationship Type="http://schemas.openxmlformats.org/officeDocument/2006/relationships/notesMaster" Target="/ppt/notesMasters/notesMaster1.xml" Id="Red2466e5fe224e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7bc9463a3486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0109c76569c4c8a" /><Relationship Type="http://schemas.openxmlformats.org/officeDocument/2006/relationships/slideLayout" Target="/ppt/slideLayouts/slideLayout2.xml" Id="Raf7d7d0051974f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7d7d0051974f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f40cca3a2c44ed" /><Relationship Type="http://schemas.openxmlformats.org/officeDocument/2006/relationships/notesSlide" Target="/ppt/notesSlides/notesSlide1.xml" Id="R26e7c77b8de643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60a6ba24b844ba" /><Relationship Type="http://schemas.openxmlformats.org/officeDocument/2006/relationships/notesSlide" Target="/ppt/notesSlides/notesSlide2.xml" Id="R75a80beed40f42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8862c711947be" /><Relationship Type="http://schemas.openxmlformats.org/officeDocument/2006/relationships/notesSlide" Target="/ppt/notesSlides/notesSlide3.xml" Id="R926e00988a6e4f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c03bedb7694ad4" /><Relationship Type="http://schemas.openxmlformats.org/officeDocument/2006/relationships/notesSlide" Target="/ppt/notesSlides/notesSlide4.xml" Id="Rc9c21330e7d84b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9a041c733d4e7d" /><Relationship Type="http://schemas.openxmlformats.org/officeDocument/2006/relationships/notesSlide" Target="/ppt/notesSlides/notesSlide5.xml" Id="Ree5b1ebfa2244f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6d65215b804b0f" /><Relationship Type="http://schemas.openxmlformats.org/officeDocument/2006/relationships/notesSlide" Target="/ppt/notesSlides/notesSlide6.xml" Id="R0d80891209324e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937223e69d4d96" /><Relationship Type="http://schemas.openxmlformats.org/officeDocument/2006/relationships/notesSlide" Target="/ppt/notesSlides/notesSlide7.xml" Id="R86b8bf73a43947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a4977345134e66" /><Relationship Type="http://schemas.openxmlformats.org/officeDocument/2006/relationships/notesSlide" Target="/ppt/notesSlides/notesSlide8.xml" Id="R306755f765e04b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feabd77a604d01" /><Relationship Type="http://schemas.openxmlformats.org/officeDocument/2006/relationships/notesSlide" Target="/ppt/notesSlides/notesSlide9.xml" Id="Rf29edfa59bde4f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ea5fd954f4954" /><Relationship Type="http://schemas.openxmlformats.org/officeDocument/2006/relationships/notesSlide" Target="/ppt/notesSlides/notesSlide10.xml" Id="R5607d8ada58443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d6c43f1b564d16" /><Relationship Type="http://schemas.openxmlformats.org/officeDocument/2006/relationships/notesSlide" Target="/ppt/notesSlides/notesSlide11.xml" Id="R0787c6c2aa7f4a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020d18b4bd431f" /><Relationship Type="http://schemas.openxmlformats.org/officeDocument/2006/relationships/notesSlide" Target="/ppt/notesSlides/notesSlide12.xml" Id="Ref1ce40e035e42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a6e1dd41e347ce" /><Relationship Type="http://schemas.openxmlformats.org/officeDocument/2006/relationships/notesSlide" Target="/ppt/notesSlides/notesSlide13.xml" Id="R7fedacfa5d3f40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4acd073c454403" /><Relationship Type="http://schemas.openxmlformats.org/officeDocument/2006/relationships/notesSlide" Target="/ppt/notesSlides/notesSlide14.xml" Id="Rafe0452fa5244d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16a170c6dd46e5" /><Relationship Type="http://schemas.openxmlformats.org/officeDocument/2006/relationships/notesSlide" Target="/ppt/notesSlides/notesSlide15.xml" Id="Rd9d4b61971b442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c96fd29f004221" /><Relationship Type="http://schemas.openxmlformats.org/officeDocument/2006/relationships/notesSlide" Target="/ppt/notesSlides/notesSlide16.xml" Id="Rfbb111bb016548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5cbc4469140ce" /><Relationship Type="http://schemas.openxmlformats.org/officeDocument/2006/relationships/notesSlide" Target="/ppt/notesSlides/notesSlide17.xml" Id="R27e2be1c06d84b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175f676f43482b" /><Relationship Type="http://schemas.openxmlformats.org/officeDocument/2006/relationships/notesSlide" Target="/ppt/notesSlides/notesSlide18.xml" Id="R6c64f26cb2db4d2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bf72326df04a43" /><Relationship Type="http://schemas.openxmlformats.org/officeDocument/2006/relationships/notesSlide" Target="/ppt/notesSlides/notesSlide19.xml" Id="R7710e8595c4d43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3A718-76BD-428E-9D4B-20DCEDD1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64689-FD06-40D5-AAD8-F114C170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StarryOS 自举编译与内核改进成果汇报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7DABF-88B7-4C04-94C3-06220C3B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BigLab-B 最终汇报 | 杨凯森 | 2026-05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640AE-AC2D-4B2E-9FE4-A702A160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目标：让 StarryOS 承载一个真实的大型 Rust/Cargo workload，在 guest 内编译出 StarryOS 自己。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06A77-F9D0-4562-8AD7-FFDEDD75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这件事会系统性暴露 OS 层问题：进程创建、futex 退出、文件系统、SMP 同步、调度唤醒、用户态 ABI 和 QEMU/HVF 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1F025-D124-4A89-8C18-CB8C5406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ED068-C007-44C9-A1C8-D2AD8A19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862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方法：用 AI 驱动的持续迭代框架，把长时间实验拆成可复现、可验证、可提交的 OS 修复。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3F255-60F5-4F70-961F-F130D489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6B6AD-89F7-4AE6-94F2-2A940643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862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成果：12 个 OS PR 已合入 TGOSKit dev；8 核 AArch64/HVF guest 完成 StarryOS self-build。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3FAD5-CACB-485C-AFA2-A42B48FC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2C90B-D074-49AD-8514-4C565AB8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8629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分析：用 host 对齐参考和微基准拆清 Cargo、OS、QEMU 各自承担的性能成本。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4ACC0-F094-49E3-A541-F80D41B6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3EB02-3205-410E-B36F-73B3B86B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243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49522-AA32-447D-86F8-89CE0AB6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8630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真实 workload</a:t>
            </a:r>
          </a:p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暴露 OS 问题</a:t>
            </a:r>
          </a:p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形成 PR 与测例</a:t>
            </a:r>
          </a:p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再做性能诊断</a:t>
            </a:r>
          </a:p>
        </p:txBody>
      </p:sp>
    </p:spTree>
    <p:extLst>
      <p:ext uri="{BB962C8B-B14F-4D97-AF65-F5344CB8AC3E}">
        <p14:creationId xmlns:p14="http://schemas.microsoft.com/office/powerpoint/2010/main" val="1000153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65735-63F5-4717-9D52-E921EDEF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7088D-32A4-417F-A504-67526EDE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1DCEC-916D-4D9E-9B20-245DD973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607E3-DC1F-41BA-B172-F17A1349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BigLab-A：前置训练回顾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D9B51-392F-4604-BBCF-E32FC1C8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BigLab-A 主要作为进入 BigLab-B 前的 OS 基础训练；本次答辩只简要说明它给后续 StarryOS 工作提供的能力基础。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81472-58C5-4EF7-943F-45DC2EE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61B56-B313-4524-A6EE-DFE25FB4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E6C7D-83FB-47E7-B97A-47C35835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Rust 与 no_std 工程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083F9-31B6-48C8-99BA-205DB1BF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熟悉 Rust crate 组织、无标准库环境、交叉编译、QEMU 运行和实验文档整理。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0B292-8F3B-4BEE-A28E-78FD4AA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D22EC-0F80-4BE3-9CB0-173C00C9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B7CFE-3D36-406F-BD10-F8860BB5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OS 基础概念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987F1-8313-4836-8463-FC7E86FB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围绕内存、任务、文件系统、设备和 syscall 等模块建立基本的分层理解。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6BA8C-1DF5-4DB1-AB7D-25EEF847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44173-1F80-45FA-8ED3-E27D4B8C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E5EB5-18B8-4414-8BE5-96A9F2E6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过渡到 BigLab-B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AB0AC-F1D9-4E54-B1A9-BD75A7FF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后续工作转向 TGOSKit / StarryOS：从教学小实验进入真实内核 PR 和大型 workload。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5DCC2-F5DB-449B-8E73-0AFFA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本页只做 BigLab-A 简要承接；BigLab-B 的具体 Task 1 在下一页展开。</a:t>
            </a:r>
          </a:p>
        </p:txBody>
      </p:sp>
    </p:spTree>
    <p:extLst>
      <p:ext uri="{BB962C8B-B14F-4D97-AF65-F5344CB8AC3E}">
        <p14:creationId xmlns:p14="http://schemas.microsoft.com/office/powerpoint/2010/main" val="248528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309ED3-1B6A-43D9-9EEF-DB367749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3BDBE-BA19-4AAE-8D41-E8F22E82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9D082-8125-4BFC-A5F7-82893A65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BFA28-6864-48F5-A2A2-6D80D07D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BigLab-B Task 1：tg-arceos-tutorial 基础练习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92DBE-B829-4A5D-A14B-C495351A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Task 1 是基于 rcore-os/tg-arceos-tutorial 的 test 分支，在自己的 fork 中完成 5 个规定的 exercise-* 基础练习。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A4F19-18F9-4DA1-8D82-18477F87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B0AA3-3CEC-41B5-8D7C-E41681DC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BBCFA-A464-4F2D-8799-59A3CE44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仓库与分支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E580F-0478-4686-B1B3-68DB9257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 上游 tg-arceos-tutorial/test，到自己的仓库继续完成代码和总结文档。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本地对应仓库：github.com/yks23/tg-arceos-tutorial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1CA98-BBFC-4F00-842F-44573C67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20382-96DF-451B-BC29-A134C2E3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ED3D9-D4BE-43AF-B6CE-CD22D358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完成的 5 个 exercise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E83C6-901C-4457-8CCE-07EC1D84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exercise-printcolor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exercise-hashmap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exercise-altalloc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exercise-ramfs-rename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exercise-sysmap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36548-E5A8-45B0-86F4-9D7443C8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0CD63-1774-441E-BCC9-248B3C1D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4C111-6BC3-4F29-A3CC-5918A7AB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训练到的能力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A5FD6-DEB2-4399-AF07-09566311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从基础输出、集合/哈希表、替代 allocator，到 RAMFS rename、系统符号/地址映射，逐步补齐 ArceOS 小实验能力。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23243-1B8F-4783-9C6B-37D23DD8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5E3D2-4929-4B10-8AB6-03C12F53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958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这一部分不是 Harness，也不是 StarryOS PR；它是 BigLab-B 的基础训练任务。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CBF45-1CC0-4CE5-AD14-CBA8C415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2FC4E-15AB-4391-B29C-726410AA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958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完成后才进入 Task 2：把方法迁移到 TGOSKit / StarryOS 的真实内核改进。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314A1-E2B4-45E2-BB5F-F6F64972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F15CB-39B3-42A7-B298-B2134F37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48300"/>
            <a:ext cx="958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后面的 Harness、PR、自举编译和多核测速都属于 Task 2 主线。</a:t>
            </a:r>
          </a:p>
        </p:txBody>
      </p:sp>
    </p:spTree>
    <p:extLst>
      <p:ext uri="{BB962C8B-B14F-4D97-AF65-F5344CB8AC3E}">
        <p14:creationId xmlns:p14="http://schemas.microsoft.com/office/powerpoint/2010/main" val="1763127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10AB19-614A-4B4C-A280-CB35043C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0F56A-4D84-4197-B395-0A5B1C9A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5FF44-DDB2-4A35-BAFB-7F2278D4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2FA07-8B21-4C3C-AA30-C50C4D17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BigLab-B Task 2 阶段 1：Harness 初版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3FCED-30B8-4DDF-9344-B7D04287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进入 Task 2 后，第一阶段尝试让模型生成测试并自动运行，用测试失败来反推 StarryOS 的 bug。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0172D-5C89-48A8-AE20-9DE2B7D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18B28-0C8A-4A37-859C-5FF4B34F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A5CD0-33DA-453D-8403-764B78EA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做法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A54EA-3865-4615-A15C-0C49D426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36F26-1206-420F-BD7B-BA0A5A5B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4A656-13D9-4599-B6CF-CC4F0EA0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240DA-84BB-41A7-9F68-A6F38E04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B9257-BE4C-4808-8817-4854290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F9E5E-C1CD-4F0E-A1A1-26F299B4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79736-412A-413B-8B34-DEF3769B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围绕 syscall、busybox 小命令和文件系统行为生成测试用例。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58767-6FCD-4160-AD31-1538819D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DEEFB-095D-41DB-8FB6-187347B7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模型读日志、提出怀疑点、继续补 case 或定位代码。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66321-CB95-4933-A22A-87D30D96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7330B-0089-48B6-B9BC-45BFF323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能快速覆盖很多边界输入，但缺乏 workload 方向性。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C5D26-1D0B-4534-8083-F8EFD6F5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54102-EB54-4653-B931-2529EE1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 OS bug 数量不稳定，容易陷入泛化测试和低价值失败。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A7DED-0692-4650-A1C0-C59854D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结论：纯测试挖掘可以作为补充，但不足以支撑大实验主线；后续改为真实 workload 驱动。</a:t>
            </a:r>
          </a:p>
        </p:txBody>
      </p:sp>
    </p:spTree>
    <p:extLst>
      <p:ext uri="{BB962C8B-B14F-4D97-AF65-F5344CB8AC3E}">
        <p14:creationId xmlns:p14="http://schemas.microsoft.com/office/powerpoint/2010/main" val="1490439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E96307-BCDB-4260-97AC-A67507F3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28F50-9DA4-419F-B100-961CA792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5FE7A-A683-4D03-8E3E-B6D7BA8D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84FC3-006F-4C54-BAAE-C92A7AD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BigLab-B Task 2 阶段 1：Harness 当前闭环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04CD3-548B-4713-9363-08942975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Harness 后来从泛化测试挖掘，收敛到和 StarryOS dev 紧密联动：跑真实任务、读输出、修内核、补测例、提 PR。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60DCC-0462-4B11-8CCF-7E2D3D26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6691C-FDF8-4D9F-AE21-DBC798C7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09:00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4098F-0D7F-4244-A375-7FD05236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同步 dev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E3405-FFD2-428D-80E3-D6EFE98D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54C65-3F21-48A3-8CF5-4FC3465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1BBFD-8CC6-42C6-AAEC-E8C9AAA7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CBD97-E464-4DED-AF61-002C8A07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编译/运行任务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E9C9C-F466-4BD5-9F47-27463CAC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CEB72-B989-4113-A8C8-56794574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B607E-A66C-49DB-8A92-A71435F8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3824F-6BD4-4DA2-B904-16534AA7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读取输出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7689E-101E-40A7-AE85-3ED5087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959B5-635A-4ADF-869C-404A4CCB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62130-E7AD-4407-A18E-6577B06C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Fix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0C003-9AE4-4478-8AA5-6F4D6D10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修改内核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C6148-1DC9-46A0-AB7F-1ECBAE3C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ED65B-AB02-426F-BA2C-C19C00E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9C5AB-F5E7-4960-AE5F-AC1DDF81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9AE7C-F901-4B69-B59A-D5644185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测例+提交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72CA3-920E-43D7-8615-7A7F4299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6AC004-E840-4371-8B48-0AFB2C6A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41908-236C-4C59-BA1D-1AC8139A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自动同步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86428B-71E1-4095-9C3D-8C0EABA2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每天早上 9:00 拉取最新 dev，专门同步分支，减少上游快速演进带来的冲突成本。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2D32F6-161E-4D56-AE85-ED6E8753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1532D-0A07-4F85-835E-9CA9BBB0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72F0DB-B633-4E6B-A05D-140C9E8F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自动修复闭环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1A840-4CEB-4A01-9E94-7BFC4B1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在 StarryOS 上跑具体任务；一旦发现相关 bug，整理 root cause 与 Test Suite，随 OS 改动提 PR 到 dev。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65F84-5A76-4A8E-9425-1988655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EA9729-D6DB-4F92-859F-F4D27B4A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449ACB-D61B-4C6A-BBA4-C8446168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 守护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CEB05F-62EC-47E5-9FC1-4EDA552D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定时检查 PR CI 状态；未通过则继续收集失败、修复、推送，直到达到可合并状态。</a:t>
            </a:r>
          </a:p>
        </p:txBody>
      </p:sp>
    </p:spTree>
    <p:extLst>
      <p:ext uri="{BB962C8B-B14F-4D97-AF65-F5344CB8AC3E}">
        <p14:creationId xmlns:p14="http://schemas.microsoft.com/office/powerpoint/2010/main" val="390113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39877-F88D-4AF2-8F25-ADC3454F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42063-5CFC-47DB-BFBF-E0EC111C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2049F-125B-4918-AAE8-039474FD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D1C61-0C93-4F47-9CCD-4111AC4E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Task 2 PR：12 个已合入 OS 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FAA1B-CEF5-4A56-98C2-81D84AE5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这些 PR 不按“改了多少文件”讲，而按 OS 行为边界拆分：进程线程、文件系统、网络 ABI、SMP 同步和调度前进性。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5420D-EECF-4597-BAFD-DC325E4A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779E7-D238-4364-859A-0F8B852F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436CE-396C-497B-8148-470494C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 / 线程 / futex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0C14C-AC8C-4946-8736-977201EF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#692 robust futex cleanup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#693 vfork parent blocking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#878 teardown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8219A-E6DE-4A96-898C-1664DF31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EB44F-3306-428A-8CA1-94565D38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5C754-B3CF-4903-8364-19BEC64A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文件系统 / 设备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67D20-347A-47E9-9485-9F521E8C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#695 rsext4 inode bitmap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#800 device full transfer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#844 tmpfs rename exec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E921B-8EF4-4A6E-AE11-EED5E89E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ADA70-234A-4B14-AE0B-C016B6ED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D0ECF-F808-436A-B711-B6426D14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SMP / 同步 / 调度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33ECA-0A39-4201-915C-0FDA31E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#842 CPU topology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#879 raw mutex handoff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#885 syscall entry snapshot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#926 SMP wakeup progress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AB76C-35F4-4115-AF68-B5DFC965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A5933-F155-4A0D-971B-D2F62C26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258F2-1BE8-45A6-A81E-6A685EE9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48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网络 ABI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144F4-1C0A-45BF-9829-13791FDB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673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#694 IPv4-mapped IPv6 socket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保持 IPv6 用户态语义，内部复用 IPv4 backend。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5E4077-6B97-447A-938F-B74C7FEC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69DFD-2D1B-4180-8BB8-4C8E9566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4C8E7-6C65-45AE-9907-A3FB1A4C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验证标准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DF9BA-A233-4779-80A8-01680C65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673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每个 PR 均包含问题根因、修复范围、测试用例和 CI 或本地复现证据。</a:t>
            </a:r>
          </a:p>
        </p:txBody>
      </p:sp>
    </p:spTree>
    <p:extLst>
      <p:ext uri="{BB962C8B-B14F-4D97-AF65-F5344CB8AC3E}">
        <p14:creationId xmlns:p14="http://schemas.microsoft.com/office/powerpoint/2010/main" val="1781323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C1574-9763-4CC9-A92B-85B94E66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ACD6A-1DC7-44C8-9F34-35F6ED61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59C09-4EAF-4549-8309-6EBF8340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4E8FB-8F3B-49F0-998D-05D0933A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1：进程创建、vfork 与 posix_spawn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EE3CD-DCDF-4D96-A55E-0DD18FA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很多用户态程序不是直接“运行一个命令”，而是通过 fork/vfork/clone 创建子进程，再 exec 成目标程序。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C4CDD-74AB-45CA-982A-2AAEC8FA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190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FAF90-A7DA-41AE-BD98-F9CBF12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1BA01-EC92-4449-ADA4-8C7F324E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fork / clone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1B194-B2F0-4E66-A43C-E31D4155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2733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 会复制进程语义，clone 是 Linux 更底层的创建接口；线程、进程、vfork 都可以看成不同 flag 组合。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7BF57-FAD3-42E7-AC78-6F81BB9D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190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58222-DE04-4CFD-A2CE-655ABA88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47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09BC1-E66A-44CD-B698-59416340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A82AB-0E23-4D69-B761-51A210C2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2733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vfork 是一种更强同步语义：子进程 exec 或 exit 前，父进程应等待。因为这段时间父子可能共享地址空间，父进程过早运行会破坏状态。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A0C87-DFCD-447A-ADAE-788A718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90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B8C5E-04D9-4BED-B136-CADB3030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47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D7E26-C76A-4ED9-A37E-1FE8DF4D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posix_spawn / shell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EB2CE-E67A-4176-AB2B-13C1BE99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733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shell、busybox、cargo 调 rustc 等路径会频繁创建子进程。posix_spawn 常用 vfork 风格实现，要求父子同步可靠。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049AE-7FB2-4A95-B0BE-998B9B6C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29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BE1C7-BF45-4580-8CC6-6AD131E1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老师问“为什么这个重要”：因为它是用户态启动其他程序的基础 ABI。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2089F-DF82-4C6A-A1CA-0A652B34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24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691D3-7957-499E-B251-F6FEBD18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StarryOS 自举编译里，cargo 会反复 spawn rustc/build.rs；这条路径不稳，大型 workload 就无法稳定推进。</a:t>
            </a:r>
          </a:p>
        </p:txBody>
      </p:sp>
    </p:spTree>
    <p:extLst>
      <p:ext uri="{BB962C8B-B14F-4D97-AF65-F5344CB8AC3E}">
        <p14:creationId xmlns:p14="http://schemas.microsoft.com/office/powerpoint/2010/main" val="1914962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E7E2A6-BB58-479B-BAE5-23C0C9FB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4DE04-EB4D-4556-A7D7-841C5BFE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2CBEC-B408-4907-B76C-7D1E2E0C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7BBA6-B30F-4735-9B79-D117BA67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1：vfork / clone 语义修复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3498A-0403-479B-A1A7-6B30B873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这个 PR 修的是父进程等待条件，保证 vfork 类子进程在 exec/exit 前不会让父进程提前继续。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CA103-5029-42E4-9941-BE30860A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A64F4-6F32-4F1E-B34D-6A169357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AED9A-69CB-4192-9E0C-6793F6D6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BEA13-C40B-4B9A-B35C-E5007CE9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DD022-CB19-43F9-9760-F64EDE39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2C1F4-E85E-409B-BC93-441296E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7E9FA-58E0-4520-93C9-66A61156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修复与测例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1D994-A889-4FAD-A950-EB78CC4A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BCBA7-B58D-4E5E-B0A3-91B2D2CD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29FCD-F249-44AA-A8CB-265ADC1D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旧实现把等待条件错误收窄，部分 CLONE_VFORK 场景没有等待。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0F25F-4F98-4C17-95DA-DF823D3E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3855A-A2AB-41F8-A0AB-EB103E7A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父进程提前返回会破坏 shell、busybox、cargo 依赖的同步顺序。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C66D6-8768-467E-B0A6-2C061C64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A424D-C8A1-41DC-8237-F39CABBF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 CLONE_VFORK 等待条件，保证父进程等待 vfork_done。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7331E-00C8-4A66-9AA9-F9CCD63B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72CD6-1174-42F8-960B-A3A442E4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测例：test-vfork。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627EC-B069-4427-85C6-037280CA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EEAE8-DE55-484C-B8AC-D0D8AD0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影响范围：BusyBox / shell / cargo 子进程创建路径。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36690-80AB-48D3-88F5-8E509679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成果：修复进程创建 ABI 语义，使 BusyBox、shell 和 cargo 子进程创建路径具备更稳定的行为基础。</a:t>
            </a:r>
          </a:p>
        </p:txBody>
      </p:sp>
    </p:spTree>
    <p:extLst>
      <p:ext uri="{BB962C8B-B14F-4D97-AF65-F5344CB8AC3E}">
        <p14:creationId xmlns:p14="http://schemas.microsoft.com/office/powerpoint/2010/main" val="15836355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1A380-841D-47BC-8595-EA215602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FF0EE-485A-43D1-AEB2-601F114A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E8D9-4DA8-421B-98A9-9CE4B930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631FC-A89A-4D2C-98E9-409DD5BD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2：futex、robust list 与线程退出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19066-E2D5-4CD4-82CC-E8DD2957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futex 是 Linux 用户态同步的核心：平时锁在用户态完成，只有等待/唤醒时才进入内核。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0FA70-909B-4845-B411-E4294FAE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31908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86C19-70F6-425D-AE93-41C052A2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F2E07-DDBB-4CA8-93EC-EB9E95C0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futex 是什么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55905-D975-4C98-B89B-D5A7D268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733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用户态锁先用原子指令竞争；竞争失败时用 futex syscall 让线程睡眠，释放锁时再由内核唤醒等待者。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56829-7EB6-4FAE-8F63-0DF9CE8E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31908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CD362-23B4-4D47-8179-8898A811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C3125-DD5F-4B19-85D8-C7A240DD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robust list 是什么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9BFA6-BAD7-4644-9A44-B15FBF33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733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线程持有锁时退出，用户态可能来不及释放锁。Linux 让线程登记 robust list，内核在线程退出时扫描并修复遗留锁状态。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50D38-6468-4375-BCE0-6429D120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1908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B4338-6217-4A1E-B06A-ECA5A6BB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C5689-69B9-4ECD-9C75-E96CFA2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为什么容易出错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CE7C3-FA9D-4C66-9F3F-FF31EBAE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733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robust list 指针来自用户态，本来就可能是坏地址；退出路径还常在复杂上下文里，不能因为清理失败再引入 panic。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4E7A8-CA56-447C-961B-D5667CA2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67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6B94E-CBA6-4DEE-A0AB-99AA58D7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老师问“OS 知识点”：这是用户态 pthread/mutex 与内核等待队列之间的 ABI。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849CA-826F-4D9F-AC65-8C54DA5F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62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2212C-959E-4359-8A9C-829586D9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5780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 workload 里 build tool、runtime、pthread 都可能走这条路径；退出清理必须容错。</a:t>
            </a:r>
          </a:p>
        </p:txBody>
      </p:sp>
    </p:spTree>
    <p:extLst>
      <p:ext uri="{BB962C8B-B14F-4D97-AF65-F5344CB8AC3E}">
        <p14:creationId xmlns:p14="http://schemas.microsoft.com/office/powerpoint/2010/main" val="8433759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694C74-31B8-4AD5-AF81-7140215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B2C54-4374-4782-B411-B22784B1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3223F-45CB-4BAC-8750-2C815955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24F07-9A2C-4CF0-BBB4-B221D33D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2：futex 与线程退出清理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5044B-7A4A-4772-B3DF-FBDFBCCD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这个 PR 的重点是让线程退出路径能够安全处理坏 robust-list entry 和 pending futex。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ACD6A-3BEE-4957-95D8-EB066780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83696-D8ED-44F8-B896-B93A3AA1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4F7BA-F523-4BCD-9FBB-F8EB6020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48157-CB09-4140-BCD4-07E3E887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3C86F-CCE4-4211-9DA2-8DC8DAD2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265CC-B0F4-4232-8E35-E504AFF9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784A7-63B0-4024-A420-422E305E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修复与测例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63770-262A-4B9A-B0C6-DB0C3D98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6528D-6FA6-45EB-B2F9-E96AA147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DD973-AE3F-4CBD-8C12-BB7616D4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用户态可以传坏 robust-list 指针，内核不能因此拖垮退出路径。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E0E53-F95D-4FCF-B149-FFE1608B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45D6A-48D1-4E54-AA7C-12B24FB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pending futex 与普通 entry 混在一起，会让 pthread 退出/回收变得脆弱。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7DE5B-3DE5-4441-9EA6-2C585DE4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95DE3-D4DB-4785-963D-9591C3B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坏 entry 容错清理，pending 单独处理。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D1764-4D86-4219-A531-DE957694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D576E-BFEB-4D64-96D3-34921E0C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测例：test-futex-robust-list。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48E9E-F23E-4934-BB61-184D9F49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C07C3-FD6F-4826-96CF-5809ED5D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关联：teardown/context usercopy 修复退出路径。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033FA-55E1-4590-BEBC-062E61D3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成果：退出清理路径可以安全处理用户态异常输入，避免单个坏 robust-list 破坏进程回收流程。</a:t>
            </a:r>
          </a:p>
        </p:txBody>
      </p:sp>
    </p:spTree>
    <p:extLst>
      <p:ext uri="{BB962C8B-B14F-4D97-AF65-F5344CB8AC3E}">
        <p14:creationId xmlns:p14="http://schemas.microsoft.com/office/powerpoint/2010/main" val="1160147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CE832-D922-4728-9B11-E4F44ECB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0699A-FA89-4792-A6AE-59804334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0F20A-A784-41AB-9C17-A1C1ED03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1EE77-B31F-4A73-A54D-2903C8B3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3：VFS、tmpfs、ext4 与真实应用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A667C-6213-4C7C-9994-55C6D2E6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Linux 应用看到的是统一的文件系统接口，但内核底下可能是内存文件系统、ext4、设备节点或 proc/sysfs。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A745B-F890-4164-94CE-D92DF62B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3190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C9BAF-6A7F-48A5-A059-4406A26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6D2C7-17D1-42AB-B67D-DCDCB8CD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4819C-B9E6-434B-A063-6326D81F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733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VFS 是统一抽象：open/read/write/rename/unlink/getdents 等 syscall 不直接绑定某一种磁盘格式。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F08CF-698F-437C-A399-FA1DE4A6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3190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4A00F-5A12-4E71-926C-F6A066FE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E3FBF-3A55-4FBC-89E5-EF69744D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tmpfs / ext4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6561E-1BED-4503-8085-33A8C823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733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tmpfs 主要在内存里维护目录项和文件对象；ext4 需要管理 inode、bitmap、block group 等磁盘元数据。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FA21E-2191-4441-A7F1-C361AA8A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190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CFC41-824E-4C7D-AF5B-34ED4883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AFA58-0895-45DC-8C4F-7FC4FBDD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733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压力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40BD1-2FD3-4582-AEC5-87427D30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733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cargo 编译会制造大量小文件、临时文件、rename、unlink、目录扫描和设备/pipe I/O，是检验 VFS 语义的真实压力源。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9AB30-1E65-41CF-A409-D9D25A5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841B3-4E38-48E8-8EA9-8BC9BD8E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4345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老师问“为什么 FS 会影响编译”：因为 target 目录几乎全是 metadata 和小文件操作。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18079-2101-4A1B-8697-26B012CB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43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7B626-89F5-4F51-A3A3-6F2BF471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929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这类 bug 往往不是单个命令失败，而是大量组合操作后出现目录项、inode 或短读写语义偏差。</a:t>
            </a:r>
          </a:p>
        </p:txBody>
      </p:sp>
    </p:spTree>
    <p:extLst>
      <p:ext uri="{BB962C8B-B14F-4D97-AF65-F5344CB8AC3E}">
        <p14:creationId xmlns:p14="http://schemas.microsoft.com/office/powerpoint/2010/main" val="19786483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A675F6-6096-4D07-A0D1-0045C429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B1BAB-3CBB-4F59-BCA3-613C5E71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066F4-BA2C-47C8-B2BC-ECC96611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B3874-49C0-4BDF-8F86-7425A07A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3：文件系统与 VFS 正确性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D0CC9-A7F8-47A8-A764-0C93D789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这一组 PR 面向真实应用的文件系统访问模式，补齐 inode 分配、rename/exec 和设备传输语义。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FF654-ED3C-4058-A773-0C54C7E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40E53-2519-40E0-91C2-1003A660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FDF11-58D1-466B-90C4-C929B423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#695 rsext4 inode bitmap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AE917-FDD5-41B9-B200-52973EB4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ext4 block group 可标记 inode bitmap 未初始化；allocator 需要识别并初始化，再继续分配 inode。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C7344-A066-4349-B692-FF2A1568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DACE6-1924-4ABB-9802-1719188E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CF7D0-EB9D-40F8-9DC5-07FA2331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#844 tmpfs rename exec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E5D04-500E-4FD4-A56F-4047A894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tmpfs 的目录项和可执行文件生命周期要一致；rename/unlink 不能让后续 exec/open 看到错乱状态。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71177-7B64-4BFC-9884-5181F657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A33A7-414D-42FA-86B7-501C42FC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3DB7C-8A67-4745-8C13-7C282479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#800 device 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471B1-9631-49F9-8ABB-8047EF6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VFS 设备节点读写要遵守完整 transfer 语义，否则 busybox、构建脚本等用户态工具会拿到短读写。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C8405-099B-4DAE-A1DD-36FD08BF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成果：文件系统层面对真实应用的目录项、inode 和设备 I/O 行为更加接近 Linux 预期。</a:t>
            </a:r>
          </a:p>
        </p:txBody>
      </p:sp>
    </p:spTree>
    <p:extLst>
      <p:ext uri="{BB962C8B-B14F-4D97-AF65-F5344CB8AC3E}">
        <p14:creationId xmlns:p14="http://schemas.microsoft.com/office/powerpoint/2010/main" val="4399460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E46AA-BA89-45E8-B8A2-0251210D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6D417-13F5-4580-B041-C6FF238F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80EDA-448C-4233-80EB-FD2EC38F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3231A-4E39-45A5-BBEB-9CA67BD5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实验 4：StarryOS guest 内自举编译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C8A84-2774-4E40-81C9-E4A7904F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实验目标是在 StarryOS userland 中运行 cargo build，完成 StarryOS 自身构建并输出 PASS marker。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C4753-A214-4F41-A8E9-B1F8F5BD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00AC5-E621-450A-A8EA-C825D879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启动内核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CCC6D-0F1B-4C2A-9690-396807FF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96847-4787-46D9-8661-4DD12B3A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A7F5A-DEDD-4A8B-BF3D-A932E51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挂载 rootfs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FDDA3-0905-4756-8614-85BFBBF5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5428E-F3FD-4F92-AC27-919BC5ED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E91DE-3FF0-43F1-AECE-5DC584A7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运行 cargo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B4558-5367-47B4-87EF-5AB14D0E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5D445-BFB3-43E9-BC69-06F327B5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C4461-8FB6-4DAE-B92F-83EB3466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定位 ELF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E6AEC-3AAA-4FCB-9365-5CF39BEC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CB7C5-EE93-47E7-8DB1-3A5A674A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DEF64-68A6-4D07-858E-E6BF787E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6B8CC-BDD8-4D0C-A476-6B1CCF9F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B3B72-64F0-4796-92B6-DD6F0F21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95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宿主对齐参考：同 StarryOS kernel 配置、同 target/profile，host cargo j1=85s，j8=29s。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080A0-A8ED-4954-A7CD-AEE78B00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999EC-432C-4F51-A13D-AC8E8ED4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5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guest 最优：AArch64/HVF 8 核 StarryOS guest，完整 self-build 331s。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C48F2-6546-4022-9777-DC58666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9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0222D-92A7-4326-9130-8F8E4D70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95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判据：进入 userland、找到 rootfs 内 StarryOS ELF、打印 PASS、无 panic/trap/FATAL/error。</a:t>
            </a:r>
          </a:p>
        </p:txBody>
      </p:sp>
    </p:spTree>
    <p:extLst>
      <p:ext uri="{BB962C8B-B14F-4D97-AF65-F5344CB8AC3E}">
        <p14:creationId xmlns:p14="http://schemas.microsoft.com/office/powerpoint/2010/main" val="2099337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DB89D-7FEA-4070-9D42-9F4B0682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BBA58-E1DA-4A52-BF1F-FBFA566F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8762B-25EF-4B9A-8504-15964F5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46AA1-8EE4-43AC-B784-91BFF8DB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多核编译性能结果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3AAF9-DA61-46A7-88AB-D666A798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通过脚本和构建参数调节，guest 完整 self-build 从 951s 降到 331s，约 3 倍，已稳定进入 400s 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28041-A58B-4B79-85BE-41E447E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91F26-ABCB-427F-BF4B-C6B5CB17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4159F-6260-4AAD-9125-8E373516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951s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49DC9-D7B7-41B9-8C6C-9508FEE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最慢 guest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0E700-C9B1-47E3-9205-D21A5E6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F37D6-0FC8-4F93-8E6F-EDC8D3A2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ED6AD-E5DC-4EBE-9E25-628CC978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642s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3DC24-7CF7-44B9-B166-20D8C0BC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默认 8 核 guest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77E67-AAD7-4D4F-931F-F398848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C199B-E042-45EA-92A0-B2E7D39C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20ECC-BCA7-423F-8198-8D41A9E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331s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199C2-4496-4843-8A48-AC63E0FD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当前最快 guest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6091A-279B-4DD3-A736-1E20097E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BEBCA-549C-4C4C-A50C-8409711E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D8615-71A9-4099-9996-5D7D1E3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29s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FE9E7-F81A-4C5A-A31F-641ED20B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cargo j8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A78F7-04EE-4B41-97FE-33EE998A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79AA6-E7DC-410C-AABB-94813F93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1A341-C8C2-4E8A-9BC5-7BDC671E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289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85s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E582E-74AA-4867-9417-9B31BE3F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956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cargo j1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5C9F0-05B0-4CD6-8A1C-AC15789D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9677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5350D1-D3D0-4F8E-933A-C34BD765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端到端真正收益：951s / 331s = 2.87x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C8839-F81B-431D-A54E-2215E483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guest 编译并行：422s / 341s = 1.24x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70956-A29C-4C93-8CDB-03FF53C2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host 对齐参考：85s / 29s = 2.93x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C2AE11-8326-484B-B4EF-E261D83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91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链接/串行尾段：642s / 427s = 1.50x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8AA8A0-57CD-47D7-B19D-7EE4239C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885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注：host 与 guest 编译同一 AArch64/SMP8 StarryOS kernel；host 不进入 guest，链接项不是独立 link-only benchmark。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50F94B-24BB-4F0E-8DAE-DEC5FB1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结论：完整 guest self-build 已完成；并行收益受 Cargo critical path、guest OS/FS/SMP 和串行尾段共同限制。</a:t>
            </a:r>
          </a:p>
        </p:txBody>
      </p:sp>
    </p:spTree>
    <p:extLst>
      <p:ext uri="{BB962C8B-B14F-4D97-AF65-F5344CB8AC3E}">
        <p14:creationId xmlns:p14="http://schemas.microsoft.com/office/powerpoint/2010/main" val="1996364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0A2F6-EB47-42E6-BE5F-81E695B4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EDA23-7276-465E-A43B-FC646D6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FCC5E-090F-4338-ADFE-3092CB8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5D178-17B0-41CD-9898-5CF8E2B1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性能模型与测试细项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9A83-09F2-4DA8-80D1-FBF7A6F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每个瓶颈都用接近 Cargo 行为的微基准拆开验证，而不是只给粗略归因。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05615-897C-4401-A894-A7703B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0363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T_build(N) = T_std/cache + T_serial + T_parallel/N + T_fs(N) + T_smp(N) + T_wait(N)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24FCA-53BC-4AB4-AE4B-7D0EBAD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87BA3-2A5B-4CB8-A0A4-1821A67E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A4F67-5068-4DD0-A96A-FE372B2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85D57-FD18-4083-AC7A-61A3974A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fork/exec/wait 1000 次：20/11/5/3s，8 路 6.67x。模拟 cargo 反复 spawn rustc。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E3C50-4318-41D4-BA92-3294DFEB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AC47A-3DAB-496C-81D0-259ED05F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86807-B877-47F7-8DB4-9DDB2E11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短任务 wave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26D57-52AE-4459-8F97-91F614E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24 个 build-script：27/22/27/32/32s。2 路最快，过并行会被 OS/FS/SMP 成本吃掉。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8F691-8596-4E76-A9C7-A1D6C7A7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7DBFC-AF15-4E6E-B519-58F960E4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03976-D193-45A6-BB04-B140F0B1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FS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7890B-57E2-4200-8392-65528230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rsext4 fileio jobs=8：47.5s→14.5s。模拟 target 小文件 create/write/rename/unlink。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7D466-1CE9-4F1A-AF75-8D6E946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E4887-1335-4FE3-BE0C-46B76B44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7508D-1C00-4BB2-A9E1-6AC05F81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宿主/QEMU参考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FF816-2804-4D20-8F3F-FE5862B4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同构建任务 85/29=2.93x；guest jobs-only 422/341=1.24x。raw CPU MTTCG 3.17x 不作 RISC-V correctness。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F6343-3B0C-4698-ACA2-5F058877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final link timestamp：artifact tail 约 2s，starry-kernel 后段约 17-20s；331s 版本主瓶颈不是纯链接。</a:t>
            </a:r>
          </a:p>
        </p:txBody>
      </p:sp>
    </p:spTree>
    <p:extLst>
      <p:ext uri="{BB962C8B-B14F-4D97-AF65-F5344CB8AC3E}">
        <p14:creationId xmlns:p14="http://schemas.microsoft.com/office/powerpoint/2010/main" val="4851716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8E3B4-B11E-441E-B97C-D0E16A16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85BC1-BA71-44E4-A894-0C382465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47F3C-75C9-425E-B6C9-631F9293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14EC2-B114-487E-8F04-D15AE62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SMP8 CPU 利用率与阶段分析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E6B9A-A1CA-441A-97E9-2374AE1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诊断 run 使用 GUEST_CPU_MONITOR=1 和 cargo JSON timing，耗时 457s；监控有开销，但能解释 8 核为什么没有线性加速。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35AF7-09A2-44DA-BD17-903851FA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723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5DBD5-973D-4444-B08D-9EEFE3D5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02164-158E-453C-B31E-0B8FB16B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0D8F7-ADC2-403A-9734-9CB2EEF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3BE21-4DB2-4536-A72F-A11D43C3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71969-A67D-4BF5-9359-8B45E960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BFC11-989D-4DDA-AD69-FFF9767D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EA202-FFD5-4A0D-A7BE-90BF55D0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86075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68F73-FB68-46F0-92D2-DE92D9F1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75%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4414E-612F-4473-BB5A-ADAC3993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D5231-5ED2-4261-9A41-D43268FB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9BAB4-E812-480C-A8A6-24EE0979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23235"/>
            <a:ext cx="876300" cy="1148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C26CA-F140-4521-AFC4-0AFA478A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7558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67%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E4D74-1225-4DE3-8807-46F412A7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0-90s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11DFD-F93E-4B27-A79E-01F2900C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build-std/proc-macro 启动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93C51-56E2-4F5A-AF21-3EEF5A66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0410"/>
            <a:ext cx="876300" cy="891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4E368-ADD9-4E93-83D6-9A582529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3276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52%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7849C-133F-436C-A578-9E6326AD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90-180s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A51D7-76A3-4688-917E-8242ED89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core/compiler_builtins 长链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BA29E7-FBC0-47F2-B0E7-E1E9FBB1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71800"/>
            <a:ext cx="876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F9EB9-278D-4E91-A2E4-FAACD498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A3226-BB90-4CB8-A102-16EF27F9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180-270s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0BA94-28D9-4E70-99B5-342824B2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crate 图中段并行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8495D-D2E6-4CAA-9066-73488071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46120"/>
            <a:ext cx="876300" cy="925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1A95F-87B4-4009-872B-BF236B2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9847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54%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B03010-D375-436D-99B2-D953C494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270-360s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318BA8-68DF-4F91-84F4-D598E9BF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FS/等待/短任务波动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950A1D-1C44-4A30-A9E9-BC0EA250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94760"/>
            <a:ext cx="87630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D12921-8425-46B6-A097-A348EEE7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711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22%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D5E6B4-8332-42B7-BD43-AD13981E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360-457s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67C0B0-8B9D-4884-8171-CD9126A6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starry-kernel / final tail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E13469-6EDD-473C-B21F-BDFE7961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7F6728-7A63-4CB3-8B41-A841DA8E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82B82B-3E9B-4A24-9221-08AB859E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怎么看这张图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A04E9A-0B1C-428A-AE25-D462535B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432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前中段能吃到并行，但并不是 8 核常满；后段掉到低利用率，说明瓶颈转成 Cargo critical path、单个大 crate codegen、文件系统 metadata 与 wait/wakeup。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5E0977-40D7-4D41-8D23-266F0FFD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6529D6-CD2A-44BC-9250-92D29637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0A2BD2-8EDC-472D-9685-B4C7A58A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624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监控暴露的问题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BC47C7-4344-4BAC-91D4-3E00213A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旧 /proc/stat aggregate 曾出现非单调，说明 CPU 计数本身也需要内核修复；因此这里同时结合 cargo JSON timing 与微基准解释。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CB60E3-172E-4687-95A9-82926DC6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结论：8 核是有效的，但完整 cargo 的可并行段、OS 开销和串行尾段不均衡；下一步应优化 T_wait、T_fs、T_smp。</a:t>
            </a:r>
          </a:p>
        </p:txBody>
      </p:sp>
    </p:spTree>
    <p:extLst>
      <p:ext uri="{BB962C8B-B14F-4D97-AF65-F5344CB8AC3E}">
        <p14:creationId xmlns:p14="http://schemas.microsoft.com/office/powerpoint/2010/main" val="5152554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66D6E-B300-48AD-A9D1-DF1CEE46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81C45-4C98-49E1-9930-5AD74F26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5BB3D-3BF4-4409-B1C3-C5E1B508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73EE1-179B-470F-B5E7-D0A885DA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对齐对比：为什么 host 能 2.93x，guest 只有 1.24x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763BE-AE61-4F8F-9658-0B2CC8C8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这页把同一 StarryOS kernel 构建任务的 host 参考和 guest jobs-only 放在一起，说明差距来自哪里。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DA4FE-F50F-464B-A601-EEBBAAD6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D623D-78AE-41B4-BF42-76CE448E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2ADC2-06E5-44BE-9E47-708380D3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85s -&gt; 29s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39085-1BE3-4734-A959-6FB99598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813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对齐参考，2.93x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38FDF-14BB-4D16-9B57-B43700B4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BE978-647A-49CB-A6FA-5D087037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AFBCB-D7EF-4FAF-B1CF-4055DB08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422s -&gt; 341s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9F070-4ECE-4391-A818-FA4F6E83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813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guest jobs-only，1.24x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427B8-A866-4F54-A997-A19DA30F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464A1-6A74-493B-8F2E-C83A2357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00B38-D8E8-4581-BFCA-E3095562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951s -&gt; 331s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EE11F-48F8-4356-804C-B96B60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813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guest 端到端调优，2.87x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6D2CD-E38B-43F7-9628-C7B8464F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FF7B4-82FF-453F-A6FC-FC7D21A0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26FD7-2791-49AC-B512-52414BAD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Host 参考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A1152-7EC9-46F1-B60A-F5A02A46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同源码、同 AArch64/SMP8 kernel config、同 release profile；cargo/rustc 跑在宿主机。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A3DFE-3A20-40B2-A000-86BC7210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6A91E-C362-44C8-A0F9-329DEEFC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80CEF-24F6-46D1-8472-AE229AB1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053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Guest 真实承载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22097-7BF9-4392-BD32-37648EE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244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同 profile 只改 jobs，但要承担 syscall、VFS、scheduler、pipe/wait 和虚拟化边界。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3B1F23-3886-43D5-9AF9-A37EAB31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669C6-DA7C-4E31-BF82-0A2BEA1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051DC-E99C-456C-AA00-D715185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4904D-3675-47BF-8263-CA9FC10A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244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并行空间存在；full cargo 的剩余差距来自 OS 短任务成本和串行尾段叠加。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83E103-4B72-48B1-9E8C-BC93C84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现场讲法：host 是可并行上界；guest 是 OS 真实承载能力；两者差距就是本实验定位和修复的对象。</a:t>
            </a:r>
          </a:p>
        </p:txBody>
      </p:sp>
    </p:spTree>
    <p:extLst>
      <p:ext uri="{BB962C8B-B14F-4D97-AF65-F5344CB8AC3E}">
        <p14:creationId xmlns:p14="http://schemas.microsoft.com/office/powerpoint/2010/main" val="14160742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EB4CD-E79F-434D-A6F0-D82C094E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3BDC5-C535-46A7-B840-1CA189EE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BEAF9-8789-400C-9D90-259D85C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17F67-3983-4E61-A0EF-666FE663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成因拆解：Cargo、OS、QEMU 分别承担什么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C4A85-ECE9-4AB3-8C88-C1DE6A79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最后把瓶颈按归属拆清楚，避免把所有慢都归因给 QEMU 或 Cargo。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05876-8E11-41DF-845B-C4668B78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观测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D9C8F-86DA-462F-89BF-7D0F3B16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归因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19CDC-6203-4038-8BA1-FCFBD0DC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已经做了什么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E4CD1-8CFA-4368-9CB6-A8E46C0D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D78B2-A4A9-4DB0-BF82-9FE5CF02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E498E-442E-43BF-AA87-380085A0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host 2.93x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但 guest jobs-only 1.24x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12CD2-A09F-42B3-872D-6E753309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6A658-0A35-4CDC-B0D5-C7102B3C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图有并行空间；差距主要出在 guest 运行成本。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4EC61-AA67-474E-8C04-5745B9DA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540DF-77BA-41F8-B82E-D87C1D6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908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对齐 host/guest profile，拆分 syscall、VFS、scheduler、QEMU 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8BA6D-9BD5-420F-B6C6-29177592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474F2-B8E5-4642-BB7D-ECAEB555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82A03-2A9C-4811-BCCE-6151C2C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fork/exec/wait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8 路 6.67x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B0805-E065-4A5C-9A7F-01BDB7E0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BE15C-3CDF-4C18-A185-B04DC143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进程创建和等待这条 OS 热路径本身可以扩展。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D1C75-1D77-4125-9F38-A518702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F14D0-2403-4C50-9CEC-98907C15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#842 CPU topology、#926 wakeup progress、#879 RawMutex handoff。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7AD53-0C55-4D20-95CC-FDE6C13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DCC4F-B1E1-4E91-B86D-3895237F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79E67B-9103-4D15-9D67-BC2012B4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build-script wave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 路最快，8 路变慢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F2D8D2-2376-4FB1-A62A-BB5D6145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05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0BC00-596A-4B1B-BF98-09BF59D5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短任务过并行后，被 pipe/wait、文件 metadata 和锁竞争反吃。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A76176-87E6-4FE6-8387-53F9FCFF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E95F67-4F07-4376-A375-7B6264B8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767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用短基准定位 T_wait(N)、T_fs(N)、T_smp(N)，避免只等完整 build。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B1DF13-6DBF-4AEB-ACA9-13B3F02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DB7B72-B903-4BDF-954B-646E11F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8FCDB-E0CD-4932-8509-E6E9333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final link tail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约 2s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4E9C9E-7D64-4BDF-9558-F050B88D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48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6551-DA6F-4F51-85DD-FAE3F8E8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96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331s 版本主瓶颈不是纯链接器，而是 build graph 和 codegen 尾段。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010CB5-5E7F-4790-BBBC-29889A1B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7D1D68-CA78-4DEB-A6C6-875AEF1B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关闭 LTO、opt0、cgu256，串行尾段 642s -&gt; 427s。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5ECAD6-5AA8-4E85-8F45-C3C82EC7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024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ADCFDF-E3B9-4FED-A8F8-075C54C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86450"/>
            <a:ext cx="967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结论：self-build 已跑通；多核不是无效，剩余瓶颈已拆成 Cargo critical path、OS 短任务成本和虚拟化边界三类。</a:t>
            </a:r>
          </a:p>
        </p:txBody>
      </p:sp>
    </p:spTree>
    <p:extLst>
      <p:ext uri="{BB962C8B-B14F-4D97-AF65-F5344CB8AC3E}">
        <p14:creationId xmlns:p14="http://schemas.microsoft.com/office/powerpoint/2010/main" val="3917039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97AEA-D0DF-42E7-B2ED-8B8FA429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D9356-935E-434B-B8C3-010CB3B9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D0733-43E8-4676-9880-5CC26C2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10F3F-B448-4DF8-8486-057F78B5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课程思考：AI 时代的 OS 实验设计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BAC55-5151-4527-B71A-5FC980BD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这次 BigLab-B 的经验是：AI 降低了工程实现门槛，但更凸显任务拆解、信息供给和系统理解的重要性。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C832E-30EF-421E-93B2-5EE44B14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3337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B2391-EED1-49C6-8AED-7E3100C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5D99C-135F-40FC-A706-DD99DD3A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Agent 与任务拆解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AA554-79E2-40D7-AC2F-56518784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2876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Agent 已经能处理很长的工程上下文；真正决定效率的是学生能否把目标、仓库、分支、运行模式、交付标准说清楚。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课程可以更强调：面对庞大 OS 项目，如何把模糊目标拆成可验证的小任务。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02E46-1899-44D6-9B06-53E7936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3337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7D42D-E023-4131-91B0-8BB47959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476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08C0C-B617-4F14-828A-9571D7A2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更早开放 OS 实战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91828-5206-47F1-925C-A70533AC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05100"/>
            <a:ext cx="2876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让工程门槛显著下降，OS 课可以更多面向大一同学开放。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他们通过参与真实项目、读代码、跑测试、提 PR，会比只做小作业获得更快的工程成长。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011D0-444D-4F0F-8C59-A314E438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337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4FF84-54FC-4272-A516-ADC2AF82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476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2F394-9A4D-4DFD-828B-514C79D5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选修课的多元参与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250A2-8F94-497A-8BB3-C1644831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2876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区分必须掌握的 OS 基础和可选进阶模块。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鼓励 AI 方向同学用自己的 AI 能力完成过去单人课程里很难完成的大型系统项目，同时保持 OS 核心问题足够有趣。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68C1F-0693-4227-9DB2-AA3C9E53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EEBC1-12A9-43B1-B62C-83C35882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00700"/>
            <a:ext cx="971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结论：AI 不替代 OS 理解；它让课程更适合训练“拆解复杂系统、组织证据、完成真实工程交付”的能力。</a:t>
            </a:r>
          </a:p>
        </p:txBody>
      </p:sp>
    </p:spTree>
    <p:extLst>
      <p:ext uri="{BB962C8B-B14F-4D97-AF65-F5344CB8AC3E}">
        <p14:creationId xmlns:p14="http://schemas.microsoft.com/office/powerpoint/2010/main" val="659510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2026-05-29T20:14:13.0020000Z</dcterms:created>
  <dcterms:modified xsi:type="dcterms:W3CDTF">2026-05-29T20:14:13.0020000Z</dcterms:modified>
</coreProperties>
</file>