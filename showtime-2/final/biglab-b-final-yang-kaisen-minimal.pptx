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dfc98edc784183" /><Relationship Type="http://schemas.openxmlformats.org/officeDocument/2006/relationships/extended-properties" Target="/docProps/app.xml" Id="R446808bce3284b6d" /><Relationship Type="http://schemas.openxmlformats.org/officeDocument/2006/relationships/officeDocument" Target="/ppt/presentation.xml" Id="R8dd7f34bc7aa48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244e8afb294339"/>
  </p:sldMasterIdLst>
  <p:notesMasterIdLst>
    <p:notesMasterId xmlns:r="http://schemas.openxmlformats.org/officeDocument/2006/relationships" r:id="R739e4dfe9e0e4498"/>
  </p:notesMasterIdLst>
  <p:sldIdLst>
    <p:sldId xmlns:r="http://schemas.openxmlformats.org/officeDocument/2006/relationships" id="256" r:id="R7e99404fb63d4569"/>
    <p:sldId xmlns:r="http://schemas.openxmlformats.org/officeDocument/2006/relationships" id="257" r:id="R6edaba0eca8c403c"/>
    <p:sldId xmlns:r="http://schemas.openxmlformats.org/officeDocument/2006/relationships" id="258" r:id="Rb959a0cbf3ad4aa7"/>
    <p:sldId xmlns:r="http://schemas.openxmlformats.org/officeDocument/2006/relationships" id="259" r:id="R0309659bd52d4bc7"/>
    <p:sldId xmlns:r="http://schemas.openxmlformats.org/officeDocument/2006/relationships" id="260" r:id="Rdc66cdd1d3c5425b"/>
    <p:sldId xmlns:r="http://schemas.openxmlformats.org/officeDocument/2006/relationships" id="261" r:id="Rd5fb1114d84b4f9e"/>
    <p:sldId xmlns:r="http://schemas.openxmlformats.org/officeDocument/2006/relationships" id="262" r:id="R7d183846da1646d6"/>
    <p:sldId xmlns:r="http://schemas.openxmlformats.org/officeDocument/2006/relationships" id="263" r:id="Rfcad1ff381a048db"/>
    <p:sldId xmlns:r="http://schemas.openxmlformats.org/officeDocument/2006/relationships" id="264" r:id="R51adc0462a164486"/>
    <p:sldId xmlns:r="http://schemas.openxmlformats.org/officeDocument/2006/relationships" id="265" r:id="Ree62d04d49da4f4d"/>
    <p:sldId xmlns:r="http://schemas.openxmlformats.org/officeDocument/2006/relationships" id="266" r:id="R34fb6ffa758947d3"/>
    <p:sldId xmlns:r="http://schemas.openxmlformats.org/officeDocument/2006/relationships" id="267" r:id="R182b483552754571"/>
    <p:sldId xmlns:r="http://schemas.openxmlformats.org/officeDocument/2006/relationships" id="268" r:id="R9b26f18d85bd49e9"/>
    <p:sldId xmlns:r="http://schemas.openxmlformats.org/officeDocument/2006/relationships" id="269" r:id="R3fadda6a4aae4b93"/>
    <p:sldId xmlns:r="http://schemas.openxmlformats.org/officeDocument/2006/relationships" id="270" r:id="Rd59bb529e2b34dc0"/>
    <p:sldId xmlns:r="http://schemas.openxmlformats.org/officeDocument/2006/relationships" id="271" r:id="R3e387947c93f445e"/>
    <p:sldId xmlns:r="http://schemas.openxmlformats.org/officeDocument/2006/relationships" id="272" r:id="R9afb0bd9669f436a"/>
    <p:sldId xmlns:r="http://schemas.openxmlformats.org/officeDocument/2006/relationships" id="273" r:id="Rbd91b61986d8481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244e8afb294339" /><Relationship Type="http://schemas.openxmlformats.org/officeDocument/2006/relationships/theme" Target="/ppt/theme/theme1.xml" Id="Rbb5e8090fbe640cd" /><Relationship Type="http://schemas.openxmlformats.org/officeDocument/2006/relationships/notesMaster" Target="/ppt/notesMasters/notesMaster1.xml" Id="R739e4dfe9e0e4498" /><Relationship Type="http://schemas.openxmlformats.org/officeDocument/2006/relationships/presProps" Target="/ppt/presProps.xml" Id="Rf0dace6ddc20451c" /><Relationship Type="http://schemas.openxmlformats.org/officeDocument/2006/relationships/viewProps" Target="/ppt/viewProps.xml" Id="R15bce984ddee4193" /><Relationship Type="http://schemas.openxmlformats.org/officeDocument/2006/relationships/tableStyles" Target="/ppt/tableStyles.xml" Id="R1d0db2e382054d86" /><Relationship Type="http://schemas.openxmlformats.org/officeDocument/2006/relationships/slide" Target="/ppt/slides/slide1.xml" Id="R7e99404fb63d4569" /><Relationship Type="http://schemas.openxmlformats.org/officeDocument/2006/relationships/slide" Target="/ppt/slides/slide2.xml" Id="R6edaba0eca8c403c" /><Relationship Type="http://schemas.openxmlformats.org/officeDocument/2006/relationships/slide" Target="/ppt/slides/slide3.xml" Id="Rb959a0cbf3ad4aa7" /><Relationship Type="http://schemas.openxmlformats.org/officeDocument/2006/relationships/slide" Target="/ppt/slides/slide4.xml" Id="R0309659bd52d4bc7" /><Relationship Type="http://schemas.openxmlformats.org/officeDocument/2006/relationships/slide" Target="/ppt/slides/slide5.xml" Id="Rdc66cdd1d3c5425b" /><Relationship Type="http://schemas.openxmlformats.org/officeDocument/2006/relationships/slide" Target="/ppt/slides/slide6.xml" Id="Rd5fb1114d84b4f9e" /><Relationship Type="http://schemas.openxmlformats.org/officeDocument/2006/relationships/slide" Target="/ppt/slides/slide7.xml" Id="R7d183846da1646d6" /><Relationship Type="http://schemas.openxmlformats.org/officeDocument/2006/relationships/slide" Target="/ppt/slides/slide8.xml" Id="Rfcad1ff381a048db" /><Relationship Type="http://schemas.openxmlformats.org/officeDocument/2006/relationships/slide" Target="/ppt/slides/slide9.xml" Id="R51adc0462a164486" /><Relationship Type="http://schemas.openxmlformats.org/officeDocument/2006/relationships/slide" Target="/ppt/slides/slide10.xml" Id="Ree62d04d49da4f4d" /><Relationship Type="http://schemas.openxmlformats.org/officeDocument/2006/relationships/slide" Target="/ppt/slides/slide11.xml" Id="R34fb6ffa758947d3" /><Relationship Type="http://schemas.openxmlformats.org/officeDocument/2006/relationships/slide" Target="/ppt/slides/slide12.xml" Id="R182b483552754571" /><Relationship Type="http://schemas.openxmlformats.org/officeDocument/2006/relationships/slide" Target="/ppt/slides/slide13.xml" Id="R9b26f18d85bd49e9" /><Relationship Type="http://schemas.openxmlformats.org/officeDocument/2006/relationships/slide" Target="/ppt/slides/slide14.xml" Id="R3fadda6a4aae4b93" /><Relationship Type="http://schemas.openxmlformats.org/officeDocument/2006/relationships/slide" Target="/ppt/slides/slide15.xml" Id="Rd59bb529e2b34dc0" /><Relationship Type="http://schemas.openxmlformats.org/officeDocument/2006/relationships/slide" Target="/ppt/slides/slide16.xml" Id="R3e387947c93f445e" /><Relationship Type="http://schemas.openxmlformats.org/officeDocument/2006/relationships/slide" Target="/ppt/slides/slide17.xml" Id="R9afb0bd9669f436a" /><Relationship Type="http://schemas.openxmlformats.org/officeDocument/2006/relationships/slide" Target="/ppt/slides/slide18.xml" Id="Rbd91b61986d848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4c5b9fa546f48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94853820524c64" /><Relationship Type="http://schemas.openxmlformats.org/officeDocument/2006/relationships/notesMaster" Target="/ppt/notesMasters/notesMaster1.xml" Id="R19d1425ebf0547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c1955ed90345b1" /><Relationship Type="http://schemas.openxmlformats.org/officeDocument/2006/relationships/notesMaster" Target="/ppt/notesMasters/notesMaster1.xml" Id="Rd1517d73744942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69322058fc4bca" /><Relationship Type="http://schemas.openxmlformats.org/officeDocument/2006/relationships/notesMaster" Target="/ppt/notesMasters/notesMaster1.xml" Id="Rd35bf8a341e34b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4fb2193db84412" /><Relationship Type="http://schemas.openxmlformats.org/officeDocument/2006/relationships/notesMaster" Target="/ppt/notesMasters/notesMaster1.xml" Id="Rd40921bf9c5a4b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80fb8220374947" /><Relationship Type="http://schemas.openxmlformats.org/officeDocument/2006/relationships/notesMaster" Target="/ppt/notesMasters/notesMaster1.xml" Id="R786befba3daa49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c0f3d9561f409a" /><Relationship Type="http://schemas.openxmlformats.org/officeDocument/2006/relationships/notesMaster" Target="/ppt/notesMasters/notesMaster1.xml" Id="R2d7f36f17d1343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16148b48e34072" /><Relationship Type="http://schemas.openxmlformats.org/officeDocument/2006/relationships/notesMaster" Target="/ppt/notesMasters/notesMaster1.xml" Id="R690a7ccccf964f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f95af032df4f05" /><Relationship Type="http://schemas.openxmlformats.org/officeDocument/2006/relationships/notesMaster" Target="/ppt/notesMasters/notesMaster1.xml" Id="R38e9c9d6feb64dd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cf77a0ac814868" /><Relationship Type="http://schemas.openxmlformats.org/officeDocument/2006/relationships/notesMaster" Target="/ppt/notesMasters/notesMaster1.xml" Id="R3e9586a00b0841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ea7d3c74e44b3b" /><Relationship Type="http://schemas.openxmlformats.org/officeDocument/2006/relationships/notesMaster" Target="/ppt/notesMasters/notesMaster1.xml" Id="Ree9fa08e590b43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3f3387af5d4c8d" /><Relationship Type="http://schemas.openxmlformats.org/officeDocument/2006/relationships/notesMaster" Target="/ppt/notesMasters/notesMaster1.xml" Id="R8dd4fe3f44e044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22ba4b10724ad6" /><Relationship Type="http://schemas.openxmlformats.org/officeDocument/2006/relationships/notesMaster" Target="/ppt/notesMasters/notesMaster1.xml" Id="Rbcbcdba376a34b0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55b502ac636461c" /><Relationship Type="http://schemas.openxmlformats.org/officeDocument/2006/relationships/notesMaster" Target="/ppt/notesMasters/notesMaster1.xml" Id="Rb011ac9e7f1240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7d3477b4044dd8" /><Relationship Type="http://schemas.openxmlformats.org/officeDocument/2006/relationships/notesMaster" Target="/ppt/notesMasters/notesMaster1.xml" Id="R43cce8ba2652474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2f9bf93bc145aa" /><Relationship Type="http://schemas.openxmlformats.org/officeDocument/2006/relationships/notesMaster" Target="/ppt/notesMasters/notesMaster1.xml" Id="R4424314931e542a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26bfede54144576" /><Relationship Type="http://schemas.openxmlformats.org/officeDocument/2006/relationships/notesMaster" Target="/ppt/notesMasters/notesMaster1.xml" Id="R49106b4d95d44c8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85182e15a1f4793" /><Relationship Type="http://schemas.openxmlformats.org/officeDocument/2006/relationships/notesMaster" Target="/ppt/notesMasters/notesMaster1.xml" Id="Raff9f03c1aa646f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41e5ea2bb14fb6" /><Relationship Type="http://schemas.openxmlformats.org/officeDocument/2006/relationships/notesMaster" Target="/ppt/notesMasters/notesMaster1.xml" Id="Rf1aaa432cd2e4c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aef7d4f82546d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3791f1f13844176" /><Relationship Type="http://schemas.openxmlformats.org/officeDocument/2006/relationships/slideLayout" Target="/ppt/slideLayouts/slideLayout2.xml" Id="R3eb5ee6bb12f46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b5ee6bb12f46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7b40f0a1b245be" /><Relationship Type="http://schemas.openxmlformats.org/officeDocument/2006/relationships/notesSlide" Target="/ppt/notesSlides/notesSlide1.xml" Id="R694de6f7ed574d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62ba8767f5483b" /><Relationship Type="http://schemas.openxmlformats.org/officeDocument/2006/relationships/notesSlide" Target="/ppt/notesSlides/notesSlide2.xml" Id="R39d1914600e043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fdba3f4329409d" /><Relationship Type="http://schemas.openxmlformats.org/officeDocument/2006/relationships/notesSlide" Target="/ppt/notesSlides/notesSlide3.xml" Id="Rbd7490aeaa8842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e538804b6d49c7" /><Relationship Type="http://schemas.openxmlformats.org/officeDocument/2006/relationships/notesSlide" Target="/ppt/notesSlides/notesSlide4.xml" Id="R6256a349f4d245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6327103b7c44d1" /><Relationship Type="http://schemas.openxmlformats.org/officeDocument/2006/relationships/notesSlide" Target="/ppt/notesSlides/notesSlide5.xml" Id="Rc17a94e12bd74d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d1d751d2c94604" /><Relationship Type="http://schemas.openxmlformats.org/officeDocument/2006/relationships/notesSlide" Target="/ppt/notesSlides/notesSlide6.xml" Id="R34f7a27fdfd849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e8f766d6314298" /><Relationship Type="http://schemas.openxmlformats.org/officeDocument/2006/relationships/notesSlide" Target="/ppt/notesSlides/notesSlide7.xml" Id="Rf2682d45ab1843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17d8eb883a47df" /><Relationship Type="http://schemas.openxmlformats.org/officeDocument/2006/relationships/notesSlide" Target="/ppt/notesSlides/notesSlide8.xml" Id="R14988c330a2b4a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de439481cc47c5" /><Relationship Type="http://schemas.openxmlformats.org/officeDocument/2006/relationships/notesSlide" Target="/ppt/notesSlides/notesSlide9.xml" Id="R4a86c69b8cbf41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500b8604a049c9" /><Relationship Type="http://schemas.openxmlformats.org/officeDocument/2006/relationships/notesSlide" Target="/ppt/notesSlides/notesSlide10.xml" Id="R717c152c9de9407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530bb4d7be43c6" /><Relationship Type="http://schemas.openxmlformats.org/officeDocument/2006/relationships/notesSlide" Target="/ppt/notesSlides/notesSlide11.xml" Id="R4f1659be68a948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652e2d41144d41" /><Relationship Type="http://schemas.openxmlformats.org/officeDocument/2006/relationships/notesSlide" Target="/ppt/notesSlides/notesSlide12.xml" Id="R4574eed8f15849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3fcfb10bd84258" /><Relationship Type="http://schemas.openxmlformats.org/officeDocument/2006/relationships/notesSlide" Target="/ppt/notesSlides/notesSlide13.xml" Id="Re77520a0721a41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fcd5e36e764dfa" /><Relationship Type="http://schemas.openxmlformats.org/officeDocument/2006/relationships/notesSlide" Target="/ppt/notesSlides/notesSlide14.xml" Id="R767ffb34be7e4d9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6ebbd6ebec4072" /><Relationship Type="http://schemas.openxmlformats.org/officeDocument/2006/relationships/notesSlide" Target="/ppt/notesSlides/notesSlide15.xml" Id="Rf19ec23cba5348a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17c1b84abd463f" /><Relationship Type="http://schemas.openxmlformats.org/officeDocument/2006/relationships/notesSlide" Target="/ppt/notesSlides/notesSlide16.xml" Id="Rd546dd8712254f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a1a85968c044b2" /><Relationship Type="http://schemas.openxmlformats.org/officeDocument/2006/relationships/notesSlide" Target="/ppt/notesSlides/notesSlide17.xml" Id="R3f8406fd25d14a9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bff088210c4db5" /><Relationship Type="http://schemas.openxmlformats.org/officeDocument/2006/relationships/notesSlide" Target="/ppt/notesSlides/notesSlide18.xml" Id="R3395c31a79024e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AFD96F-DD4A-40B7-BBF8-F3132BD3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8DB623-50F7-4BA5-B874-FC93B2F6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StarryOS 自举编译与内核改进成果汇报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7CDBD-7957-4F17-856A-611E3F13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BigLab-B 最终汇报 | 杨凯森 | 2026-05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FF246-0092-4AD6-B3F1-5A48EC76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目标：让 StarryOS 承载一个真实的大型 Rust/Cargo workload，在 guest 内编译出 StarryOS 自己。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41BE4-8EC3-4241-88A9-11053985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这件事会系统性暴露 OS 层问题：进程创建、futex 退出、文件系统、SMP 同步、调度唤醒、用户态 ABI 和 QEMU/HVF 边界。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249C9-EE74-41E0-BD69-645B2D1C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D392B-7D3A-4942-B02B-38FD6D9F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方法：用 AI 驱动的持续迭代框架，把长时间实验拆成可复现、可验证、可提交的 OS 修复。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42D88-9294-4D22-BB26-0C4F7325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38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9954F6-F21C-45D7-9A10-04A8C1FA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成果：12 个 OS PR 已合入 TGOSKit dev；8 核 AArch64/HVF guest 完成 StarryOS self-build。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309D3C-59EE-4012-994B-0C3CBCB5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72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B0851-7488-4CA6-ABA1-34FDA6DC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673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分析：用 host 对齐参考和微基准拆清 Cargo、OS、QEMU 各自承担的性能成本。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7F343-88AC-4F49-8212-CD7A7090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95750"/>
            <a:ext cx="15811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BBA609-6B1C-4578-BBC9-1AB88410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324350"/>
            <a:ext cx="104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3C5F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93C5FD"/>
                </a:solidFill>
                <a:latin typeface="PingFang SC"/>
                <a:ea typeface="PingFang SC"/>
                <a:cs typeface="PingFang SC"/>
              </a:rPr>
              <a:t>路线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60B1-FC28-4C2D-B8B7-4EC55DEB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86300"/>
            <a:ext cx="1162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真实 workload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暴露 OS 问题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形成 PR 与测例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再做性能诊断</a:t>
            </a:r>
          </a:p>
        </p:txBody>
      </p:sp>
    </p:spTree>
    <p:extLst>
      <p:ext uri="{BB962C8B-B14F-4D97-AF65-F5344CB8AC3E}">
        <p14:creationId xmlns:p14="http://schemas.microsoft.com/office/powerpoint/2010/main" val="3289865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18D5CF-AA29-40D5-8D39-CAEDA3DB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F4C22-6A50-4BBE-B68C-1EBBAFC0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4D67BC-33F2-4A2C-A77B-2EE6F50D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6EFCF-DC93-4ECB-9AE4-A0CC9DA7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BigLab-A：AI4OSE Lab1 基础训练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FBD6D-FA41-4A8F-91FF-ECF83E0D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BigLab-A 是前 7 周的基础训练，目标是把 OS 概念、Rust 工程和可复现实验交付串起来。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E1180-7EF0-4EA1-9901-31BD2064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13E98-ED28-4361-9EE2-C901C7D2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B1E08-4EA8-473F-980A-233AC45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4315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任务结构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EBF6A-F5B5-4FE1-AC32-B97D11D5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27813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1：5 个基础小实验全部完成。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2：至少完成 2 个个性化实验。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3：至少完成 3 个扩展实验，且包含 T3L1 与 T3L8。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4：在完成总结报告后申请检查。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293D0-1006-495A-B610-60FD816B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3360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340B7-D23F-4D21-B02C-9E8DF775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336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61E7B-1ADB-4964-9674-2F2B99D6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交付方式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67AE16-107D-4E5A-BEB3-642E1DD9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62250"/>
            <a:ext cx="27813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每个实验形成可运行 crate，发布到 crates.io，并带上 #ai #ai4ose #kernel #learning #os 关键词；同时保留 GitHub repo、tag、README 和复现命令。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AAB7A3-5EA8-4EC7-AD3A-C7781D9F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3360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CED127-389F-4BAA-8616-B472CF5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336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35E9BE-2817-4E91-A946-81C11B91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4315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对后续的作用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FE24E4-ACD6-42F3-95B4-2940C3BA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7813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BigLab-A 训练的是小规模、可复现、可讲清楚的 OS 实验；BigLab-B 把这个方法迁移到 TGOSKit/StarryOS 的真实内核 PR 和大型 workload。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692E0E-42D3-4C95-971B-60D97CB4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杨凯森：BigLab-B 汇报重点承接 BigLab-A 的工程化训练，进一步展示真实内核问题定位、修复、测例和 PR 合入。</a:t>
            </a:r>
          </a:p>
        </p:txBody>
      </p:sp>
    </p:spTree>
    <p:extLst>
      <p:ext uri="{BB962C8B-B14F-4D97-AF65-F5344CB8AC3E}">
        <p14:creationId xmlns:p14="http://schemas.microsoft.com/office/powerpoint/2010/main" val="11330485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1C5F31-B5F8-453B-BDA2-BF90F207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DA10A-7655-40B3-B938-08A601FE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1B9EC-5E6D-48C5-AC29-1BE9F4D8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89BFF-2EFA-42A4-A2CC-D24B68A4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1：AI 驱动工程框架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A4171F-6AFA-49BD-A585-9989C420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1 的重点不是单次修 bug，而是建立一套能持续同步、运行、定位、修复和提交的工作流。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79B11-E167-46D5-804A-13544B6B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54107-8D59-4813-92D4-3B712A93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ABF4B-835A-4F68-9BEB-87E0D873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DE276-E080-4FDD-9376-9B6884DC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把 AI 辅助开发放进真实 OS 工程闭环：从问题发现到 PR 合并都保留证据。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10293-D773-4D6E-9443-695B32AA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74567-7CE1-4CC5-A8D4-132DEDB8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14B005-8D7E-4D09-BB43-14139958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原则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524CC9-90C5-4A2D-A4BF-85DB4D75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反馈链路超过 2 小时就先缩短：小测例、低日志、resume/cache、宿主预检、直接 QEMU。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07B2FB-766B-481F-BF65-6A55C372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23F9D-1E50-4FEC-8D85-1321D89C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F2E12-133B-4768-89E2-74A224EE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5DC33-E07C-4B4B-9344-519A8F9E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规则、harness、自动同步、PR 检测、日志归档、showtime 文档与可复现脚本。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242C6B-1970-4A61-A95B-172AD5A8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76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08311E-8F54-4D04-B510-4E999FA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720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持续和 TGOSKit dev 对齐，避免长期偏离上游导致 PR 难合并。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710D6A-5A0F-4774-937E-0557E229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14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030FCB-1B86-44C3-9769-BBCF4B3C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015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发现 OS bug 后，不停留在实验日志，而是整理 root cause、test-suite 和 PR 文案。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3A8185-1331-4A64-B443-64AD7BBB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53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70E1F2-667E-4675-B958-60AC5BDC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483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长任务用于验收，短任务用于定位；两者分开，减少无效等待。</a:t>
            </a:r>
          </a:p>
        </p:txBody>
      </p:sp>
    </p:spTree>
    <p:extLst>
      <p:ext uri="{BB962C8B-B14F-4D97-AF65-F5344CB8AC3E}">
        <p14:creationId xmlns:p14="http://schemas.microsoft.com/office/powerpoint/2010/main" val="1716150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9B93F0-631C-4D35-8DB4-82D546BA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06255-3287-473B-89D5-2AB7A2DB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7C710-B374-4A04-B56A-7A3F5F04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7AB8A-CBA3-4DD7-A196-F8F356B3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Harness 第一阶段：模型驱动测试挖掘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28F83-D560-462D-808B-F82F011C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第一阶段尝试让模型生成测试并自动运行，用测试失败来反推 StarryOS 的 bug。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6BDE3-D255-461D-B9A3-1F3C3C51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4F735-E12C-45DB-8870-21FE7A74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AA66D4-6C7A-4998-8FDA-42EE5099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做法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347A43-977F-44D6-A2ED-27847F23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B2E29-6E7C-4854-9969-A40FFFD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68105-635F-4461-9EED-12F36590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1227F2-5E3E-4F7D-964C-DB7038CB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经验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D6CB5-6631-4BB4-A663-BE0FE228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B34053-0688-487A-B972-9408422E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11F3BD-E217-4919-841C-C04E962F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围绕 syscall、busybox 小命令和文件系统行为生成测试用例。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628C7-D28B-4B76-952A-5BE2835A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2D00C0-2BF2-40FC-A429-B2F1BBBD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模型读日志、提出怀疑点、继续补 case 或定位代码。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619EC7-FEDB-4CB3-9A93-77D8CC47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B943F-E31B-4598-BE5E-662839C6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能快速覆盖很多边界输入，但缺乏 workload 方向性。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5B1210-7C71-4F0B-B27E-297AF32A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935976-D1ED-4A1F-81BE-EE9C1596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 OS bug 数量不稳定，容易陷入泛化测试和低价值失败。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300045-61A6-46FA-91BD-3ACDBF22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结论：纯测试挖掘可以作为补充，但不足以支撑大实验主线；后续改为真实 workload 驱动。</a:t>
            </a:r>
          </a:p>
        </p:txBody>
      </p:sp>
    </p:spTree>
    <p:extLst>
      <p:ext uri="{BB962C8B-B14F-4D97-AF65-F5344CB8AC3E}">
        <p14:creationId xmlns:p14="http://schemas.microsoft.com/office/powerpoint/2010/main" val="1861733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D499DA-1FC2-46AF-865D-C439D4C2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90645-06A8-48A7-A9B3-ED76E581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20F537-B36C-4145-92B5-FC04F957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A812E-E80F-4239-A904-132D7A0C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Harness 当前方案：与 StarryOS dev 紧密联动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6280D-7BAB-4626-83C9-378E0C84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现在的框架以可合并 PR 为目标：每天同步 dev，在真实 StarryOS 任务中暴露问题，并沉淀测例。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83CA9-DB8B-4233-9309-B5BD00B9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BB715-A8B4-492B-BA9A-67F13078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09:00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F54BF-B4EE-46FE-B9DF-21220DFF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同步 dev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98C092-49E8-4D59-BC95-C5095883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7CB11-A692-473C-8027-CCF678F2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DD31DD-8129-434F-ABC1-317AA96E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02D420-C724-4C69-9FC8-05A071D1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编译/运行任务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BCCCD9-6AAF-472F-9908-C27D208E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2019A4-4310-4E82-BA2E-21B05929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867B79-DDAA-4321-AE24-8FCF55AF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8A1605-91D7-4B37-B01C-2B9A931A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读取输出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F8F487-8AD3-4CDF-BCE3-12D69298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99040F-DDFD-49BF-BCD9-F11BF1F7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C1860-8B64-4AE9-ADC1-301AD301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5800F1-6DA5-42EC-A4F3-7375EAAE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修改内核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ED4A90-51B9-4EA9-ADA1-53A213DA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6C93A2-BFD0-48E8-B9F6-E3286926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9E672-86A6-4A02-A796-52F890DC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D313D-D558-4472-82B3-065459D3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测例+提交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6E52EF-4719-4B6F-AB52-917B2482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FCDBAD-74C2-441C-911F-5B6E0E8C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B3D94C-7FC4-4AAA-94C0-02F83767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自动同步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1CCFEF-BE46-49EB-80FE-C810E86E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每天早上 9:00 拉取最新 dev，专门同步分支，减少上游快速演进带来的冲突成本。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A889BA-BFF8-4577-B903-B2DD4454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55BFBE-7A37-48E8-B72F-286110B3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7A5CE6-23FE-49CA-A732-9EB491C5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自动修复闭环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36B033-0C2E-4DBE-ABB8-845E78D7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在 StarryOS 上跑具体任务；一旦发现相关 bug，整理 root cause 与 Test Suite，随 OS 改动提 PR 到 dev。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3FE948-BDCB-45FA-B32F-61B2F424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50B9FB-F878-4BC6-BC55-07C15F1C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DF1D00-191A-4893-B896-4DDFBEB6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PR 守护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D3EA65-DEDB-46A9-85C7-CDA0B3F89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定时检查 PR CI 状态；未通过则继续收集失败、修复、推送，直到达到可合并状态。</a:t>
            </a:r>
          </a:p>
        </p:txBody>
      </p:sp>
    </p:spTree>
    <p:extLst>
      <p:ext uri="{BB962C8B-B14F-4D97-AF65-F5344CB8AC3E}">
        <p14:creationId xmlns:p14="http://schemas.microsoft.com/office/powerpoint/2010/main" val="6198047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78E7E1-5990-46FE-88CF-72E027C8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8112F4-D9A4-4F7D-A0AA-90D08805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AA08A-FF94-429C-95DA-4B99A2CB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B9985-E769-427D-8698-1829B6F3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PR：12 个已合入 OS 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942A1-6786-4196-A6D2-D618A56F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这些 PR 不按“改了多少文件”讲，而按 OS 行为边界拆分：进程线程、文件系统、网络 ABI、SMP 同步和调度前进性。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37B26-E50C-476C-A42E-A9CF9E21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B1FCB-BDF7-42A3-B04B-E0AE53FD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F50DDE-7B63-4393-86C8-6359BE0C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 / 线程 / futex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A63AAD-5A4E-4149-9808-7FC89878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#692 robust futex cleanup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#693 vfork parent blocking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#878 teardown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FF038D-02B8-49DA-8E8C-983BF5B6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CB914-239A-40C4-BC86-72668C8A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8E1FE8-F05E-49AB-982D-C3510B77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文件系统 / 设备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03C58-4C4D-460C-82EA-7192F69E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#800 device full transfer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8447D-6BC0-4D83-917E-660FF3E9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97C868-FD69-401F-B254-797C08F9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A3BEC9-5219-47FE-AFFF-6EE304A3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 / 同步 / 调度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5A5F71-84E4-402B-8ED6-4A2BD220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#842 CPU topology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#879 raw mutex handoff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#885 syscall entry snapshot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#926 SMP wakeup progress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7185FF-AE04-430E-A888-277B8F07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7E590-B311-4EAE-B33B-1675D480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272891-DB5B-42DE-A22A-FD8564A6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网络 ABI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84675F-E96A-4C97-9267-E298BC4A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#694 IPv4-mapped IPv6 socket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保持 IPv6 用户态语义，内部复用 IPv4 backend。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B22465-EA3F-425B-94CB-EBB5C1A1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1B00AE-4264-4722-A837-B64C973B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CDA3C-18FF-4099-82E1-86E4E209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验证标准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226AB8-4181-42F5-A2BB-007F62AC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 PR 均包含问题根因、修复范围、测试用例和 CI 或本地复现证据。</a:t>
            </a:r>
          </a:p>
        </p:txBody>
      </p:sp>
    </p:spTree>
    <p:extLst>
      <p:ext uri="{BB962C8B-B14F-4D97-AF65-F5344CB8AC3E}">
        <p14:creationId xmlns:p14="http://schemas.microsoft.com/office/powerpoint/2010/main" val="12946931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20B5E2-7CD0-4265-A504-3346D238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209DD7-2233-498C-AD26-25A8F0AA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58A2C-12B4-4E7E-9C76-D170F998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DFB29-7479-4FD7-B553-3F42D589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1：进程创建、vfork 与 posix_spawn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AA626-EF26-4478-8FFE-AEB7392B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很多用户态程序不是直接“运行一个命令”，而是通过 fork/vfork/clone 创建子进程，再 exec 成目标程序。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2785D-3C8D-43AB-ACE0-F6D7C12A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63242-2FF4-4489-B599-186E5E4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9C6237-B44C-4E4B-BC28-AAC1E961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fork / clone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CF4D8-CA8E-4FE3-901C-8ADFC772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 会复制进程语义，clone 是 Linux 更底层的创建接口；线程、进程、vfork 都可以看成不同 flag 组合。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8E3D00-A9F9-41DE-8EE0-898A6723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7D29B-D934-4B8C-BEC5-37862306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D96C0-1EE6-46A3-B67C-4B52DD32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vfork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37154-A54C-407A-82F8-B13A6904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vfork 是一种更强同步语义：子进程 exec 或 exit 前，父进程应等待。因为这段时间父子可能共享地址空间，父进程过早运行会破坏状态。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9C5F01-0CA9-431C-85AC-2624E1E7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77756A-65F3-4415-B8BD-33D6CA56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8D810-704A-4A7E-8092-4CF5F92C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posix_spawn / shell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FFA35-494B-4296-A93C-C83E42D4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shell、busybox、cargo 调 rustc 等路径会频繁创建子进程。posix_spawn 常用 vfork 风格实现，要求父子同步可靠。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280EC-3DDB-4CDB-BD6E-E3C49A35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29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4E2A65-C443-4876-BB79-1800C23A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244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老师问“为什么这个重要”：因为它是用户态启动其他程序的基础 ABI。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48D7E3-1B49-4FDB-93D5-F04D6840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24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C030E-5D22-4FED-BAE2-73FD2D7B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197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StarryOS 自举编译里，cargo 会反复 spawn rustc/build.rs；这条路径不稳，大型 workload 就无法稳定推进。</a:t>
            </a:r>
          </a:p>
        </p:txBody>
      </p:sp>
    </p:spTree>
    <p:extLst>
      <p:ext uri="{BB962C8B-B14F-4D97-AF65-F5344CB8AC3E}">
        <p14:creationId xmlns:p14="http://schemas.microsoft.com/office/powerpoint/2010/main" val="1575216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8E1CD6-79CA-42BE-95FB-DEE239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B2478-707E-4855-8C52-F92641D4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CF2EC-DAB4-4CFD-BC8C-8B84332E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59B00-7C40-476A-95F6-D651D0C0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1：vfork / clone 语义修复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02C7E9-BE93-4495-87D1-D6375839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这个 PR 修的是父进程等待条件，保证 vfork 类子进程在 exec/exit 前不会让父进程提前继续。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6B65E-4E36-47BD-BC7A-4C3CAB00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FCD51F-5918-4CFD-90B0-203CEA7F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BD91B1-8425-4A92-A879-83FAA6E8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5505C-C1AB-42F3-A645-50AD406B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9E2081-60F4-4C7D-B4D2-17B6A8D2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CB879-1CAC-443A-B7DB-16E6860C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277202-876A-4EDC-88EE-BE2BB385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B19BFC-57E8-47DF-8118-6AF3AA42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DA234-11A6-44F7-8D16-DB9AD38C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DD9952-0173-4813-A1AB-FF35B587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旧实现把等待条件错误收窄，部分 CLONE_VFORK 场景没有等待。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7C2532-51E7-45AE-95E3-E9A1C553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F7FAE2-FCE8-42D2-8DE8-1F0811DB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父进程提前返回会破坏 shell、busybox、cargo 依赖的同步顺序。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7650CA-80AA-448A-BEAC-E29F7920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DE1E80-3C97-4DE5-8197-80704D16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 CLONE_VFORK 等待条件，保证父进程等待 vfork_done。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C5F221-567F-4A9F-BBE2-C4350947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0C3EEA-9CB5-47EA-A3D1-EDC718EE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测例：test-vfork。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F6FE3A-831E-4904-A3F5-B566F66A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47C2A8-6E0C-44AA-9851-FE3A992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影响范围：BusyBox / shell / cargo 子进程创建路径。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81AC56-DF9C-46C3-913B-34560EFE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成果：修复进程创建 ABI 语义，使 BusyBox、shell 和 cargo 子进程创建路径具备更稳定的行为基础。</a:t>
            </a:r>
          </a:p>
        </p:txBody>
      </p:sp>
    </p:spTree>
    <p:extLst>
      <p:ext uri="{BB962C8B-B14F-4D97-AF65-F5344CB8AC3E}">
        <p14:creationId xmlns:p14="http://schemas.microsoft.com/office/powerpoint/2010/main" val="7923890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2E9517-95DB-4E77-B7DE-7F873B0F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1C098-B49B-4206-A6E5-2232AF04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ED5F7-72C6-4642-BD57-28AA6B87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62B15-5760-4601-A850-254C4EDA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2：futex、robust list 与线程退出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1A5A2-376B-4134-AE98-08E129F1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futex 是 Linux 用户态同步的核心：平时锁在用户态完成，只有等待/唤醒时才进入内核。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1DD2E-0623-428E-94C4-5F714017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DB201-8795-4633-A5FB-8AA25966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8828C3-0787-4956-9315-6EF722A1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futex 是什么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ABB2DE-2C14-48C7-9D9C-CDDDBAAB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用户态锁先用原子指令竞争；竞争失败时用 futex syscall 让线程睡眠，释放锁时再由内核唤醒等待者。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17CC2-CF2E-4B5B-87F5-BD1B2E86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6837F-6A5D-47CE-8BFD-085588D1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BA838-EA94-4177-BF9B-99B55B88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robust list 是什么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281AD6-B522-4967-9F2A-D73E2B47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线程持有锁时退出，用户态可能来不及释放锁。Linux 让线程登记 robust list，内核在线程退出时扫描并修复遗留锁状态。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4DFC8-C1EB-4AD8-8052-FB741D75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300F3A-E78F-4041-8620-66595898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2F406E-5F50-4AF3-A450-886CBC04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为什么容易出错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4BA91-B9F3-4582-8EC1-9052A6F7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robust list 指针来自用户态，本来就可能是坏地址；退出路径还常在复杂上下文里，不能因为清理失败再引入 panic。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4ED014-290B-4AB3-BF26-48350BD2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67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AE04C9-A04E-49EC-A8A8-C6DA40B2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625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老师问“OS 知识点”：这是用户态 pthread/mutex 与内核等待队列之间的 ABI。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3B16ED-A78D-4A9D-A682-C474A209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62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AE107-2D79-426F-8DF4-60431427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578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 workload 里 build tool、runtime、pthread 都可能走这条路径；退出清理必须容错。</a:t>
            </a:r>
          </a:p>
        </p:txBody>
      </p:sp>
    </p:spTree>
    <p:extLst>
      <p:ext uri="{BB962C8B-B14F-4D97-AF65-F5344CB8AC3E}">
        <p14:creationId xmlns:p14="http://schemas.microsoft.com/office/powerpoint/2010/main" val="14342461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B29317-5E72-43C1-8671-3E04AA31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D0375-6E4B-4115-B591-81668F22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E40E4-A626-47E5-9E14-88D82E6C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7EDE5-FA2D-49BF-BFEF-B07D2208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2：futex 与线程退出清理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3ECD8-F318-4A83-B67E-0A12F837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这个 PR 的重点是让线程退出路径能够安全处理坏 robust-list entry 和 pending futex。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33A154-8281-4A51-A46D-2D11972B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0ED4B-C17C-4BB8-8C4B-7BCFFEEB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0811A-C686-440A-A4CE-74D16743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BAA66-023C-478D-BADA-386D7713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2939E-A9B4-403D-9072-96B65301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79FFB0-AFFA-4506-B710-7F4470C3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61CB4A-73B9-4E92-A999-86B2EBB7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D22976-F8FF-45EB-92FF-6C65617B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BBF5E8-6659-4528-B805-6E5FF55C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FC176B-CF36-403E-8ECD-5E530CBA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用户态可以传坏 robust-list 指针，内核不能因此拖垮退出路径。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E78EE-553D-4A57-B27C-DE25D003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29D27-417F-4E4E-80AC-1A185DB7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pending futex 与普通 entry 混在一起，会让 pthread 退出/回收变得脆弱。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313F47-F0BB-47AA-B833-D4DCC18E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D7658C-4386-43B7-B6D8-72359146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坏 entry 容错清理，pending 单独处理。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5BF0F2-5E15-44D4-8578-05C677B1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7BF32-29EC-4D82-9D2D-92189D51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测例：test-futex-robust-list。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8EACC9-1604-454F-8528-841D7878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49FAD-B6EB-4D36-B945-67AE2FA2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关联：teardown/context usercopy 修复退出路径。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9C0381-DC1F-4287-A7A3-91CD717E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成果：退出清理路径可以安全处理用户态异常输入，避免单个坏 robust-list 破坏进程回收流程。</a:t>
            </a:r>
          </a:p>
        </p:txBody>
      </p:sp>
    </p:spTree>
    <p:extLst>
      <p:ext uri="{BB962C8B-B14F-4D97-AF65-F5344CB8AC3E}">
        <p14:creationId xmlns:p14="http://schemas.microsoft.com/office/powerpoint/2010/main" val="18413076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C3D90F-3785-4780-8478-2122082C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F554BD-838C-4925-9485-DC3F1873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882B91-6199-4A38-A6D3-F444C4C4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837C8-31D1-4061-96A1-1BF94C73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3：VFS、tmpfs、ext4 与真实应用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DF447-9839-4C4C-A7BC-92A91679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Linux 应用看到的是统一的文件系统接口，但内核底下可能是内存文件系统、ext4、设备节点或 proc/sysfs。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07616-E7A5-4FF9-BC22-8A3434A2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2D57F-F015-4FCB-8897-6D350877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7B610-401E-4210-9260-3A31C3D6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00C31-E273-46E3-A80B-F1C73054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VFS 是统一抽象：open/read/write/rename/unlink/getdents 等 syscall 不直接绑定某一种磁盘格式。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98696-6A8E-4111-BCC4-C4041027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A1A0B-2AE4-44BE-87E2-6BDF4647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CE9C8-C8D3-47AD-8E98-91D88466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tmpfs / ext4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8F0206-0D19-44EA-BD1F-53EE9ED0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tmpfs 主要在内存里维护目录项和文件对象；ext4 需要管理 inode、bitmap、block group 等磁盘元数据。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E6A18-3115-403C-8E71-9C6F9625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C47893-B126-41A3-82A5-8AAEC8C9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F63C3-3FB0-4EB9-BD1F-1E34B125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压力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56753-6FD4-48F7-B460-C6C9A341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cargo 编译会制造大量小文件、临时文件、rename、unlink、目录扫描和设备/pipe I/O，是检验 VFS 语义的真实压力源。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D34B60-BF6C-4794-BAE6-7206C52E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48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FA34A-3A1C-413C-ABEB-40D1C345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4345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老师问“为什么 FS 会影响编译”：因为 target 目录几乎全是 metadata 和小文件操作。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968A51-773B-4828-9BA0-F8BD0FDF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43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89A35-E6FA-43A7-830C-52741A31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3875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这类 bug 往往不是单个命令失败，而是大量组合操作后出现目录项、inode 或短读写语义偏差。</a:t>
            </a:r>
          </a:p>
        </p:txBody>
      </p:sp>
    </p:spTree>
    <p:extLst>
      <p:ext uri="{BB962C8B-B14F-4D97-AF65-F5344CB8AC3E}">
        <p14:creationId xmlns:p14="http://schemas.microsoft.com/office/powerpoint/2010/main" val="1907241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5BEDFE-E35E-4B62-9906-35EC5778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C033C-869B-4C6B-8A81-092E295D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CFCA2-1F9C-41C0-8846-4BCF05B9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0B82A-52B5-40DE-B134-27E7D0D2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3：文件系统与 VFS 正确性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A54A4-5DF6-4767-9233-82E68ABF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这一组 PR 面向真实应用的文件系统访问模式，补齐 inode 分配、rename/exec 和设备传输语义。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B51729-9D75-42F2-BD8A-22126746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ACAFD-AEA1-4A47-81A8-D06E26E4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86A6B-3228-40F2-9476-3084BF5C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9CDE8-7DD4-4BFC-9EC4-3B46D493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ext4 block group 可标记 inode bitmap 未初始化；allocator 需要识别并初始化，再继续分配 inode。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9F3C12-47A8-45D0-A5BB-FEA680CA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FB157D-A992-4B5E-BB0D-BB71074B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66237-A6AB-4573-BE9E-17DE57A6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B3B47-3306-455F-807F-31E91C39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tmpfs 的目录项和可执行文件生命周期要一致；rename/unlink 不能让后续 exec/open 看到错乱状态。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12E5E-0F8F-4BA7-9F7D-60F03E01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049EB-5191-43BE-8FC5-C2D39900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11C498-ADF1-4819-9C77-BFAAAB86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#800 device transfer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F55815-30E6-4CF7-8271-D6AC73E5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VFS 设备节点读写要遵守完整 transfer 语义，否则 busybox、构建脚本等用户态工具会拿到短读写。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3C0F6B-F398-4645-9119-B39A9307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成果：文件系统层面对真实应用的目录项、inode 和设备 I/O 行为更加接近 Linux 预期。</a:t>
            </a:r>
          </a:p>
        </p:txBody>
      </p:sp>
    </p:spTree>
    <p:extLst>
      <p:ext uri="{BB962C8B-B14F-4D97-AF65-F5344CB8AC3E}">
        <p14:creationId xmlns:p14="http://schemas.microsoft.com/office/powerpoint/2010/main" val="5730103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2E4A33-398B-4EF1-816E-4FDE98CF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80CC0-61A3-4BCE-BCA3-28CA77ED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39611-3E3A-465E-AE52-53CEA810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65E84-0516-4C7C-B730-8C0A92AC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实验 4：StarryOS guest 内自举编译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D1ADE-ED62-44D7-A994-A71B327A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实验目标是在 StarryOS userland 中运行 cargo build，完成 StarryOS 自身构建并输出 PASS marker。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79F3C-FDE7-4380-B738-D395796A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246DC-33B0-4189-BF0F-EAF4688A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启动内核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CE6C5-49A5-426B-B575-ABD32B03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35055-697F-41F6-BEF0-CF5837DF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13D946-B559-4833-8C7C-3631B9CF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挂载 rootfs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1745F-89C0-4C5A-A01F-4CB8C4F5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D576D-E30E-4E15-B300-AD7921AE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88BDC0-0442-429C-A779-5C060F5A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运行 cargo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6F1BDD-46B3-46F2-8B14-E4ED8BB5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1E29D-FB0C-4C8F-896A-A973C60D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2542C3-AAEA-43B3-B5D8-2C705883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定位 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0AF46E-8C99-4D4F-B8F7-CA0DD079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0C123C-CD55-45E3-978C-1E37A3E5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3F3A7-1E95-4865-A29E-75CA09D9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DAC38A-4663-4339-B32D-4780B8C1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A38EB5-2C1C-47DD-8F03-5FAFEA66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005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宿主对齐参考：同 StarryOS kernel 配置、同 target/profile，host cargo j1=85s，j8=29s。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C3DD2-4C95-4B46-9E90-F2A5B144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62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FF9FF7-5D4C-47DF-B584-7867D32A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577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最优：AArch64/HVF 8 核 StarryOS guest，完整 self-build 331s。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E144E5-A1AC-4AB7-898B-70C5653B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19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6084D2-F4A3-4CE7-B255-71E7E997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149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判据：进入 userland、找到 rootfs 内 StarryOS ELF、打印 PASS、无 panic/trap/FATAL/error。</a:t>
            </a:r>
          </a:p>
        </p:txBody>
      </p:sp>
    </p:spTree>
    <p:extLst>
      <p:ext uri="{BB962C8B-B14F-4D97-AF65-F5344CB8AC3E}">
        <p14:creationId xmlns:p14="http://schemas.microsoft.com/office/powerpoint/2010/main" val="21027309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C9E271-0A5A-4DC6-BACF-73E822BC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A4152-64A1-4AE1-A379-E40BE08B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A58BA-8BE4-4C4F-AC7B-E30CFAA9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142F4-53E0-479B-94E9-8899656B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多核编译性能结果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E5F99-F97D-4AFD-A30F-AFCD31C2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通过脚本和构建参数调节，guest 完整 self-build 从 951s 降到 331s，约 3 倍，已稳定进入 400s 内。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900432-0047-4FF1-9F49-04DBDF9C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3E9D1-8E00-4DB8-AC30-E694E276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9D9D4-DB93-4860-9CEE-C6A054E9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951s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550B23-F2CF-4F32-9954-80C59824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最慢 guest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09FD6-75B3-4ADC-A3CD-CB6B23B4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0F388-0579-4AD7-ABF3-A4B79F90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99876-DC05-4ED4-97B8-2838FEF4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642s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A27207-5A4F-49A1-AC8F-D318F469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默认 8 核 guest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C6E46B-6A5F-4884-A74B-2604CE85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F1F9BC-F5BD-41DF-B845-E51B9F5D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F9CD71-E32A-4AE3-9772-7E827C49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06177-E29D-457C-9140-769CF7F6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当前最快 guest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5D44D6-AEB6-4077-9A1D-A04481AE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B55C7A-25A7-4ABD-A041-682B3CA2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1CAB0D-44D0-473A-BCAC-BF54DED0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29s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B4EF4-3C5A-44F9-85C3-CEF9C243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C8EDCE-5353-42B4-AE26-BEED89A1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73AFF4-6798-4318-9FA3-E48A3324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2E8AB0-CABD-4620-A4EE-FA1F6284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28900"/>
            <a:ext cx="1181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85s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93199-1C55-4910-8CF4-4962C1A5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095625"/>
            <a:ext cx="1181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43C618-B571-4DB7-9D53-A513CE61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77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0B9A3A-9AEA-4F19-80C0-53FD8011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6720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端到端真正收益：951s / 331s = 2.87x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8CF32D-DD55-44A1-9FE8-A149EEF8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910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guest 编译并行：422s / 341s = 1.24x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2577DE-0CB7-473A-B001-BDD0427A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host 对齐参考：85s / 29s = 2.93x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8DF06F-3762-4AD8-9A1E-F79EFA83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9105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链接/串行尾段：642s / 427s = 1.50x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89E23D-BEBD-46B4-BF93-A6F8983A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注：host 与 guest 编译同一 AArch64/SMP8 StarryOS kernel；host 不进入 guest，链接项不是独立 link-only benchmark。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274477-5424-468F-9CF4-22E66262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结论：完整 guest self-build 已完成；并行收益受 Cargo critical path、guest OS/FS/SMP 和串行尾段共同限制。</a:t>
            </a:r>
          </a:p>
        </p:txBody>
      </p:sp>
    </p:spTree>
    <p:extLst>
      <p:ext uri="{BB962C8B-B14F-4D97-AF65-F5344CB8AC3E}">
        <p14:creationId xmlns:p14="http://schemas.microsoft.com/office/powerpoint/2010/main" val="10910177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54E648-BE87-4DC4-911F-86070009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038E6-D227-4850-A4DB-CB55C51A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CC37E-D2FF-4A1B-B3DD-AFEC5452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CBC892-A9F3-4441-9AF0-6F58B2E4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性能模型与测试细项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E8414-4A24-4E26-B07F-4B4B2A68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每个瓶颈都用接近 Cargo 行为的微基准拆开验证，而不是只给粗略归因。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7F309-763E-4ABE-B044-AE720D96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0363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T_build(N) = T_std/cache + T_serial + T_parallel/N + T_fs(N) + T_smp(N) + T_wait(N)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218752-E454-4F0C-9397-2C646E2F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E08228-5DB3-4772-B6A2-A01D425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13F29-2205-4C32-A6CB-BF1361B9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进程链路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9E8188-29C9-4491-B980-177161B4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fork/exec/wait 1000 次：20/11/5/3s，8 路 6.67x。模拟 cargo 反复 spawn rustc。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AD3AF9-F46C-40D0-960E-4D0ECE86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BBD89-378E-447B-B2DE-56A6579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F11EDD-BF11-4A47-B37D-A805337A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短任务 wave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B5319-A3CA-4D4E-BE26-B23557B2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24 个 build-script：27/22/27/32/32s。2 路最快，过并行会被 OS/FS/SMP 成本吃掉。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82A3A8-3D26-43F0-A6A6-B2363B62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09589-0DFA-4147-87CE-4E3BD3E8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DCEE7B-FEEF-4CD9-A9EF-C574327B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FS 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553EA-5D0F-4E65-B071-2F910B52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rsext4 fileio jobs=8：47.5s→14.5s。模拟 target 小文件 create/write/rename/unlink。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1C7FE9-EA69-49EC-B882-4BB294C6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8DE2F-07A4-4D83-A034-61DD003F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88E477-E97F-4E30-B69A-682460BF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宿主/QEMU参考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4529F7-99F7-4C66-9356-7B201AC5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同构建任务 85/29=2.93x；guest jobs-only 422/341=1.24x。raw CPU MTTCG 3.17x 不作 RISC-V correctness。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E707C-50E0-4210-B0EF-E0A9ABF2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1028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timestamp：artifact tail 约 2s，starry-kernel 后段约 17-20s；331s 版本主瓶颈不是纯链接。</a:t>
            </a:r>
          </a:p>
        </p:txBody>
      </p:sp>
    </p:spTree>
    <p:extLst>
      <p:ext uri="{BB962C8B-B14F-4D97-AF65-F5344CB8AC3E}">
        <p14:creationId xmlns:p14="http://schemas.microsoft.com/office/powerpoint/2010/main" val="9655841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ABC757-8F1F-48B8-B5B7-46A8020B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82874-3F09-4F71-9C35-5A50448B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E33B91-E204-4FA9-92A9-33798460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97E92-5DE8-4D29-8567-DEC2D3BA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SMP8 CPU 利用率与阶段分析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D6584-F874-47E4-ADAC-72EBE798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诊断 run 使用 GUEST_CPU_MONITOR=1 和 cargo JSON timing，耗时 457s；监控有开销，但能解释 8 核为什么没有线性加速。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06003-06C3-4EE5-B70C-C356BE56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723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530E14-AF06-4D91-97D8-AC4D9FF4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719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EECE4-A37D-484A-812F-339B46B9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767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EF73-95C8-4882-BB5E-77BE6828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4332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07ECA-55E7-404F-85DE-BDACF664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4807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7A03E1-D747-4EA4-9F03-B0B914A2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1470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AB8FC-7DC8-459D-B808-BEAE9D90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194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50%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80C2E7-6790-4CCF-B4D8-E54E1524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8607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C56B20-9308-4B4B-B2C8-6FF1DA11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9082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75%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DB05D3-B30F-41A1-9A91-4B526E19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574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9B2A84-1E1E-4927-B931-B1DBB90B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F6CE7E-4533-4CB2-BEC0-9A874F13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023235"/>
            <a:ext cx="876300" cy="11487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839669-FDDF-4512-8B01-58A18C05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77558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67%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1B757-14B1-4830-98AD-0D736648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0-90s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E0E58E-65A3-4062-8C67-1FA3186E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build-std/proc-macro 启动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A20C0-8D59-497E-9490-A27C3620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80410"/>
            <a:ext cx="876300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147AF0-295E-45C2-94A3-D0E85693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3276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52%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4E79E-4BD0-4137-BC53-B6ACEF04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90-180s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661DF7-B718-4E8B-849C-2956394C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core/compiler_builtins 长链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F3D24B-4FFB-4011-9BC9-271D6DFE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71800"/>
            <a:ext cx="876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A00954-9C18-455A-9B7E-51E22E2A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70%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2CB55F-C392-48FD-8AF6-642D0CFB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180-270s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22F986-7A0E-4575-BB38-1EDEAA67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crate 图中段并行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B560E0-699E-4613-8A59-74167BF3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46120"/>
            <a:ext cx="876300" cy="9258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2C4B4C-2317-4ED8-8506-1355D2DE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99847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54%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E19D4C-0FAD-4C9A-883B-8B1775BB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270-360s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29B5A6-D1D1-424C-91C1-6644050F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FS/等待/短任务波动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8D2838-7660-4224-8A96-464433F2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94760"/>
            <a:ext cx="876300" cy="3771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5D5BED-4D4C-4CE2-B60A-78A613B1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4711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22%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CF736A-961C-460B-93DB-BCBBFCAC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360-457s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643F1D-5B55-43C9-AE0A-AC6CF9C5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starry-kernel / final tail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930458-45E8-4542-ACB2-5F45970D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CF61BF-203B-44EE-8034-4733391D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B69DAC-9196-4B20-973F-7A1EA915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怎么看这张图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B705DC-4F97-4B17-803A-A97EC874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前中段能吃到并行，但并不是 8 核常满；后段掉到低利用率，说明瓶颈转成 Cargo critical path、单个大 crate codegen、文件系统 metadata 与 wait/wakeup。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EF354E-837A-4DEB-8C93-25E1BDEC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B23D71-0C9D-4FB1-9124-115EF83C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C5EEA6-9385-4378-93A1-CDB8C5C7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9624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监控暴露的问题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AC8CE3-E5CD-478F-AEC1-E541A8A7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815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旧 /proc/stat aggregate 曾出现非单调，说明 CPU 计数本身也需要内核修复；因此这里同时结合 cargo JSON timing 与微基准解释。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D428A3-D369-43B7-950F-8FFBF5AE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结论：8 核是有效的，但完整 cargo 的可并行段、OS 开销和串行尾段不均衡；下一步应优化 T_wait、T_fs、T_smp。</a:t>
            </a:r>
          </a:p>
        </p:txBody>
      </p:sp>
    </p:spTree>
    <p:extLst>
      <p:ext uri="{BB962C8B-B14F-4D97-AF65-F5344CB8AC3E}">
        <p14:creationId xmlns:p14="http://schemas.microsoft.com/office/powerpoint/2010/main" val="12062025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BC5D4F-EBF5-4904-8704-7251D7FB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CE4FD3-CE75-4C90-AFD7-14E2CB52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2998D-9909-4F2B-8D21-55D96F87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0FF32-8226-44A9-84C9-DBDCD040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对齐对比：为什么 host 能 2.93x，guest 只有 1.24x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7B7C7-5DA2-46C7-8DD7-36FD5A13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这页把同一 StarryOS kernel 构建任务的 host 参考和 guest jobs-only 放在一起，说明差距来自哪里。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2E3C4-7B02-4319-9C95-293D9768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7D7739-D898-4A99-9BDC-4CDE4BC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93E55-6012-460B-AA5A-133E0061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85s -&gt; 29s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801F7A-C197-43FB-997F-12F98148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对齐参考，2.93x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68E3A-4C45-4630-A782-28ADDE8B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D87AA-FFC6-483E-874D-97A7CDFA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9981D-AD1A-4CF9-A794-9506E729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422s -&gt; 341s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9CA176-9E7C-49C0-AE2E-63A31CBC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jobs-only，1.24x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AAFD6-2D60-472B-8262-BE1AF4B9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4564A6-F7CA-4D1B-8824-DC5933AB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5539E-B12A-44AC-9595-F89B4613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951s -&gt; 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7ACF3-ED47-4697-8930-8F14FF4B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端到端调优，2.87x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B73DA9-B2B3-4DA3-B326-66F4F11A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E10E56-6CDF-498E-9EC0-567C5A71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4EE301-AAB1-4882-ABFF-3B362F8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参考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82BE7-D64C-465C-9CA4-55F4C306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同源码、同 AArch64/SMP8 kernel config、同 release profile；cargo/rustc 跑在宿主机。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CC99A7-C9A9-43FE-8A6C-1AFE69B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1904F9-9EEA-4E69-9E18-5E564E01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DA50F2-D5D0-4243-884E-9AEE6DFB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真实承载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64EE83-1CD2-4BA0-8E76-8183495B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 profile 只改 jobs，但要承担 syscall、VFS、scheduler、pipe/wait 和虚拟化边界。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D8B83A-D802-4FDA-9251-5152F53C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D9DB42-C0A0-4A0C-BBBC-473E67E9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CC5E56-EE10-4B43-8ACD-6AA7939B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0A3BD7-D0A6-491D-83D3-CED983B8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并行空间存在；full cargo 的剩余差距来自 OS 短任务成本和串行尾段叠加。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B4DF3E-DCC1-4108-B5C6-3D440570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现场讲法：host 是可并行上界；guest 是 OS 真实承载能力；两者差距就是本实验定位和修复的对象。</a:t>
            </a:r>
          </a:p>
        </p:txBody>
      </p:sp>
    </p:spTree>
    <p:extLst>
      <p:ext uri="{BB962C8B-B14F-4D97-AF65-F5344CB8AC3E}">
        <p14:creationId xmlns:p14="http://schemas.microsoft.com/office/powerpoint/2010/main" val="1958394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5333EF-49BE-4DFC-AB03-7545E4E6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DDFB8-8938-4BFB-8134-1ECEE02D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605F4F-D604-43FE-AA89-1246B92F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C7B68-A8C6-46EA-9DB1-B5B2C79B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成因拆解：Cargo、OS、QEMU 分别承担什么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C62C2-2BC4-47CE-BCC9-EFD63D81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最后把瓶颈按归属拆清楚，避免把所有慢都归因给 QEMU 或 Cargo。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DAB96-F9BE-454D-B757-F0658A64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观测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24B5E-88F5-4EC5-AC60-0C3F9F74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归因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78EEB-3783-47B8-8DF7-5919475B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52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已经做了什么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DC774-6995-47E5-B796-198EBDD2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97E946-099B-4C14-8014-1E944966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5C8288-B2DC-4F70-A101-5BB3C168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2.93x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但 guest jobs-only 1.24x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51E9E-EE35-48D8-9740-AA5E7582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AB6AE-673A-4D90-A4DE-1EAA149D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图有并行空间；差距主要出在 guest 运行成本。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D018D-7287-49FA-8990-568DB7BC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3EC87-C0EF-4CCC-B94B-EA2F9FA8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908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 host/guest profile，拆分 syscall、VFS、scheduler、QEMU 边界。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DA4FC2-8474-49AB-B49A-FF1E5743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3D14B5-F3E7-44B3-A7BC-976D08F5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C8E2D-EE7A-473B-9B96-ECA700D6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909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fork/exec/wait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8 路 6.67x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C4F2C-BC0E-40F7-BA32-CE75301B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7679E4-0D92-471D-AC20-E90981CB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337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进程创建和等待这条 OS 热路径本身可以扩展。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2922C4-29DD-42AB-9355-68478F0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37AFD-A57D-4504-AE6D-1C89FC61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337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#842 CPU topology、#926 wakeup progress、#879 RawMutex handoff。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581053-78DB-4D75-92B7-48302F43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1092A6-0523-495E-B16A-862BD5C6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7AB21-1239-47C6-B953-897516D2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build-script wave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 路最快，8 路变慢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7A285-B321-4544-A721-A8615589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6FAD7C-B228-42A4-A81A-07CD14C9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767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短任务过并行后，被 pipe/wait、文件 metadata 和锁竞争反吃。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06E4C-9144-4D01-84F2-4AA048FB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4DD059-154D-4DBF-AD9E-4A8EBEC8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767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用短基准定位 T_wait(N)、T_fs(N)、T_smp(N)，避免只等完整 build。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F350F3-DFFA-41DD-999E-521BFBC3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81C67A-9E69-4D11-867A-21DD4EEA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023EF4-9C59-4D5B-AB96-64F9EF49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tail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约 2s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F34415-D49A-4037-BD74-F1C95500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441513-C0C8-4D57-B89F-F4F36D09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331s 版本主瓶颈不是纯链接器，而是 build graph 和 codegen 尾段。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7D9E87-4167-47D0-8ED0-8DA74DC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E58534-6B04-477B-9619-BA0D4D16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196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关闭 LTO、opt0、cgu256，串行尾段 642s -&gt; 427s。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AC7291-DBF9-47AD-BBCB-599BACF5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53100"/>
            <a:ext cx="10248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BAB524-E44E-47E2-9849-3448DB36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86450"/>
            <a:ext cx="967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结论：self-build 已跑通；多核不是无效，剩余瓶颈已拆成 Cargo critical path、OS 短任务成本和虚拟化边界三类。</a:t>
            </a:r>
          </a:p>
        </p:txBody>
      </p:sp>
    </p:spTree>
    <p:extLst>
      <p:ext uri="{BB962C8B-B14F-4D97-AF65-F5344CB8AC3E}">
        <p14:creationId xmlns:p14="http://schemas.microsoft.com/office/powerpoint/2010/main" val="1296871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2026-05-29T19:58:08.7370000Z</dcterms:created>
  <dcterms:modified xsi:type="dcterms:W3CDTF">2026-05-29T19:58:08.7370000Z</dcterms:modified>
</coreProperties>
</file>