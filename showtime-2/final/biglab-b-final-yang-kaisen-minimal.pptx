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f9bd10be4f4c48" /><Relationship Type="http://schemas.openxmlformats.org/officeDocument/2006/relationships/extended-properties" Target="/docProps/app.xml" Id="Ra80b0cf337ec4b17" /><Relationship Type="http://schemas.openxmlformats.org/officeDocument/2006/relationships/officeDocument" Target="/ppt/presentation.xml" Id="R830a7b06331f43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90a20c468b4f13"/>
  </p:sldMasterIdLst>
  <p:notesMasterIdLst>
    <p:notesMasterId xmlns:r="http://schemas.openxmlformats.org/officeDocument/2006/relationships" r:id="R7b59e2792ecb4945"/>
  </p:notesMasterIdLst>
  <p:sldIdLst>
    <p:sldId xmlns:r="http://schemas.openxmlformats.org/officeDocument/2006/relationships" id="256" r:id="R8e4a32fd21ca48db"/>
    <p:sldId xmlns:r="http://schemas.openxmlformats.org/officeDocument/2006/relationships" id="257" r:id="R384b770777d143c5"/>
    <p:sldId xmlns:r="http://schemas.openxmlformats.org/officeDocument/2006/relationships" id="258" r:id="R2c38b574890c45b2"/>
    <p:sldId xmlns:r="http://schemas.openxmlformats.org/officeDocument/2006/relationships" id="259" r:id="R47392b13fab44bec"/>
    <p:sldId xmlns:r="http://schemas.openxmlformats.org/officeDocument/2006/relationships" id="260" r:id="Ra603c46d529d4b89"/>
    <p:sldId xmlns:r="http://schemas.openxmlformats.org/officeDocument/2006/relationships" id="261" r:id="R406624c55a5a46f5"/>
    <p:sldId xmlns:r="http://schemas.openxmlformats.org/officeDocument/2006/relationships" id="262" r:id="R13d33575228e44d7"/>
    <p:sldId xmlns:r="http://schemas.openxmlformats.org/officeDocument/2006/relationships" id="263" r:id="Ree84ae8c5b854a1f"/>
    <p:sldId xmlns:r="http://schemas.openxmlformats.org/officeDocument/2006/relationships" id="264" r:id="Rf33b6a9b936a42f6"/>
    <p:sldId xmlns:r="http://schemas.openxmlformats.org/officeDocument/2006/relationships" id="265" r:id="R4ae66372fd3f4ff1"/>
    <p:sldId xmlns:r="http://schemas.openxmlformats.org/officeDocument/2006/relationships" id="266" r:id="R306801e0646b446c"/>
    <p:sldId xmlns:r="http://schemas.openxmlformats.org/officeDocument/2006/relationships" id="267" r:id="Rf52633d0c16647ff"/>
    <p:sldId xmlns:r="http://schemas.openxmlformats.org/officeDocument/2006/relationships" id="268" r:id="Re98bb82f90f443b8"/>
    <p:sldId xmlns:r="http://schemas.openxmlformats.org/officeDocument/2006/relationships" id="269" r:id="R5eebfd265d3549b9"/>
    <p:sldId xmlns:r="http://schemas.openxmlformats.org/officeDocument/2006/relationships" id="270" r:id="Rac5b06eb073c48ba"/>
    <p:sldId xmlns:r="http://schemas.openxmlformats.org/officeDocument/2006/relationships" id="271" r:id="R8f2d1492cf8d4a0e"/>
    <p:sldId xmlns:r="http://schemas.openxmlformats.org/officeDocument/2006/relationships" id="272" r:id="Rd0b646451fb8476b"/>
    <p:sldId xmlns:r="http://schemas.openxmlformats.org/officeDocument/2006/relationships" id="273" r:id="R12fc474b591b4df0"/>
    <p:sldId xmlns:r="http://schemas.openxmlformats.org/officeDocument/2006/relationships" id="274" r:id="R198c4f19c8ee406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0a20c468b4f13" /><Relationship Type="http://schemas.openxmlformats.org/officeDocument/2006/relationships/theme" Target="/ppt/theme/theme1.xml" Id="R22132ffc3ed3416e" /><Relationship Type="http://schemas.openxmlformats.org/officeDocument/2006/relationships/notesMaster" Target="/ppt/notesMasters/notesMaster1.xml" Id="R7b59e2792ecb4945" /><Relationship Type="http://schemas.openxmlformats.org/officeDocument/2006/relationships/presProps" Target="/ppt/presProps.xml" Id="R3c12fcee94044173" /><Relationship Type="http://schemas.openxmlformats.org/officeDocument/2006/relationships/viewProps" Target="/ppt/viewProps.xml" Id="R895f236cb94d4a78" /><Relationship Type="http://schemas.openxmlformats.org/officeDocument/2006/relationships/tableStyles" Target="/ppt/tableStyles.xml" Id="Re8a78156444d4189" /><Relationship Type="http://schemas.openxmlformats.org/officeDocument/2006/relationships/slide" Target="/ppt/slides/slide1.xml" Id="R8e4a32fd21ca48db" /><Relationship Type="http://schemas.openxmlformats.org/officeDocument/2006/relationships/slide" Target="/ppt/slides/slide2.xml" Id="R384b770777d143c5" /><Relationship Type="http://schemas.openxmlformats.org/officeDocument/2006/relationships/slide" Target="/ppt/slides/slide3.xml" Id="R2c38b574890c45b2" /><Relationship Type="http://schemas.openxmlformats.org/officeDocument/2006/relationships/slide" Target="/ppt/slides/slide4.xml" Id="R47392b13fab44bec" /><Relationship Type="http://schemas.openxmlformats.org/officeDocument/2006/relationships/slide" Target="/ppt/slides/slide5.xml" Id="Ra603c46d529d4b89" /><Relationship Type="http://schemas.openxmlformats.org/officeDocument/2006/relationships/slide" Target="/ppt/slides/slide6.xml" Id="R406624c55a5a46f5" /><Relationship Type="http://schemas.openxmlformats.org/officeDocument/2006/relationships/slide" Target="/ppt/slides/slide7.xml" Id="R13d33575228e44d7" /><Relationship Type="http://schemas.openxmlformats.org/officeDocument/2006/relationships/slide" Target="/ppt/slides/slide8.xml" Id="Ree84ae8c5b854a1f" /><Relationship Type="http://schemas.openxmlformats.org/officeDocument/2006/relationships/slide" Target="/ppt/slides/slide9.xml" Id="Rf33b6a9b936a42f6" /><Relationship Type="http://schemas.openxmlformats.org/officeDocument/2006/relationships/slide" Target="/ppt/slides/slide10.xml" Id="R4ae66372fd3f4ff1" /><Relationship Type="http://schemas.openxmlformats.org/officeDocument/2006/relationships/slide" Target="/ppt/slides/slide11.xml" Id="R306801e0646b446c" /><Relationship Type="http://schemas.openxmlformats.org/officeDocument/2006/relationships/slide" Target="/ppt/slides/slide12.xml" Id="Rf52633d0c16647ff" /><Relationship Type="http://schemas.openxmlformats.org/officeDocument/2006/relationships/slide" Target="/ppt/slides/slide13.xml" Id="Re98bb82f90f443b8" /><Relationship Type="http://schemas.openxmlformats.org/officeDocument/2006/relationships/slide" Target="/ppt/slides/slide14.xml" Id="R5eebfd265d3549b9" /><Relationship Type="http://schemas.openxmlformats.org/officeDocument/2006/relationships/slide" Target="/ppt/slides/slide15.xml" Id="Rac5b06eb073c48ba" /><Relationship Type="http://schemas.openxmlformats.org/officeDocument/2006/relationships/slide" Target="/ppt/slides/slide16.xml" Id="R8f2d1492cf8d4a0e" /><Relationship Type="http://schemas.openxmlformats.org/officeDocument/2006/relationships/slide" Target="/ppt/slides/slide17.xml" Id="Rd0b646451fb8476b" /><Relationship Type="http://schemas.openxmlformats.org/officeDocument/2006/relationships/slide" Target="/ppt/slides/slide18.xml" Id="R12fc474b591b4df0" /><Relationship Type="http://schemas.openxmlformats.org/officeDocument/2006/relationships/slide" Target="/ppt/slides/slide19.xml" Id="R198c4f19c8ee40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062c1562f494b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2c51f2a2564828" /><Relationship Type="http://schemas.openxmlformats.org/officeDocument/2006/relationships/notesMaster" Target="/ppt/notesMasters/notesMaster1.xml" Id="R69fa94893d394ac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b6d741d0ef4e2b" /><Relationship Type="http://schemas.openxmlformats.org/officeDocument/2006/relationships/notesMaster" Target="/ppt/notesMasters/notesMaster1.xml" Id="Rb4bb4f4d52ec42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22b5097eb84ea4" /><Relationship Type="http://schemas.openxmlformats.org/officeDocument/2006/relationships/notesMaster" Target="/ppt/notesMasters/notesMaster1.xml" Id="R314f1c4ed01c47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ee361f0de614261" /><Relationship Type="http://schemas.openxmlformats.org/officeDocument/2006/relationships/notesMaster" Target="/ppt/notesMasters/notesMaster1.xml" Id="R238e4da52f7c4d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4abcc114c044f2b" /><Relationship Type="http://schemas.openxmlformats.org/officeDocument/2006/relationships/notesMaster" Target="/ppt/notesMasters/notesMaster1.xml" Id="R1c37ac184a3945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fa9646d564a4695" /><Relationship Type="http://schemas.openxmlformats.org/officeDocument/2006/relationships/notesMaster" Target="/ppt/notesMasters/notesMaster1.xml" Id="Ra6a2283bd03942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22b92a47c3441f0" /><Relationship Type="http://schemas.openxmlformats.org/officeDocument/2006/relationships/notesMaster" Target="/ppt/notesMasters/notesMaster1.xml" Id="R7ddb449a1b9b47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51db002a784916" /><Relationship Type="http://schemas.openxmlformats.org/officeDocument/2006/relationships/notesMaster" Target="/ppt/notesMasters/notesMaster1.xml" Id="R5816269c296b46b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0d486caf34c72" /><Relationship Type="http://schemas.openxmlformats.org/officeDocument/2006/relationships/notesMaster" Target="/ppt/notesMasters/notesMaster1.xml" Id="Refcf918dbc0346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92faf6b7a2f456d" /><Relationship Type="http://schemas.openxmlformats.org/officeDocument/2006/relationships/notesMaster" Target="/ppt/notesMasters/notesMaster1.xml" Id="Rb064f42b5a76423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310040237e449b" /><Relationship Type="http://schemas.openxmlformats.org/officeDocument/2006/relationships/notesMaster" Target="/ppt/notesMasters/notesMaster1.xml" Id="Rfb0ca67e9d4d411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4ffd49571e4dc7" /><Relationship Type="http://schemas.openxmlformats.org/officeDocument/2006/relationships/notesMaster" Target="/ppt/notesMasters/notesMaster1.xml" Id="R8b44fc9b3af94ba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1db2429999425b" /><Relationship Type="http://schemas.openxmlformats.org/officeDocument/2006/relationships/notesMaster" Target="/ppt/notesMasters/notesMaster1.xml" Id="R95bc74a2f2f84a3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85bfd63c2bf4750" /><Relationship Type="http://schemas.openxmlformats.org/officeDocument/2006/relationships/notesMaster" Target="/ppt/notesMasters/notesMaster1.xml" Id="R91fd0bb7f8b2447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1e2285762cb4c72" /><Relationship Type="http://schemas.openxmlformats.org/officeDocument/2006/relationships/notesMaster" Target="/ppt/notesMasters/notesMaster1.xml" Id="R66a9269bb78147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d01692d08b64cd5" /><Relationship Type="http://schemas.openxmlformats.org/officeDocument/2006/relationships/notesMaster" Target="/ppt/notesMasters/notesMaster1.xml" Id="Rcb384fef21dc41b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5b32daf2ba4e9d" /><Relationship Type="http://schemas.openxmlformats.org/officeDocument/2006/relationships/notesMaster" Target="/ppt/notesMasters/notesMaster1.xml" Id="Raa02f4ea196c46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9713901b3624f01" /><Relationship Type="http://schemas.openxmlformats.org/officeDocument/2006/relationships/notesMaster" Target="/ppt/notesMasters/notesMaster1.xml" Id="R942a290752fc478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12db98c408943d7" /><Relationship Type="http://schemas.openxmlformats.org/officeDocument/2006/relationships/notesMaster" Target="/ppt/notesMasters/notesMaster1.xml" Id="R3c7e5080feda4c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bc70bb451e4f8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2f0b407c6114a38" /><Relationship Type="http://schemas.openxmlformats.org/officeDocument/2006/relationships/slideLayout" Target="/ppt/slideLayouts/slideLayout2.xml" Id="R68b11000423e4e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b11000423e4e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2000912f44408f" /><Relationship Type="http://schemas.openxmlformats.org/officeDocument/2006/relationships/notesSlide" Target="/ppt/notesSlides/notesSlide1.xml" Id="R429785ca5d0a4eb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520dcba6df4bd8" /><Relationship Type="http://schemas.openxmlformats.org/officeDocument/2006/relationships/notesSlide" Target="/ppt/notesSlides/notesSlide2.xml" Id="Ra1eb8882911240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ec51f165f54dc8" /><Relationship Type="http://schemas.openxmlformats.org/officeDocument/2006/relationships/notesSlide" Target="/ppt/notesSlides/notesSlide3.xml" Id="R522c0da06d854b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d962b38ea3b43d4" /><Relationship Type="http://schemas.openxmlformats.org/officeDocument/2006/relationships/notesSlide" Target="/ppt/notesSlides/notesSlide4.xml" Id="R98d6d49e716d42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bd6ed034cc42ae" /><Relationship Type="http://schemas.openxmlformats.org/officeDocument/2006/relationships/notesSlide" Target="/ppt/notesSlides/notesSlide5.xml" Id="R156d72aea8c64a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a95a8ea29a4b86" /><Relationship Type="http://schemas.openxmlformats.org/officeDocument/2006/relationships/notesSlide" Target="/ppt/notesSlides/notesSlide6.xml" Id="Rb3bab712d98b4f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d29fb714934399" /><Relationship Type="http://schemas.openxmlformats.org/officeDocument/2006/relationships/notesSlide" Target="/ppt/notesSlides/notesSlide7.xml" Id="R42a981ff73b744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3067deef324eb1" /><Relationship Type="http://schemas.openxmlformats.org/officeDocument/2006/relationships/notesSlide" Target="/ppt/notesSlides/notesSlide8.xml" Id="R46274828ad0549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4eca16854f4aba" /><Relationship Type="http://schemas.openxmlformats.org/officeDocument/2006/relationships/notesSlide" Target="/ppt/notesSlides/notesSlide9.xml" Id="Rc2ba375b9cd8473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63b260c6314f14" /><Relationship Type="http://schemas.openxmlformats.org/officeDocument/2006/relationships/notesSlide" Target="/ppt/notesSlides/notesSlide10.xml" Id="R036f100f21ac4e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015241cc414d16" /><Relationship Type="http://schemas.openxmlformats.org/officeDocument/2006/relationships/notesSlide" Target="/ppt/notesSlides/notesSlide11.xml" Id="R218680f387a64b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2ef11677644205" /><Relationship Type="http://schemas.openxmlformats.org/officeDocument/2006/relationships/notesSlide" Target="/ppt/notesSlides/notesSlide12.xml" Id="R01a58859ba0f4a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822ea186af4ef1" /><Relationship Type="http://schemas.openxmlformats.org/officeDocument/2006/relationships/notesSlide" Target="/ppt/notesSlides/notesSlide13.xml" Id="R224afebb888f4a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2b0138478d4035" /><Relationship Type="http://schemas.openxmlformats.org/officeDocument/2006/relationships/notesSlide" Target="/ppt/notesSlides/notesSlide14.xml" Id="Rb4fdefe9be9540b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73ece1b691438b" /><Relationship Type="http://schemas.openxmlformats.org/officeDocument/2006/relationships/notesSlide" Target="/ppt/notesSlides/notesSlide15.xml" Id="Rddf46b501c8a41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cc7820870f49af" /><Relationship Type="http://schemas.openxmlformats.org/officeDocument/2006/relationships/notesSlide" Target="/ppt/notesSlides/notesSlide16.xml" Id="R6ee3dd7c37f342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a1d1b81771449ad" /><Relationship Type="http://schemas.openxmlformats.org/officeDocument/2006/relationships/notesSlide" Target="/ppt/notesSlides/notesSlide17.xml" Id="R1708b1a9f8cb4b3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194f1ae45b4e62" /><Relationship Type="http://schemas.openxmlformats.org/officeDocument/2006/relationships/notesSlide" Target="/ppt/notesSlides/notesSlide18.xml" Id="R34b8789d70344a3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143bb039c24f57" /><Relationship Type="http://schemas.openxmlformats.org/officeDocument/2006/relationships/notesSlide" Target="/ppt/notesSlides/notesSlide19.xml" Id="R4abcb3b3db8441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88DD17-D8B7-42B3-A43B-1B9DDA0B2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A2543-23C0-4B65-BFC5-B18131C27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StarryOS 自举编译与内核改进成果汇报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16D99-7DC2-4CD4-A0AE-D92641C0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BigLab-B 最终汇报 | 杨凯森 | 2026-05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BA43C-DDEB-4448-8AC4-5942D4C8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8FAFC"/>
                </a:solidFill>
                <a:latin typeface="PingFang SC"/>
                <a:ea typeface="PingFang SC"/>
                <a:cs typeface="PingFang SC"/>
              </a:rPr>
              <a:t>主线：让 StarryOS 在 guest 内编译出 StarryOS 自己，过程分为两步推进。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A45CA1-F106-43CB-8988-6C696F82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62350"/>
            <a:ext cx="4762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F752E6-23F9-4201-9E6F-06466C7D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100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8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93C5FD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93C5FD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29529-EA7B-4EE7-BF38-33794D520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719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首先实现单核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1A9C3C-1970-4AAE-A311-A68924CF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248150"/>
            <a:ext cx="3295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先让 StarryOS 在 guest 环境中稳定完成一次自举编译，形成单核可复现基线。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C28BB4-377E-40FB-B407-0AD78EEA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4762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C2F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1AF68-2A05-42A3-994D-5541CBB3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65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BF7D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BF7D0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2A90E-450E-4695-8691-9579978D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7190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0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然后实现多核编译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69AB3-69AA-40FC-A7E3-3320AEBC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48150"/>
            <a:ext cx="32956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再沿同一条链路推进多核，让 StarryOS 在 guest 内以多核方式完成自举编译。</a:t>
            </a:r>
          </a:p>
        </p:txBody>
      </p:sp>
    </p:spTree>
    <p:extLst>
      <p:ext uri="{BB962C8B-B14F-4D97-AF65-F5344CB8AC3E}">
        <p14:creationId xmlns:p14="http://schemas.microsoft.com/office/powerpoint/2010/main" val="18118950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56ECE-0631-4991-B414-93894D5B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FD751-5081-40BB-8DCD-24DCF180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05778-31A9-4472-B4B9-21D21BD3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6176B-3B4F-4571-8760-D5F9D951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BigLab-A：前置训练回顾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29CA1-EE68-474F-BA41-D7670B2A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BigLab-A 主要作为进入 BigLab-B 前的 OS 基础训练；本次答辩只简要说明它给后续 StarryOS 工作提供的能力基础。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C4CD03-C09E-429C-B7B6-7D084548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DF6AB-0039-49B7-B51C-192C1922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9C7E0-988D-46FC-8D2C-0E067B77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Rust 与 no_std 工程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AE8E46-C1B3-4ED3-B736-0986BF01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熟悉 Rust crate 组织、无标准库环境、交叉编译、QEMU 运行和实验文档整理。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AAC055-7997-4A32-BCBF-57FCEC783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429A0A-DAC2-48A9-A03E-C78787D6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B33FE-DAAB-4EEB-ABD6-31DD8FC2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OS 基础概念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082FA8-D951-49C9-B1B7-CA95D499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围绕内存、任务、文件系统、设备和 syscall 等模块建立基本的分层理解。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01CB22-34BF-46B8-B2E2-6D32348A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127539-C511-4E98-8D18-9F6630DB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0EFD2-BA37-453D-BA45-54DBCE1A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765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过渡到 BigLab-B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9F47EE-009A-4795-9C61-FC835E13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后续工作转向 TGOSKit / StarryOS：从教学小实验进入真实内核 PR 和大型 workload。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B01CFA-207E-48D0-8100-D1F38234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本页只做 BigLab-A 简要承接；BigLab-B 的具体 Task 1 在下一页展开。</a:t>
            </a:r>
          </a:p>
        </p:txBody>
      </p:sp>
    </p:spTree>
    <p:extLst>
      <p:ext uri="{BB962C8B-B14F-4D97-AF65-F5344CB8AC3E}">
        <p14:creationId xmlns:p14="http://schemas.microsoft.com/office/powerpoint/2010/main" val="1093484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DD6E76-90B8-4D9F-AF5A-74C8986E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02AE38-B070-4A19-9CD6-3C991C1A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3D2BC-F90C-4E77-9BBB-0C7FB5D7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BC4C0-77B6-4E11-BC1F-9C775FFB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1：tg-arceos-tutorial 基础练习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54F87-766E-46B4-995D-D17FEFED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Task 1 是基于 rcore-os/tg-arceos-tutorial 的 test 分支，在自己的 fork 中完成 5 个规定的 exercise-* 基础练习。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8325A-4C91-40C9-935F-253C64B28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349EA4-2FF8-42D2-A818-32508B16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3FC0E-9BA1-4F2C-8049-2171A662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仓库与分支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74230-8333-4506-B0D5-6FF59CAC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 上游 tg-arceos-tutorial/test，到自己的仓库继续完成代码和总结文档。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本地对应仓库：github.com/yks23/tg-arceos-tutorial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46226-99A6-400C-89B9-BC3D6D3E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60D7D8-6F42-45CC-BF9A-E20F9ADF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FB7BE-15C3-4994-AB82-A6D8FA28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完成的 5 个 exercise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4371E-1D39-4E37-8524-1DCF0348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exercise-printcolor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exercise-hashmap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exercise-altalloc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exercise-ramfs-rename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exercise-sysmap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3C205A-803E-4953-8CAE-22C5D5B1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2385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8B760D-E682-4BF5-90B8-23D16919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47625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B98B2-A766-4962-BAD9-44F17670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训练到的能力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1987B-24F8-440A-8826-6733018D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81300"/>
            <a:ext cx="27813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从基础输出、集合/哈希表、替代 allocator，到 RAMFS rename、系统符号/地址映射，逐步补齐 ArceOS 小实验能力。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19107E-00EF-4979-B036-4E41B556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767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72E5AD-BC45-4265-B7F8-8773CBFC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720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这一部分不是 Harness，也不是 StarryOS PR；它是 BigLab-B 的基础训练任务。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E50D58-48D6-44D4-9011-CBC39D5E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14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89BCCB-A028-4EF4-90E6-441AF21E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1015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完成后才进入 Task 2：把方法迁移到 TGOSKit / StarryOS 的真实内核改进。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FA536-9A5A-4953-B6AF-33E3AB60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53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AA4E81-2B5B-4FB7-A8C7-0845C496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48300"/>
            <a:ext cx="9582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后面的 Harness、PR、自举编译和多核测速都属于 Task 2 主线。</a:t>
            </a:r>
          </a:p>
        </p:txBody>
      </p:sp>
    </p:spTree>
    <p:extLst>
      <p:ext uri="{BB962C8B-B14F-4D97-AF65-F5344CB8AC3E}">
        <p14:creationId xmlns:p14="http://schemas.microsoft.com/office/powerpoint/2010/main" val="82246904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A41D71-D581-4F1D-A477-A7E78452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9AA6F-3897-463B-B89A-0905B86A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41040-A1FB-432E-9F94-D1F314B3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FC9AFF-0D08-4AA6-BF14-72BA28CA7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2 阶段 1：Harness 初版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0B6CC0-60BB-4C95-A349-A9C4E8A3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进入 Task 2 后，第一阶段尝试让模型生成测试并自动运行，用测试失败来反推 StarryOS 的 bug。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57931B-053F-4E3A-9C5A-0100791C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0F7F1-58C5-4A72-A062-1EAA9FEA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6670A-431E-4AA8-B868-F9313F26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做法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37E99-C45C-47E8-B1A3-5648FA49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FD234-F394-4083-85AE-2A0C5315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73E1F-03E8-4631-9B21-076B7B64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882A6-4880-45F3-B8AE-C450FA7A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经验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203B00-4C94-4849-8E01-CE31A79B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BEC83B-37F1-42D6-B145-69A7DE8A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01BAF8-CBE4-4AE8-B6C2-E5C7D59C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围绕 syscall、busybox 小命令和文件系统行为生成测试用例。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3EBC34-D8B6-4FAF-BCA1-76029F5B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F89A99-05B3-4E4F-AA00-EDFD67E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模型读日志、提出怀疑点、继续补 case 或定位代码。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05D737-5911-49A3-B50D-9D1710C14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C4BD20-0215-423C-AFD6-35B253CA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能快速覆盖很多边界输入，但缺乏 workload 方向性。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FF5CBF-9299-4EA1-8A31-64983CD3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592166-B780-4190-A018-6E970224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OS bug 数量不稳定，容易陷入泛化测试和低价值失败。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10CB53-4045-45E0-B2B9-2CD4DFCEE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结论：纯测试挖掘可以作为补充，但不足以支撑大实验主线；后续改为真实 workload 驱动。</a:t>
            </a:r>
          </a:p>
        </p:txBody>
      </p:sp>
    </p:spTree>
    <p:extLst>
      <p:ext uri="{BB962C8B-B14F-4D97-AF65-F5344CB8AC3E}">
        <p14:creationId xmlns:p14="http://schemas.microsoft.com/office/powerpoint/2010/main" val="7123361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39023C8-E446-46B0-B392-71A001C0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0CBEF-99DA-4EA6-9965-C7D052B0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4D9878-571F-4B4B-96CA-3FE2B63F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8B0882-629F-46B3-A0B8-E138F21D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BigLab-B Task 2 阶段 1：Harness 当前闭环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379009-455D-47FB-9237-EB93A276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Harness 后来从泛化测试挖掘，收敛到和 StarryOS dev 紧密联动：跑真实任务、读输出、修内核、补测例、提 PR。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73C178-A0A2-4DDF-9A05-F481C278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D5CA0-AF7A-4E0E-83D5-09B27FDD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09:00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08A6A1-70D5-40D6-8E76-50A60081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同步 dev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9412A-F4D0-4653-B132-146BF852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DF4B21-7A40-4D79-9B69-6BB09639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CAE392-3040-489B-B313-9A42ED640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9F8B9-30EA-4F6C-A7EF-8161C1B3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编译/运行任务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1AC11-5F91-40F5-B6D8-A0E34157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28F488-87F3-4A23-B1E0-CA9FCC6C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9185C6-7D86-437E-AD28-E430653C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CE67F-B689-4CC8-978A-5D624F2A6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读取输出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10EC4-E839-4BB1-8A41-96819608C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A86E9-72DE-474F-B559-3431928B9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D1D6D4-7B4B-4135-94DD-C7A7B67F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Fix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ACB7CD-B7EE-4689-A069-D992C0AA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修改内核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99DB5A-4D85-41B6-AB15-7B350E78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8765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9230A-3125-4162-8CF2-AC57F273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57450"/>
            <a:ext cx="1428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01A8C2-7751-490F-91CB-93F95475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47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D4F71-DE18-43CA-8AFB-E641F690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908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测例+提交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FB95833-0FEA-4ABC-9170-54BC5D0C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247CBA-4B60-4947-A6E4-063EE3A7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DA249A-8095-4DAB-830D-F873799F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自动同步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D1BF37-E794-474F-98B3-4ED5E56D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每天早上 9:00 拉取最新 dev，专门同步分支，减少上游快速演进带来的冲突成本。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26B926-0FAB-4EEB-AB36-CAA2E319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66ED90-C7BC-4771-AF9F-2C8CCD24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2630A5-3B0C-4598-8B66-BBE8B204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自动修复闭环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920072-4D95-4388-BA4D-138192AE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在 StarryOS 上跑具体任务；一旦发现相关 bug，整理 root cause 与 Test Suite，随 OS 改动提 PR 到 dev。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804FEB-EBE7-44B9-8919-F247C3CC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30480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CB02DA-9A71-4A44-996A-58AEBD01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00500"/>
            <a:ext cx="476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3EFAFB-6B30-4E12-9A4B-803D5501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PR 守护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654CAB4-B8FC-4BDF-A1BF-C1390406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29150"/>
            <a:ext cx="25908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定时检查 PR CI 状态；未通过则继续收集失败、修复、推送，直到达到可合并状态。</a:t>
            </a:r>
          </a:p>
        </p:txBody>
      </p:sp>
    </p:spTree>
    <p:extLst>
      <p:ext uri="{BB962C8B-B14F-4D97-AF65-F5344CB8AC3E}">
        <p14:creationId xmlns:p14="http://schemas.microsoft.com/office/powerpoint/2010/main" val="5843318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4F1C93-4533-4141-ABA3-0BB4B35A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3E557-1123-4D6C-9ACF-0DF30500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DFE97-72BA-4AC1-BD54-74CD2A2E4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D58337-1C9B-4A66-869E-9FA93CF2B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Task 2 PR：12 个已合入 OS 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01C9C-E022-445E-BC31-73F7895B7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 PR 不按“改了多少文件”讲，而按 OS 行为边界拆分：进程线程、文件系统、网络 ABI、SMP 同步和调度前进性。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4A7830-B2CB-450A-9D38-B9B89B13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62F80-0652-49D3-BB7A-99C32A70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14D0CC-9740-4E2A-BB45-ECA729EC6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 / 线程 / futex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D8F62-D297-4D25-A54C-1987B3AA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robust futex cleanup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#693 vfork parent blocking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#878 teardown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A7AD47-0E71-463A-BE39-6FF0A5340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1220B-627F-4D7A-A867-D4E5C47D3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A338F-FCD1-487E-8B9E-D2A501A7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文件系统 / 设备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D3A5E8-03A6-47C5-987F-2C36E9463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#800 device full transfer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169C11-E7F3-428A-8B4D-52DE00BEF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461DD-8353-4D66-9408-7589AB13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24E7F5-02A8-440E-8E69-5B5429D8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 / 同步 / 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C43151-B6C2-43B7-ABEB-5D05F4C4C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#879 raw mutex handoff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#885 syscall entry snapshot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#926 SMP wakeup progress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5DF00-57C7-43B7-BC7D-41A633AD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E68136-72A0-4F5F-8EE2-5BA636E9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E5EC8D-07C8-4DC7-8372-8CB4E170F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网络 ABI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6D729D-B218-419F-BCE5-E1932AC0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#694 IPv4-mapped IPv6 socket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保持 IPv6 用户态语义，内部复用 IPv4 backend。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BEB931-C902-4071-B737-6075824F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BDCFA6-0ADC-4282-A690-9F598E4C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A5F278-8C9F-436B-B78E-A511DD49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BF977F-33B1-4390-8A68-1715ABA5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 PR 均包含问题根因、修复范围、测试用例和 CI 或本地复现证据。</a:t>
            </a:r>
          </a:p>
        </p:txBody>
      </p:sp>
    </p:spTree>
    <p:extLst>
      <p:ext uri="{BB962C8B-B14F-4D97-AF65-F5344CB8AC3E}">
        <p14:creationId xmlns:p14="http://schemas.microsoft.com/office/powerpoint/2010/main" val="1246958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32C341-D8A1-4AB0-91C4-6D59BBB6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27CAF-6B80-48AE-8B95-BAE69EE0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E2BFF7-9A6B-4FF1-A59B-1AE4C1E0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C54BD7-007E-418C-AEF5-E3B378A78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1：进程创建、vfork 与 posix_spawn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D4EE35-02AD-4946-9B93-AA7516F5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很多用户态程序不是直接“运行一个命令”，而是通过 fork/vfork/clone 创建子进程，再 exec 成目标程序。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BBDCA2-F350-4FD4-9CD6-B33F3D7E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78F10-78B0-4986-AB92-0A5EF23D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D0556-38CE-4A9B-A2FF-3CC7B1435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 / clone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0AFCD-C056-46C0-95D3-68B045AF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 会复制进程语义，clone 是 Linux 更底层的创建接口；线程、进程、vfork 都可以看成不同 flag 组合。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188F4-D977-406B-89AD-CF0258F6B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8E15A-1C56-4AA7-A5B5-C37A9014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32741-58F1-4B27-B082-6D1E85F5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vfork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3B84A-19CF-492B-BC10-4127850E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vfork 是一种更强同步语义：子进程 exec 或 exit 前，父进程应等待。因为这段时间父子可能共享地址空间，父进程过早运行会破坏状态。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CAD155-AB22-4944-869C-D544E177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31908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375157-49DA-4A11-939A-CC12A3D2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4762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D5898-B7E3-4C72-BD44-D79233D4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posix_spawn / shell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123A6-A9B7-4CB7-A249-78BC118E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19400"/>
            <a:ext cx="2733675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shell、busybox、cargo 调 rustc 等路径会频繁创建子进程。posix_spawn 常用 vfork 风格实现，要求父子同步可靠。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CC1C68-8FC8-46E0-9F82-136A2D71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29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DCA712-2617-4B30-BAC1-0D8621DB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244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老师问“为什么这个重要”：因为它是用户态启动其他程序的基础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98A77F-09E9-4C2E-96BB-F8EC62F4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244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8E897B-97D5-4B13-8A59-DB5010F3C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197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StarryOS 自举编译里，cargo 会反复 spawn rustc/build.rs；这条路径不稳，大型 workload 就无法稳定推进。</a:t>
            </a:r>
          </a:p>
        </p:txBody>
      </p:sp>
    </p:spTree>
    <p:extLst>
      <p:ext uri="{BB962C8B-B14F-4D97-AF65-F5344CB8AC3E}">
        <p14:creationId xmlns:p14="http://schemas.microsoft.com/office/powerpoint/2010/main" val="384169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96ABEF-A8DF-4226-8ABF-FF8C5E7F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5FFB3-9912-45C7-B001-FF8706C4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562C4-7BC0-47EB-BFF3-3AAF6C52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9A267-F29F-430D-9164-64C03410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1：vfork / clone 语义修复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08EA9-D950-4627-BF22-DAC86EFE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修的是父进程等待条件，保证 vfork 类子进程在 exec/exit 前不会让父进程提前继续。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3D6679-7457-4ABD-9036-C0400C7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5161A-F358-4764-BFBC-DFEFC20D6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8F05BD-6E35-4470-9D51-444684C7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BC10FE-2D90-4EFF-8795-30B124041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4F6B3-FA1B-4CD6-8C08-397E84E4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0D1C0E-DEF0-4889-B30E-0312A1AF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8F707F-A146-469C-834F-C43BAD00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EAAA25-6187-4808-B568-915C836C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A33532-C0BA-45A9-988D-6505AA2C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4A5CD9-BA80-4F1D-9A3B-331E8614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旧实现把等待条件错误收窄，部分 CLONE_VFORK 场景没有等待。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6E96A4-C574-4543-BD6B-E79AF134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7DA9CC-E1CF-4531-B7D7-F071FCEF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父进程提前返回会破坏 shell、busybox、cargo 依赖的同步顺序。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86EFE1-F348-4A30-A103-CB699117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5552F-E5A8-4E75-A1CD-C7B436EF8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 CLONE_VFORK 等待条件，保证父进程等待 vfork_done。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2675E2-9690-4B43-AB0F-82D34153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6DDBB-E26E-470C-9DC2-73893641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测例：test-vfork。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FF055D-0F84-4D69-A99A-86637A91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094B66-BB0F-49F6-871E-00A11AE4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影响范围：BusyBox / shell / cargo 子进程创建路径。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A98B5C-202A-4A70-BD33-93F8FDE3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成果：修复进程创建 ABI 语义，使 BusyBox、shell 和 cargo 子进程创建路径具备更稳定的行为基础。</a:t>
            </a:r>
          </a:p>
        </p:txBody>
      </p:sp>
    </p:spTree>
    <p:extLst>
      <p:ext uri="{BB962C8B-B14F-4D97-AF65-F5344CB8AC3E}">
        <p14:creationId xmlns:p14="http://schemas.microsoft.com/office/powerpoint/2010/main" val="18299260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3E9FDA-6A4A-4882-A892-F2CC391D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F30D8C-4C84-40E5-9E4B-AEB044ED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B191BD-F6AE-471D-9241-1A7ADCA5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0D88AE-6F3C-417A-BCAB-9B693919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2：futex、robust list 与线程退出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0B2BB8-1ADB-4978-8701-35C28958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futex 是 Linux 用户态同步的核心：平时锁在用户态完成，只有等待/唤醒时才进入内核。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FADAA-6980-4A26-B09C-18C8ABAB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A77D3-5318-4762-BD2A-653800F51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87EA2-813D-4D77-B15C-E253D06A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futex 是什么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2A731D-F6E1-4043-970A-AB8F8496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用户态锁先用原子指令竞争；竞争失败时用 futex syscall 让线程睡眠，释放锁时再由内核唤醒等待者。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22D620-D6AD-4379-9A22-02AF5E45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8F8FBD-B71F-42D9-9DA7-BDDDDCDB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4A6454-DB55-415F-B13F-AA8B587D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robust list 是什么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63C109-27DA-4430-B38A-7DB08876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线程持有锁时退出，用户态可能来不及释放锁。Linux 让线程登记 robust list，内核在线程退出时扫描并修复遗留锁状态。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CE00D-25E0-4AE2-AEDC-5A3C8135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7E280A-190B-4390-8561-7B6FD165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D983D4-5696-4655-9DD4-4BF899B70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为什么容易出错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6E157-BD49-4ED6-985F-B23A2C6C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95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robust list 指针来自用户态，本来就可能是坏地址；退出路径还常在复杂上下文里，不能因为清理失败再引入 panic。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23F94D-FEC7-45B8-9E3A-0A00DE81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672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F50763-2BC4-4998-9D7A-C7C25D92D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625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老师问“OS 知识点”：这是用户态 pthread/mutex 与内核等待队列之间的 ABI。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FD06DB-8F06-49AF-AED1-F57CA8CA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625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A939C-263E-4AC8-8DC7-76F45629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5780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真实 workload 里 build tool、runtime、pthread 都可能走这条路径；退出清理必须容错。</a:t>
            </a:r>
          </a:p>
        </p:txBody>
      </p:sp>
    </p:spTree>
    <p:extLst>
      <p:ext uri="{BB962C8B-B14F-4D97-AF65-F5344CB8AC3E}">
        <p14:creationId xmlns:p14="http://schemas.microsoft.com/office/powerpoint/2010/main" val="15854887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108C5-FE6A-4BD0-B34D-2C4F92EF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82E8A-0B92-4324-B570-902198087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345654-AE8F-4B1E-8529-F9723908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1CCCB-71F2-46D6-A3D6-664FDF40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2：futex 与线程退出清理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BF77B-D847-4C9F-BDFF-2E3F8444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这个 PR 的重点是让线程退出路径能够安全处理坏 robust-list entry 和 pending futex。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C60FC7-CDAD-4D03-8923-01AF6909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BD9950-CF41-4CEB-B111-3B14DC53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894F8-8A45-425C-8E48-E5ABE159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A7D5B2-FC91-43EF-BD8A-F01B7DCC1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67D8A8-EACB-45A7-AEF2-400BF726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1AB506-66AB-41AA-83FB-E4D49DAF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9F124-E7E6-42DE-8F9A-78201FF2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C60EC-8283-42C9-8149-2F19F42F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7CEB7-13FD-4EA7-A23B-FC6B8B37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68518D-C667-4297-8434-CD497ED6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用户态可以传坏 robust-list 指针，内核不能因此拖垮退出路径。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F4E9D9-9532-4232-8BC5-8C2AA7BE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3C299-BFCB-43D9-9F26-76F80218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pending futex 与普通 entry 混在一起，会让 pthread 退出/回收变得脆弱。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423A9A-8A90-4CF1-A198-D68FD869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4700A7-7B20-4371-B7BB-DE0E372C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坏 entry 容错清理，pending 单独处理。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9B0CA-6586-4D8E-AD0B-478609AA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A51D57-DFE1-439A-984E-5CE23808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测例：test-futex-robust-list。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EFC2CD-0A9E-466D-AE80-5C2BEACAC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731A2A-E830-415B-A2A1-4F9BA605D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关联：teardown/context usercopy 修复退出路径。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2AED4-8EDB-4745-948E-B83E8EFD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成果：退出清理路径可以安全处理用户态异常输入，避免单个坏 robust-list 破坏进程回收流程。</a:t>
            </a:r>
          </a:p>
        </p:txBody>
      </p:sp>
    </p:spTree>
    <p:extLst>
      <p:ext uri="{BB962C8B-B14F-4D97-AF65-F5344CB8AC3E}">
        <p14:creationId xmlns:p14="http://schemas.microsoft.com/office/powerpoint/2010/main" val="10159641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975D7-81D4-4E08-9734-C96CB1DC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EF9B4-DBB3-42DF-9F83-43B55E60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F47E07-633B-4C07-A019-6339F6A0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27E6B6-56C5-44A1-885F-FA4B18FA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背景 3：VFS、tmpfs、ext4 与真实应用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A62FC9-444C-4CEF-B736-AC27599F1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Linux 应用看到的是统一的文件系统接口，但内核底下可能是内存文件系统、ext4、设备节点或 proc/sysfs。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66405-D5FB-49AA-A077-C00E1AF0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1CCE42-DB69-4D47-9E36-2F97DEE3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56674B-AB95-498B-8518-6D3240A9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VFS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E6326-32C4-4C9A-AE3E-F886269F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是统一抽象：open/read/write/rename/unlink/getdents 等 syscall 不直接绑定某一种磁盘格式。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24FF9-FBC4-46A9-80F2-0265BDD4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954CBC-5079-4E32-A951-9F18966F0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C199E-CDC5-4B13-A376-A8BCD7AC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tmpfs / ext4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307291-48B3-4C2E-82D0-8902BCDD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主要在内存里维护目录项和文件对象；ext4 需要管理 inode、bitmap、block group 等磁盘元数据。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79E3C4-7FFD-4ED2-A772-61D05D4D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31908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67B64-75FB-48BE-A2FD-D220D1917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52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AF74D-F64D-4297-9FCB-92119B9D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622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压力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E7CF01-08B7-4593-B484-8340DBF2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81300"/>
            <a:ext cx="27336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cargo 编译会制造大量小文件、临时文件、rename、unlink、目录扫描和设备/pipe I/O，是检验 VFS 语义的真实压力源。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F01B60-AF7B-4D68-98A0-3F145D21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48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B575D9-8A2C-4E7D-8875-89FD731F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434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老师问“为什么 FS 会影响编译”：因为 target 目录几乎全是 metadata 和小文件操作。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933CEA-641E-42E2-B2D8-8576FEA3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43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B1EB9A-040F-470C-A5AC-73C5024EC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38750"/>
            <a:ext cx="9296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这类 bug 往往不是单个命令失败，而是大量组合操作后出现目录项、inode 或短读写语义偏差。</a:t>
            </a:r>
          </a:p>
        </p:txBody>
      </p:sp>
    </p:spTree>
    <p:extLst>
      <p:ext uri="{BB962C8B-B14F-4D97-AF65-F5344CB8AC3E}">
        <p14:creationId xmlns:p14="http://schemas.microsoft.com/office/powerpoint/2010/main" val="160003672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55E774-249F-46E5-9505-38470C56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3A242-9ACB-45ED-9A80-1978B41AA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7457BA-96B1-482C-A758-CAD63763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F1583C-0E96-45CE-9CCE-47C9D118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3：文件系统与 VFS 正确性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4B255-4032-4D2E-A7BD-3AAB873C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这一组 PR 面向真实应用的文件系统访问模式，补齐 inode 分配、rename/exec 和设备传输语义。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9CBDFD-BC67-44F7-89AB-3B0A57CA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83D35-B7C0-4E29-9007-68AC6AFF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C688D2-EDA5-4354-8BFA-FF533006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D8020-FEED-47E7-8161-43C99C3D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ext4 block group 可标记 inode bitmap 未初始化；allocator 需要识别并初始化，再继续分配 inode。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53FFC-5865-4119-9314-712F1773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254E25-5EEF-46B3-9761-2FB8A804A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C6D2A-B668-4466-BCA1-2C28B895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1085D5-1180-4886-B93D-207A49016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tmpfs 的目录项和可执行文件生命周期要一致；rename/unlink 不能让后续 exec/open 看到错乱状态。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A17ACC-CE47-45F8-AE64-8CE905DDE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D12AF-ECAB-4E38-9DD1-22433F28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98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90B8C-2480-4AF0-9273-72BB413B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#800 device 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7685FC-4F42-4B8C-B118-3D7E3FF5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6860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VFS 设备节点读写要遵守完整 transfer 语义，否则 busybox、构建脚本等用户态工具会拿到短读写。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514B7E-1741-48B7-B37E-3D0150A1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成果：文件系统层面对真实应用的目录项、inode 和设备 I/O 行为更加接近 Linux 预期。</a:t>
            </a:r>
          </a:p>
        </p:txBody>
      </p:sp>
    </p:spTree>
    <p:extLst>
      <p:ext uri="{BB962C8B-B14F-4D97-AF65-F5344CB8AC3E}">
        <p14:creationId xmlns:p14="http://schemas.microsoft.com/office/powerpoint/2010/main" val="469060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B1E431-C20C-41B8-B003-697714F3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967F5-D12B-4F87-9A44-F573B29C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BF8A00-3725-4669-A4A3-0C4D92C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0EF7E-932B-4838-BACF-15D114BA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4：StarryOS guest 内自举编译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49CFF-3F94-4719-8767-DBDF991E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实验目标是在 StarryOS userland 中运行 cargo build，完成 StarryOS 自身构建并输出 PASS marker。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753826-B87D-40A9-B937-A475435E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F0940-157F-4A41-A61D-E3324D3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启动内核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B26EF-719C-4BE3-A867-6EB537CB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27E37-7226-458C-83AD-540D66CF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4F6BE1-93C7-4354-B519-7862C29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挂载 rootfs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F5E21-1747-429E-B94A-5CBCB68B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DED8A8-3A7F-4999-B198-731B03A8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4802F-A00D-4C9A-8F2B-11243385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运行 cargo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129436-21D8-4C9F-91E4-919AE6D9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953AD9-777F-4CDA-97AB-6F202187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ED6CBF-2F33-411D-AA80-D74FB670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定位 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DA284B-485B-4C1A-9FF0-20DC1BC3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AB500-0664-432F-A904-EA23CD97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8B0BD6-7D79-4864-976B-B167D303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6B568-52FB-44B0-BAF9-A874200E8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32A48-DC91-4FE7-B27F-56E9A1AF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005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宿主对齐参考：同 StarryOS kernel 配置、同 target/profile，host cargo j1=85s，j8=29s。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AE011-572B-4B61-BB0E-DB744A3D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62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1EFDC9-84E7-4DF4-B1C8-9B0C8663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577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最优：AArch64/HVF 8 核 StarryOS guest，完整 self-build 331s。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E299D-3D80-4810-89E4-B3AA7F8A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9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265A17-1D55-4FE6-8821-AF537503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判据：进入 userland、找到 rootfs 内 StarryOS ELF、打印 PASS、无 panic/trap/FATAL/error。</a:t>
            </a:r>
          </a:p>
        </p:txBody>
      </p:sp>
    </p:spTree>
    <p:extLst>
      <p:ext uri="{BB962C8B-B14F-4D97-AF65-F5344CB8AC3E}">
        <p14:creationId xmlns:p14="http://schemas.microsoft.com/office/powerpoint/2010/main" val="93932590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ACD6D4-406E-4EBC-A4E7-727C1940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7D63CD-31AD-4669-92E1-83A89EC9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980244-DDB9-419C-B9AE-B1EA50BD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CF6D8-F864-4B53-B182-44C74D99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多核编译性能结果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94C8A8-E1CC-4A4C-B305-F4F2A96F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通过脚本和构建参数调节，guest 完整 self-build 从 951s 降到 331s，约 3 倍，已稳定进入 400s 内。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C2ED20-D6C6-40CE-8ED6-D83B80BB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7ED4D1-62EB-4401-88F9-9A067D48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A1639-277B-4C44-9C9C-AEE687CB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951s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F9B25-0E42-47E7-889E-C73CA81A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最慢 guest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6141D-CAD5-47B2-ADDB-E1E05D05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67E3A3-E3B7-46D0-B0C6-CB3D30913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02B7F-A935-4F68-9C69-E6F1FF53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642s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73FF8F-DE26-49C9-ABDE-C7A936E40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默认 8 核 guest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CFB5CE-6B24-464B-86E8-C48408D93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574CEE-0C0D-4682-BD86-437448845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32026-614A-4B1C-9FDF-D7663895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A40EF-7314-41FC-A6E5-10D4D899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当前最快 guest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AB4121-B85F-4C68-AAD7-58B4BF92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9134A-2EAD-4988-B88C-2A675476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8D1ECA-D461-4572-8237-C32698D4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29s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30B1C4-804E-4D4D-B1E9-AE1C1FBD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C5B11B-1BBB-4B92-A450-5BBEF69F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F19C4A-DE6E-4C52-9DAB-5ACB511F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05977-B46B-40D3-B078-0CF93071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28900"/>
            <a:ext cx="1181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85s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A1B98A-6DF4-46B5-ACED-8D273B5F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95625"/>
            <a:ext cx="1181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EA3221-DBC3-408B-A056-E97E3E1FF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77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2E0D33-A815-4F60-88A4-A029C41F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端到端真正收益：951s / 331s = 2.87x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C474AD-9886-4464-BB48-37ECF6B1D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guest 编译并行：422s / 341s = 1.24x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35624B-A02F-44E5-8F22-EA5FF165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host 对齐参考：85s / 29s = 2.93x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A60543-BE4E-4C42-9B2D-71ABDF84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910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链接/串行尾段：642s / 427s = 1.50x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4F7DBB-3A5A-47D6-810B-F8F5600F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注：host 与 guest 编译同一 AArch64/SMP8 StarryOS kernel；host 不进入 guest，链接项不是独立 link-only benchmark。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B9B07B5-1097-4D9A-8C00-1F01AB4B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结论：完整 guest self-build 已完成；并行收益受 Cargo critical path、guest OS/FS/SMP 和串行尾段共同限制。</a:t>
            </a:r>
          </a:p>
        </p:txBody>
      </p:sp>
    </p:spTree>
    <p:extLst>
      <p:ext uri="{BB962C8B-B14F-4D97-AF65-F5344CB8AC3E}">
        <p14:creationId xmlns:p14="http://schemas.microsoft.com/office/powerpoint/2010/main" val="216193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03D5D-098F-4037-93E5-D9959C18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D2DB7-93FA-4B73-8B67-C719E868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B840D-E232-4F4A-B71D-554102DB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D9ABD-9BD4-484D-A958-18E59DFE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性能模型与测试细项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EBD0A-8BF5-403B-82F3-9E9CE291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每个瓶颈都用接近 Cargo 行为的微基准拆开验证，而不是只给粗略归因。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90DE8D-CE1D-4184-BE86-0FF5FF66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0363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T_build(N) = T_std/cache + T_serial + T_parallel/N + T_fs(N) + T_smp(N) + T_wait(N)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AE1A4-F5BE-485B-AA72-83E91834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9F8D35-C64A-4170-B9F0-99EF73C1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77B9A-96E6-43B7-BB71-115DF8C2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EBB449-78B3-4EEB-A21D-967C139F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 1000 次：20/11/5/3s，8 路 6.67x。模拟 cargo 反复 spawn rustc。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FEE052-D250-4442-B01D-57959365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5CC73F-BCF1-46E7-BBE7-D1A98505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CD7D4A-722C-4B4E-A29D-CACEDB6B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短任务 wave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59F1BF-A0A4-44C8-84FC-C609A615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24 个 build-script：27/22/27/32/32s。2 路最快，过并行会被 OS/FS/SMP 成本吃掉。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D781F-C125-43D5-86C1-FA08F118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D67D3E-3535-4992-B69E-A158B6F4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621D9C-B22A-4246-A4EB-DD670F83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FS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FCCC7-97AD-42DF-9204-D603DA60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rsext4 fileio jobs=8：47.5s→14.5s。模拟 target 小文件 create/write/rename/unlink。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B169EF-E2E6-4038-8745-07CF87D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9E1FB4-AF7D-4BF2-BEF8-4745ADA3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6E2A2-CC7E-4400-B70A-A3066989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宿主/QEMU参考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8D5903-2A65-4175-B882-404D3057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同构建任务 85/29=2.93x；guest jobs-only 422/341=1.24x。raw CPU MTTCG 3.17x 不作 RISC-V correctness。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980453-4599-4D3F-B0CC-A394938D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timestamp：artifact tail 约 2s，starry-kernel 后段约 17-20s；331s 版本主瓶颈不是纯链接。</a:t>
            </a:r>
          </a:p>
        </p:txBody>
      </p:sp>
    </p:spTree>
    <p:extLst>
      <p:ext uri="{BB962C8B-B14F-4D97-AF65-F5344CB8AC3E}">
        <p14:creationId xmlns:p14="http://schemas.microsoft.com/office/powerpoint/2010/main" val="46629999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89D37A-FD8A-46D2-8882-57BB7ACD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EB5DA8-EC4D-4A5F-9D73-01597832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BA36A-9167-4AFE-9BAB-EA486F3D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27FE8-34AF-47D3-94E6-6933130D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SMP8 CPU 利用率与阶段分析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036D27-059C-490E-B5FA-CA51161E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诊断 run 使用 GUEST_CPU_MONITOR=1 和 cargo JSON timing，耗时 457s；监控有开销，但能解释 8 核为什么没有线性加速。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7DBD7-8313-4E47-8442-5A4658EB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14550"/>
            <a:ext cx="723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2B236-DF06-42AC-8555-9F30A51E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1719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8E6E43-EEFB-4513-9244-8E9C5737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767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63E93E-002E-478B-ADD4-98C7B61C2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4332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01AC9A-C86E-4724-A551-FDE29665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4807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25%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974D7-3F28-4B2A-B7A5-26416D562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E4409-2804-4F6A-9DB3-B5CC5D79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194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50%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215D7-0647-4667-A411-2C4497FE7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86075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0BB1D-0153-4BFD-B2D4-5B6EB146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90825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75%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B65F2C-12C8-485A-9B58-D80E1D65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57450"/>
            <a:ext cx="6305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D502A8-61DA-4BB0-AC11-001663DB1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6220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A4EB03-DEAB-49BE-B7A4-05D4FE51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23235"/>
            <a:ext cx="876300" cy="1148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671D1-64C2-4996-8E2E-7C8E24F0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775585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67%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30BCDF-BF26-4625-8AB1-A19E82A2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0-90s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0C9A20-4BF3-4B54-B81A-889E9347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build-std/proc-macro 启动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89815F-F2DF-41A6-90EF-A96455606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80410"/>
            <a:ext cx="876300" cy="8915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85DAEB-9CA2-4E58-B36E-58D537A70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3276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52%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8C0226-FDD8-47BD-BA5B-7C5B8193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90-180s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A5CC7-275E-4EE3-BEDC-065D9CA3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core/compiler_builtins 长链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E0A650-0DD0-4079-B0FE-697619BB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971800"/>
            <a:ext cx="876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F26BA9-3420-4488-8681-72915E97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70%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C2804C-9E09-4FE4-8CAC-D32EFF88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180-270s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F77BDB-9B89-4909-B129-81E0EC29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crate 图中段并行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6C908F-ADDB-41EA-8B99-B39C704E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246120"/>
            <a:ext cx="876300" cy="9258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2AF4B41-C633-4B0C-819C-A7E66E62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99847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54%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BCBEAC-0DD7-4A37-8C5B-067C9946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270-360s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24350C-8410-401B-9B88-5A4609EC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FS/等待/短任务波动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35584F-4D6A-4FAC-8F5B-B76FF5EA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94760"/>
            <a:ext cx="876300" cy="3771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295FFE-CD4B-42FC-8165-62E39678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47110"/>
            <a:ext cx="8763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22%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450AA7-1E41-40D3-BEEC-6248C249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67200"/>
            <a:ext cx="10668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360-457s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DDB42B-A318-44E0-BA6E-8083D8F1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starry-kernel / final tail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2A8642-656A-417D-98A2-E92013819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9DBEFB-9285-4A42-A838-47EDCF963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AE483CB-DE02-46B4-B3E2-3591956F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怎么看这张图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910A4E-992B-4BA9-821F-5CE16224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432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前中段能吃到并行，但并不是 8 核常满；后段掉到低利用率，说明瓶颈转成 Cargo critical path、单个大 crate codegen、文件系统 metadata 与 wait/wakeup。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958F88C-3956-43AA-B5D6-A0A88792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2571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120B12-4EEC-45B7-BE45-E1A7EFBB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52850"/>
            <a:ext cx="476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C090FDA-DD9B-4B02-A553-BBA3A332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96240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监控暴露的问题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FC114CC-7282-4A0F-AC7B-324553A0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381500"/>
            <a:ext cx="2114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旧 /proc/stat aggregate 曾出现非单调，说明 CPU 计数本身也需要内核修复；因此这里同时结合 cargo JSON timing 与微基准解释。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C6961CC-1B97-40A2-A06F-0C8BA687E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结论：8 核是有效的，但完整 cargo 的可并行段、OS 开销和串行尾段不均衡；下一步应优化 T_wait、T_fs、T_smp。</a:t>
            </a:r>
          </a:p>
        </p:txBody>
      </p:sp>
    </p:spTree>
    <p:extLst>
      <p:ext uri="{BB962C8B-B14F-4D97-AF65-F5344CB8AC3E}">
        <p14:creationId xmlns:p14="http://schemas.microsoft.com/office/powerpoint/2010/main" val="111258142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5FF48A-B8A0-4856-B6C0-9A76EE8A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3ACA0B-07DB-46C6-A385-838730F6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6BF88-A3AF-434E-B5C8-4E6FCDC2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70672-C832-4964-8B78-7B8ED31D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对齐对比：为什么 host 能 2.93x，guest 只有 1.24x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545D2B-DCCC-493F-A552-AC47CA42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这页把同一 StarryOS kernel 构建任务的 host 参考和 guest jobs-only 放在一起，说明差距来自哪里。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112486-F827-4DE1-B01A-B833424F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D13C5-3D07-41E5-8CC8-6CECE3F4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358384-304F-4CF5-BFDA-CC3DFA05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85s -&gt; 29s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8D8DED-7E9C-4854-ABB4-B7D7C1D7B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对齐参考，2.93x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BCDB79-DBCA-4279-BD2C-74C5FAB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6DAAA2-2557-44F6-8B75-5C5D772A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EC385-2E85-4EF2-A0D8-F3659A40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422s -&gt; 341s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C84E02-6367-41BC-9116-28F13A4E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jobs-only，1.24x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FCB312-1256-41CC-89FE-F67581F5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1EC4C3-E616-43A9-B2BE-8747F99A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66950"/>
            <a:ext cx="285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4481B8-F421-4C58-BDEF-C546BAA9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146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AA2C1A-E8EC-41AF-BDCC-6A38C48C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81325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端到端调优，2.87x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457E1-6BE4-4B09-830D-6B497A1C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76E4E9-BC94-4DC8-86BD-6614C997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B0D3E0-19DD-4A05-81C9-81AD84DA8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参考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AE0F4B-9ED7-430B-A7B4-88618E70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同源码、同 AArch64/SMP8 kernel config、同 release profile；cargo/rustc 跑在宿主机。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562066-1150-4EFE-959D-CCBBA81C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53A4C0-4E15-4EB4-8B9A-741725DF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B07BCE-284C-4549-AB8F-40AD1742C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真实承载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6B1B2B-ECA7-47F2-9F04-A41B5F10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 profile 只改 jobs，但要承担 syscall、VFS、scheduler、pipe/wait 和虚拟化边界。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83C728-6E42-454F-843C-8E6793A6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DCAD03-3F13-4BB5-B628-1BB58E897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4762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A50EFDD-256D-4472-B5C7-C079DE435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305300"/>
            <a:ext cx="2400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974B87-2DBF-447D-85F9-1EEB8D7F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724400"/>
            <a:ext cx="2400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并行空间存在；full cargo 的剩余差距来自 OS 短任务成本和串行尾段叠加。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C67822-59F9-49A7-80B4-5C7095CFB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现场讲法：host 是可并行上界；guest 是 OS 真实承载能力；两者差距就是本实验定位和修复的对象。</a:t>
            </a:r>
          </a:p>
        </p:txBody>
      </p:sp>
    </p:spTree>
    <p:extLst>
      <p:ext uri="{BB962C8B-B14F-4D97-AF65-F5344CB8AC3E}">
        <p14:creationId xmlns:p14="http://schemas.microsoft.com/office/powerpoint/2010/main" val="43123998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E2FA24-CDFB-4CD2-9CAD-DFD72E45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BFB8C0-7F9B-4678-9734-5ACE37E0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3CC40-17BF-4DE9-B7BB-BF89D535A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CB44AB-979F-401A-8557-180EE63B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成因拆解：Cargo、OS、QEMU 分别承担什么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352E6-01AD-496F-9E2C-A1E2EBB2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最后把瓶颈按归属拆清楚，避免把所有慢都归因给 QEMU 或 Cargo。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51330-B802-4F33-B091-10BEFA32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观测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2BFA79-5ABD-4585-A5C5-DA7EBE65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52650"/>
            <a:ext cx="114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归因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358E4C-FAA0-4B10-82F7-643C0978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已经做了什么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A11218-99E7-43BA-BC37-4BE890D0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8C7B5C-5F85-4374-9AA9-B4AD1738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F7A96C-8988-4EF8-962C-0AAE8F3A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2.93x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但 guest jobs-only 1.24x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471B37-4BF4-46F4-B23D-74940FEA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564CB-41C0-4D6C-B94C-CA6537A5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图有并行空间；差距主要出在 guest 运行成本。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24E5B7-FE45-4813-B752-9739BFC7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8194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81C11-192A-4D81-8F4A-ACCEE47B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908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 host/guest profile，拆分 syscall、VFS、scheduler、QEMU 边界。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B141D-C403-469E-B2CB-149895E3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D36288-AA3F-4220-9146-3269B528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0745DB-F3E0-47B8-8D41-1F3A4D22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909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fork/exec/wait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8 路 6.67x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71D3F-77B2-424C-A285-789BE639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CA4E20-65EF-4B59-B678-FF19ABEE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3337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进程创建和等待这条 OS 热路径本身可以扩展。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65E1BC-2EFB-4852-9F8F-3015F224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8B0361-233E-4C53-9238-7049A9B0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337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#842 CPU topology、#926 wakeup progress、#879 RawMutex handoff。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F1AB3E-D53D-4A65-BD96-E6A4512B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D22D49-293C-4CD1-8481-333D4F39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3C4B8C-FB3C-4FF0-806D-C3A8177A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build-script wave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 路最快，8 路变慢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E0E7CD-07FB-4FD6-8720-1BC239D4C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5C25E8-6EE6-4C58-80A9-A188E422A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07670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短任务过并行后，被 pipe/wait、文件 metadata 和锁竞争反吃。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1884EC-121A-4E8F-9696-608B99BE2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0530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77CA0AA-8DEE-4E5C-A596-9CAC1B1D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7670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用短基准定位 T_wait(N)、T_fs(N)、T_smp(N)，避免只等完整 build。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A40B97-EC50-4294-BD32-9838AA98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95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EEC43E-2BBE-4EFF-A2BB-E1276B4E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57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01910FA-7EDD-49D1-A22F-7826CEF2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76800"/>
            <a:ext cx="1619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tail</a:t>
            </a:r>
          </a:p>
          <a:p xmlns:a="http://schemas.openxmlformats.org/drawingml/2006/main">
            <a:pPr algn="l">
              <a:def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约 2s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339EBF-F03E-4E5A-BF62-1E31AC4B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A1C2EE-3C4B-4E78-ABA1-FCC957DD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819650"/>
            <a:ext cx="3086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331s 版本主瓶颈不是纯链接器，而是 build graph 和 codegen 尾段。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C28329-EFEF-4B0C-99E4-7A9929F1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48250"/>
            <a:ext cx="304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CA3B70-A5E5-4778-BB00-B72BF2FE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819650"/>
            <a:ext cx="3810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关闭 LTO、opt0、cgu256，串行尾段 642s -&gt; 427s。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1430F0-D288-4A7C-9561-AE7688F3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53100"/>
            <a:ext cx="10248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E574C7-EA2B-44B5-B2A8-64A50384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86450"/>
            <a:ext cx="967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结论：self-build 已跑通；多核不是无效，剩余瓶颈已拆成 Cargo critical path、OS 短任务成本和虚拟化边界三类。</a:t>
            </a:r>
          </a:p>
        </p:txBody>
      </p:sp>
    </p:spTree>
    <p:extLst>
      <p:ext uri="{BB962C8B-B14F-4D97-AF65-F5344CB8AC3E}">
        <p14:creationId xmlns:p14="http://schemas.microsoft.com/office/powerpoint/2010/main" val="18605689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6E0DAE-2573-4C2D-8A26-265F30EA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7ACEA9-AB09-481A-8ADE-A22C5D74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00667-9180-4EAE-B865-A8F1DAB9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D46E47-ED9D-49EE-BAF9-E5541856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课程思考：AI 时代的 OS 实验设计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8723C-2B0D-4347-B222-EC516588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这次 BigLab-B 的经验是：AI 降低了工程实现门槛，但更凸显任务拆解、信息供给和系统理解的重要性。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F8392-078A-400D-A879-1F0A7652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33337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372025-1FF6-4A59-B38D-B4F53B00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45C483-BE70-46DF-9B50-CD08D267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2876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1. Agent 与任务拆解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1CD72E-FB75-4CAC-A181-B69A84A4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28765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Agent 已经能处理很长的工程上下文；真正决定效率的是学生能否把目标、仓库、分支、运行模式、交付标准说清楚。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课程可以更强调：面对庞大 OS 项目，如何把模糊目标拆成可验证的小任务。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CFA57E-D912-425D-B387-E0D0CF4A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33337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4A838E-8540-4CD2-BA1D-269DA1D5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76450"/>
            <a:ext cx="47625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581757-BAF6-4BA2-BB3C-8530676D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876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2. 更早开放 OS 实战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7F8B1F-ECE6-4A5B-83B3-ADC57570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05100"/>
            <a:ext cx="28765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AI 让工程门槛显著下降，OS 课可以更多面向大一同学开放。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他们通过参与真实项目、读代码、跑测试、提 PR，会比只做小作业获得更快的工程成长。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384C25-7127-420F-8FBC-C3B4B51D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33337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ED8336-45C6-4FD7-89AC-D6D7A598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76450"/>
            <a:ext cx="47625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FA36D4-BB96-4B97-8FD3-4F6FA328F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86000"/>
            <a:ext cx="2876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3. 选修课的多元参与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35EEDA-986D-447E-A239-CA1EAF4DA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05100"/>
            <a:ext cx="28765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区分必须掌握的 OS 基础和可选进阶模块。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鼓励 AI 方向同学用自己的 AI 能力完成过去单人课程里很难完成的大型系统项目，同时保持 OS 核心问题足够有趣。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B3E71-3419-41C8-9920-1929ED3B3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48300"/>
            <a:ext cx="1028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769F5-1D26-46E0-9D42-000C9F31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00700"/>
            <a:ext cx="971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结论：AI 不替代 OS 理解；它让课程更适合训练“拆解复杂系统、组织证据、完成真实工程交付”的能力。</a:t>
            </a:r>
          </a:p>
        </p:txBody>
      </p:sp>
    </p:spTree>
    <p:extLst>
      <p:ext uri="{BB962C8B-B14F-4D97-AF65-F5344CB8AC3E}">
        <p14:creationId xmlns:p14="http://schemas.microsoft.com/office/powerpoint/2010/main" val="10469369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2026-05-29T20:20:16.0370000Z</dcterms:created>
  <dcterms:modified xsi:type="dcterms:W3CDTF">2026-05-29T20:20:16.0370000Z</dcterms:modified>
</coreProperties>
</file>