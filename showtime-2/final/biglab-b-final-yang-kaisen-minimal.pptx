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a63cba92aaa4748" /><Relationship Type="http://schemas.openxmlformats.org/officeDocument/2006/relationships/extended-properties" Target="/docProps/app.xml" Id="R8ceb0070d8954927" /><Relationship Type="http://schemas.openxmlformats.org/officeDocument/2006/relationships/officeDocument" Target="/ppt/presentation.xml" Id="Reac27d711950408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f9a1193bb784848"/>
  </p:sldMasterIdLst>
  <p:notesMasterIdLst>
    <p:notesMasterId xmlns:r="http://schemas.openxmlformats.org/officeDocument/2006/relationships" r:id="R43d0a552cd404b0e"/>
  </p:notesMasterIdLst>
  <p:sldIdLst>
    <p:sldId xmlns:r="http://schemas.openxmlformats.org/officeDocument/2006/relationships" id="256" r:id="R7ed1ecba95a64284"/>
    <p:sldId xmlns:r="http://schemas.openxmlformats.org/officeDocument/2006/relationships" id="257" r:id="Rc6252496effd40f0"/>
    <p:sldId xmlns:r="http://schemas.openxmlformats.org/officeDocument/2006/relationships" id="258" r:id="Rf07640a33de94eda"/>
    <p:sldId xmlns:r="http://schemas.openxmlformats.org/officeDocument/2006/relationships" id="259" r:id="Rfd3b665c0cdd4fd8"/>
    <p:sldId xmlns:r="http://schemas.openxmlformats.org/officeDocument/2006/relationships" id="260" r:id="R7f161ba273be498a"/>
    <p:sldId xmlns:r="http://schemas.openxmlformats.org/officeDocument/2006/relationships" id="261" r:id="Rbe04f1dca9de4d40"/>
    <p:sldId xmlns:r="http://schemas.openxmlformats.org/officeDocument/2006/relationships" id="262" r:id="R1a739e9c126c429a"/>
    <p:sldId xmlns:r="http://schemas.openxmlformats.org/officeDocument/2006/relationships" id="263" r:id="R3094795fdc454276"/>
    <p:sldId xmlns:r="http://schemas.openxmlformats.org/officeDocument/2006/relationships" id="264" r:id="R421c6a0aa56845c5"/>
    <p:sldId xmlns:r="http://schemas.openxmlformats.org/officeDocument/2006/relationships" id="265" r:id="Rc9c525bf95b94851"/>
    <p:sldId xmlns:r="http://schemas.openxmlformats.org/officeDocument/2006/relationships" id="266" r:id="R73f67351a2904fb9"/>
    <p:sldId xmlns:r="http://schemas.openxmlformats.org/officeDocument/2006/relationships" id="267" r:id="Rbe660fffc68c4d96"/>
    <p:sldId xmlns:r="http://schemas.openxmlformats.org/officeDocument/2006/relationships" id="268" r:id="Rebf38849ef6642bc"/>
    <p:sldId xmlns:r="http://schemas.openxmlformats.org/officeDocument/2006/relationships" id="269" r:id="Rb08d27d19bd541b6"/>
    <p:sldId xmlns:r="http://schemas.openxmlformats.org/officeDocument/2006/relationships" id="270" r:id="R82e3f2926c33403d"/>
    <p:sldId xmlns:r="http://schemas.openxmlformats.org/officeDocument/2006/relationships" id="271" r:id="R7213a6b12a8a48ca"/>
    <p:sldId xmlns:r="http://schemas.openxmlformats.org/officeDocument/2006/relationships" id="272" r:id="R600c5a905b8b44a4"/>
    <p:sldId xmlns:r="http://schemas.openxmlformats.org/officeDocument/2006/relationships" id="273" r:id="R4dd17e02c54744a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9a1193bb784848" /><Relationship Type="http://schemas.openxmlformats.org/officeDocument/2006/relationships/theme" Target="/ppt/theme/theme1.xml" Id="R31821b8ceeec442e" /><Relationship Type="http://schemas.openxmlformats.org/officeDocument/2006/relationships/notesMaster" Target="/ppt/notesMasters/notesMaster1.xml" Id="R43d0a552cd404b0e" /><Relationship Type="http://schemas.openxmlformats.org/officeDocument/2006/relationships/presProps" Target="/ppt/presProps.xml" Id="R3cb06c25076241ed" /><Relationship Type="http://schemas.openxmlformats.org/officeDocument/2006/relationships/viewProps" Target="/ppt/viewProps.xml" Id="Ra9a740e175574643" /><Relationship Type="http://schemas.openxmlformats.org/officeDocument/2006/relationships/tableStyles" Target="/ppt/tableStyles.xml" Id="R3ad400b65acd451d" /><Relationship Type="http://schemas.openxmlformats.org/officeDocument/2006/relationships/slide" Target="/ppt/slides/slide1.xml" Id="R7ed1ecba95a64284" /><Relationship Type="http://schemas.openxmlformats.org/officeDocument/2006/relationships/slide" Target="/ppt/slides/slide2.xml" Id="Rc6252496effd40f0" /><Relationship Type="http://schemas.openxmlformats.org/officeDocument/2006/relationships/slide" Target="/ppt/slides/slide3.xml" Id="Rf07640a33de94eda" /><Relationship Type="http://schemas.openxmlformats.org/officeDocument/2006/relationships/slide" Target="/ppt/slides/slide4.xml" Id="Rfd3b665c0cdd4fd8" /><Relationship Type="http://schemas.openxmlformats.org/officeDocument/2006/relationships/slide" Target="/ppt/slides/slide5.xml" Id="R7f161ba273be498a" /><Relationship Type="http://schemas.openxmlformats.org/officeDocument/2006/relationships/slide" Target="/ppt/slides/slide6.xml" Id="Rbe04f1dca9de4d40" /><Relationship Type="http://schemas.openxmlformats.org/officeDocument/2006/relationships/slide" Target="/ppt/slides/slide7.xml" Id="R1a739e9c126c429a" /><Relationship Type="http://schemas.openxmlformats.org/officeDocument/2006/relationships/slide" Target="/ppt/slides/slide8.xml" Id="R3094795fdc454276" /><Relationship Type="http://schemas.openxmlformats.org/officeDocument/2006/relationships/slide" Target="/ppt/slides/slide9.xml" Id="R421c6a0aa56845c5" /><Relationship Type="http://schemas.openxmlformats.org/officeDocument/2006/relationships/slide" Target="/ppt/slides/slide10.xml" Id="Rc9c525bf95b94851" /><Relationship Type="http://schemas.openxmlformats.org/officeDocument/2006/relationships/slide" Target="/ppt/slides/slide11.xml" Id="R73f67351a2904fb9" /><Relationship Type="http://schemas.openxmlformats.org/officeDocument/2006/relationships/slide" Target="/ppt/slides/slide12.xml" Id="Rbe660fffc68c4d96" /><Relationship Type="http://schemas.openxmlformats.org/officeDocument/2006/relationships/slide" Target="/ppt/slides/slide13.xml" Id="Rebf38849ef6642bc" /><Relationship Type="http://schemas.openxmlformats.org/officeDocument/2006/relationships/slide" Target="/ppt/slides/slide14.xml" Id="Rb08d27d19bd541b6" /><Relationship Type="http://schemas.openxmlformats.org/officeDocument/2006/relationships/slide" Target="/ppt/slides/slide15.xml" Id="R82e3f2926c33403d" /><Relationship Type="http://schemas.openxmlformats.org/officeDocument/2006/relationships/slide" Target="/ppt/slides/slide16.xml" Id="R7213a6b12a8a48ca" /><Relationship Type="http://schemas.openxmlformats.org/officeDocument/2006/relationships/slide" Target="/ppt/slides/slide17.xml" Id="R600c5a905b8b44a4" /><Relationship Type="http://schemas.openxmlformats.org/officeDocument/2006/relationships/slide" Target="/ppt/slides/slide18.xml" Id="R4dd17e02c54744a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c5696e8af924400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42cc44ca71441ff" /><Relationship Type="http://schemas.openxmlformats.org/officeDocument/2006/relationships/notesMaster" Target="/ppt/notesMasters/notesMaster1.xml" Id="Rea44c86ac0484d3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c2dd3f861114250" /><Relationship Type="http://schemas.openxmlformats.org/officeDocument/2006/relationships/notesMaster" Target="/ppt/notesMasters/notesMaster1.xml" Id="Rcb748034ea3d4c1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6c00989b2294a2d" /><Relationship Type="http://schemas.openxmlformats.org/officeDocument/2006/relationships/notesMaster" Target="/ppt/notesMasters/notesMaster1.xml" Id="R0f2c57fa28fb473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768dd1dbb50420c" /><Relationship Type="http://schemas.openxmlformats.org/officeDocument/2006/relationships/notesMaster" Target="/ppt/notesMasters/notesMaster1.xml" Id="Rb49766c23429439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f3ad0a30f7a41f9" /><Relationship Type="http://schemas.openxmlformats.org/officeDocument/2006/relationships/notesMaster" Target="/ppt/notesMasters/notesMaster1.xml" Id="R5a7ba48b1c37477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ba8b2546175482f" /><Relationship Type="http://schemas.openxmlformats.org/officeDocument/2006/relationships/notesMaster" Target="/ppt/notesMasters/notesMaster1.xml" Id="R5096183b4afb41a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9328b1353914d40" /><Relationship Type="http://schemas.openxmlformats.org/officeDocument/2006/relationships/notesMaster" Target="/ppt/notesMasters/notesMaster1.xml" Id="R4db41aabb0e1499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ce3fb4596cc4b94" /><Relationship Type="http://schemas.openxmlformats.org/officeDocument/2006/relationships/notesMaster" Target="/ppt/notesMasters/notesMaster1.xml" Id="Ra691d6e3a878412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96eba18823a43ff" /><Relationship Type="http://schemas.openxmlformats.org/officeDocument/2006/relationships/notesMaster" Target="/ppt/notesMasters/notesMaster1.xml" Id="R6e871c01be364ee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38c928e93284644" /><Relationship Type="http://schemas.openxmlformats.org/officeDocument/2006/relationships/notesMaster" Target="/ppt/notesMasters/notesMaster1.xml" Id="R59376c62ce3d4f2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3c91444f1ec4375" /><Relationship Type="http://schemas.openxmlformats.org/officeDocument/2006/relationships/notesMaster" Target="/ppt/notesMasters/notesMaster1.xml" Id="R6bc05236b50a419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6d7050cd0de4878" /><Relationship Type="http://schemas.openxmlformats.org/officeDocument/2006/relationships/notesMaster" Target="/ppt/notesMasters/notesMaster1.xml" Id="R0a3e7c0bfabc4cf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440d33301ea4325" /><Relationship Type="http://schemas.openxmlformats.org/officeDocument/2006/relationships/notesMaster" Target="/ppt/notesMasters/notesMaster1.xml" Id="R89ba795f69a74a3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4ccdef0034f49dc" /><Relationship Type="http://schemas.openxmlformats.org/officeDocument/2006/relationships/notesMaster" Target="/ppt/notesMasters/notesMaster1.xml" Id="R410afb03e3f74b8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dcee36ba3824bed" /><Relationship Type="http://schemas.openxmlformats.org/officeDocument/2006/relationships/notesMaster" Target="/ppt/notesMasters/notesMaster1.xml" Id="R98bee3833ee54de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74152921ae34383" /><Relationship Type="http://schemas.openxmlformats.org/officeDocument/2006/relationships/notesMaster" Target="/ppt/notesMasters/notesMaster1.xml" Id="R4c59d641cc034c5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8240b9823d246f7" /><Relationship Type="http://schemas.openxmlformats.org/officeDocument/2006/relationships/notesMaster" Target="/ppt/notesMasters/notesMaster1.xml" Id="R581725323ecd47e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c1037b8884c41d3" /><Relationship Type="http://schemas.openxmlformats.org/officeDocument/2006/relationships/notesMaster" Target="/ppt/notesMasters/notesMaster1.xml" Id="R172e1a4163ef4c5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638d14dac04ad6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1cd2f32f96764268" /><Relationship Type="http://schemas.openxmlformats.org/officeDocument/2006/relationships/slideLayout" Target="/ppt/slideLayouts/slideLayout2.xml" Id="R32739f9706c3487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2739f9706c3487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de54ca50d8d4015" /><Relationship Type="http://schemas.openxmlformats.org/officeDocument/2006/relationships/notesSlide" Target="/ppt/notesSlides/notesSlide1.xml" Id="Rc5d5984f94594c0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e96d993ed614deb" /><Relationship Type="http://schemas.openxmlformats.org/officeDocument/2006/relationships/notesSlide" Target="/ppt/notesSlides/notesSlide2.xml" Id="R9827158e26cc421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43f330e7aa446d5" /><Relationship Type="http://schemas.openxmlformats.org/officeDocument/2006/relationships/notesSlide" Target="/ppt/notesSlides/notesSlide3.xml" Id="Rb231e70483d640c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fb4e0d5e25b461c" /><Relationship Type="http://schemas.openxmlformats.org/officeDocument/2006/relationships/notesSlide" Target="/ppt/notesSlides/notesSlide4.xml" Id="Re9291f20f591438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9e533e0cb1a44a9" /><Relationship Type="http://schemas.openxmlformats.org/officeDocument/2006/relationships/notesSlide" Target="/ppt/notesSlides/notesSlide5.xml" Id="R16f08d75840f4b3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ef66ce189ff41f3" /><Relationship Type="http://schemas.openxmlformats.org/officeDocument/2006/relationships/notesSlide" Target="/ppt/notesSlides/notesSlide6.xml" Id="R5d869fdd082b411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20d87e158bd4e70" /><Relationship Type="http://schemas.openxmlformats.org/officeDocument/2006/relationships/notesSlide" Target="/ppt/notesSlides/notesSlide7.xml" Id="Rf5edc134ea5a478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99dc3d6f3ad4674" /><Relationship Type="http://schemas.openxmlformats.org/officeDocument/2006/relationships/notesSlide" Target="/ppt/notesSlides/notesSlide8.xml" Id="R3c9623bba9eb4ad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7c738207b4648e9" /><Relationship Type="http://schemas.openxmlformats.org/officeDocument/2006/relationships/notesSlide" Target="/ppt/notesSlides/notesSlide9.xml" Id="R50c9c13a9e52448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413bd1bdc2c47f7" /><Relationship Type="http://schemas.openxmlformats.org/officeDocument/2006/relationships/notesSlide" Target="/ppt/notesSlides/notesSlide10.xml" Id="Rf5adda5f93404bc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303294526ed40e5" /><Relationship Type="http://schemas.openxmlformats.org/officeDocument/2006/relationships/notesSlide" Target="/ppt/notesSlides/notesSlide11.xml" Id="Rd1c99f36c9d245c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c42d87e98dd438e" /><Relationship Type="http://schemas.openxmlformats.org/officeDocument/2006/relationships/notesSlide" Target="/ppt/notesSlides/notesSlide12.xml" Id="R48ef34c25c58455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903159b13d94422" /><Relationship Type="http://schemas.openxmlformats.org/officeDocument/2006/relationships/notesSlide" Target="/ppt/notesSlides/notesSlide13.xml" Id="R79e9bd593e734b7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a9da80ebe1641d1" /><Relationship Type="http://schemas.openxmlformats.org/officeDocument/2006/relationships/notesSlide" Target="/ppt/notesSlides/notesSlide14.xml" Id="R905a50a698264d8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6dc36644f2c4f9a" /><Relationship Type="http://schemas.openxmlformats.org/officeDocument/2006/relationships/notesSlide" Target="/ppt/notesSlides/notesSlide15.xml" Id="Rf7d23c63b0f04e7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ae6e2b6f4a54da9" /><Relationship Type="http://schemas.openxmlformats.org/officeDocument/2006/relationships/notesSlide" Target="/ppt/notesSlides/notesSlide16.xml" Id="R583e5f616b49498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03983b18bb14aab" /><Relationship Type="http://schemas.openxmlformats.org/officeDocument/2006/relationships/notesSlide" Target="/ppt/notesSlides/notesSlide17.xml" Id="R7ca8e2b1547f4fe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97d9a8d06b342b4" /><Relationship Type="http://schemas.openxmlformats.org/officeDocument/2006/relationships/notesSlide" Target="/ppt/notesSlides/notesSlide18.xml" Id="R9d315bdee6a7403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91B41B5-FD6A-49E8-8DCB-BEC2C4FF3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2CAE91-5D53-4931-9D4B-821794AE4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9334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StarryOS 自举编译与内核改进成果汇报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4215EF-6D2A-4DC5-8ED1-8C32E78FD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85950"/>
            <a:ext cx="609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BD5E1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CBD5E1"/>
                </a:solidFill>
                <a:latin typeface="PingFang SC"/>
                <a:ea typeface="PingFang SC"/>
                <a:cs typeface="PingFang SC"/>
              </a:rPr>
              <a:t>BigLab-B 最终汇报 | 杨凯森 | 2026-05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D71BEA-5F18-4375-B1DB-26EF777E0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76500"/>
            <a:ext cx="9906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8FAFC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F8FAFC"/>
                </a:solidFill>
                <a:latin typeface="PingFang SC"/>
                <a:ea typeface="PingFang SC"/>
                <a:cs typeface="PingFang SC"/>
              </a:rPr>
              <a:t>目标：让 StarryOS 承载一个真实的大型 Rust/Cargo workload，在 guest 内编译出 StarryOS 自己。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51B4D1-4986-4104-AF68-0E9DAB357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000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CBD5E1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CBD5E1"/>
                </a:solidFill>
                <a:latin typeface="PingFang SC"/>
                <a:ea typeface="PingFang SC"/>
                <a:cs typeface="PingFang SC"/>
              </a:rPr>
              <a:t>这件事会系统性暴露 OS 层问题：进程创建、futex 退出、文件系统、SMP 同步、调度唤醒、用户态 ABI 和 QEMU/HVF 边界。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F1F638-9CAA-4C5B-B281-20469F5BA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052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57AB8C-E9FE-4004-AEEB-8DDA887C9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000500"/>
            <a:ext cx="86296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E5E7EB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E5E7EB"/>
                </a:solidFill>
                <a:latin typeface="PingFang SC"/>
                <a:ea typeface="PingFang SC"/>
                <a:cs typeface="PingFang SC"/>
              </a:rPr>
              <a:t>方法：用 AI 驱动的持续迭代框架，把长时间实验拆成可复现、可验证、可提交的 OS 修复。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5CEC34-0CD2-476E-A1C0-E6F3EF5CB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386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57DAA7-C9CD-46C9-B926-874E53F95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33900"/>
            <a:ext cx="86296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E5E7EB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E5E7EB"/>
                </a:solidFill>
                <a:latin typeface="PingFang SC"/>
                <a:ea typeface="PingFang SC"/>
                <a:cs typeface="PingFang SC"/>
              </a:rPr>
              <a:t>成果：12 个 OS PR 已合入 TGOSKit dev；8 核 AArch64/HVF guest 完成 StarryOS self-build。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197100-8F57-4404-A363-81818CC6E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720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55D87A-8DBB-4B88-81BB-6C3D07989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067300"/>
            <a:ext cx="86296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E5E7EB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E5E7EB"/>
                </a:solidFill>
                <a:latin typeface="PingFang SC"/>
                <a:ea typeface="PingFang SC"/>
                <a:cs typeface="PingFang SC"/>
              </a:rPr>
              <a:t>分析：用 host 对齐参考和微基准拆清 Cargo、OS、QEMU 各自承担的性能成本。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4D3D61-BD5A-4B7E-97AB-677E82810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095750"/>
            <a:ext cx="15811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C2F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5F2F55-F938-427D-B5C1-42313ACDA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324350"/>
            <a:ext cx="1047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93C5FD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93C5FD"/>
                </a:solidFill>
                <a:latin typeface="PingFang SC"/>
                <a:ea typeface="PingFang SC"/>
                <a:cs typeface="PingFang SC"/>
              </a:rPr>
              <a:t>路线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8F26A3-2F6E-46FC-9C92-4D7A6050B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86300"/>
            <a:ext cx="11620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CBD5E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CBD5E1"/>
                </a:solidFill>
                <a:latin typeface="PingFang SC"/>
                <a:ea typeface="PingFang SC"/>
                <a:cs typeface="PingFang SC"/>
              </a:rPr>
              <a:t>真实 workload</a:t>
            </a:r>
          </a:p>
          <a:p xmlns:a="http://schemas.openxmlformats.org/drawingml/2006/main">
            <a:pPr algn="ctr">
              <a:defRPr sz="1200" b="0">
                <a:solidFill>
                  <a:srgbClr val="CBD5E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CBD5E1"/>
                </a:solidFill>
                <a:latin typeface="PingFang SC"/>
                <a:ea typeface="PingFang SC"/>
                <a:cs typeface="PingFang SC"/>
              </a:rPr>
              <a:t>暴露 OS 问题</a:t>
            </a:r>
          </a:p>
          <a:p xmlns:a="http://schemas.openxmlformats.org/drawingml/2006/main">
            <a:pPr algn="ctr">
              <a:defRPr sz="1200" b="0">
                <a:solidFill>
                  <a:srgbClr val="CBD5E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CBD5E1"/>
                </a:solidFill>
                <a:latin typeface="PingFang SC"/>
                <a:ea typeface="PingFang SC"/>
                <a:cs typeface="PingFang SC"/>
              </a:rPr>
              <a:t>形成 PR 与测例</a:t>
            </a:r>
          </a:p>
          <a:p xmlns:a="http://schemas.openxmlformats.org/drawingml/2006/main">
            <a:pPr algn="ctr">
              <a:defRPr sz="1200" b="0">
                <a:solidFill>
                  <a:srgbClr val="CBD5E1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CBD5E1"/>
                </a:solidFill>
                <a:latin typeface="PingFang SC"/>
                <a:ea typeface="PingFang SC"/>
                <a:cs typeface="PingFang SC"/>
              </a:rPr>
              <a:t>再做性能诊断</a:t>
            </a:r>
          </a:p>
        </p:txBody>
      </p:sp>
    </p:spTree>
    <p:extLst>
      <p:ext uri="{BB962C8B-B14F-4D97-AF65-F5344CB8AC3E}">
        <p14:creationId xmlns:p14="http://schemas.microsoft.com/office/powerpoint/2010/main" val="16642068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B061DDC-07D0-4D6D-B457-1B232122B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8FB19A-6B5E-4077-AAE6-A8E46BF58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635623-A4E5-465F-B743-885E88987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E8EB77-AA5F-4857-8221-78BA4D8F4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BigLab-A：前置训练回顾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AAF714-9240-4BA1-94FF-5C1F1F49F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BigLab-A 主要作为进入 BigLab-B 前的 OS 基础训练；本次答辩只简要说明它给后续 StarryOS 工作提供的能力基础。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12BDBC-3FF0-4C91-853F-A8D865C8E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323850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959C80-44C1-4ECC-A0E3-D06184504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47625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5FE4B6-8C1C-4BEC-812B-CA033FAD7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76500"/>
            <a:ext cx="2781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Rust 与 no_std 工程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2C11F2-AD71-4C1D-A3AC-5C41E7804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95600"/>
            <a:ext cx="27813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熟悉 Rust crate 组织、无标准库环境、交叉编译、QEMU 运行和实验文档整理。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72E9A3-9DB7-4769-A4C7-4EB60C2C4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66950"/>
            <a:ext cx="323850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CAA3BB-B81A-494D-96BA-C4BF7807C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66950"/>
            <a:ext cx="47625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2E52D8-C5C3-47C4-8DEF-17CAB1033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476500"/>
            <a:ext cx="2781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OS 基础概念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D0A375-2986-4350-9CB5-BD0C16F63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895600"/>
            <a:ext cx="27813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围绕内存、任务、文件系统、设备和 syscall 等模块建立基本的分层理解。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A6963B-459E-424F-98BF-3E4C1C08C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266950"/>
            <a:ext cx="323850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78ABCA-9B3F-4013-919C-D8318D7B3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266950"/>
            <a:ext cx="47625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089FDB-A665-43FA-BB0C-1E7CF5F6C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476500"/>
            <a:ext cx="2781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过渡到 BigLab-B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E316C4-09F6-4991-8290-C53D9ABB8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895600"/>
            <a:ext cx="27813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后续工作转向 TGOSKit / StarryOS：从教学小实验进入真实内核 PR 和大型 workload。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F347F8-623E-4638-A683-24DC19564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096000"/>
            <a:ext cx="1047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76200" rIns="76200" bIns="762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本页只做 BigLab-A 简要承接；BigLab-B 的具体 Task 1 在下一页展开。</a:t>
            </a:r>
          </a:p>
        </p:txBody>
      </p:sp>
    </p:spTree>
    <p:extLst>
      <p:ext uri="{BB962C8B-B14F-4D97-AF65-F5344CB8AC3E}">
        <p14:creationId xmlns:p14="http://schemas.microsoft.com/office/powerpoint/2010/main" val="135998605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89EED83-05AF-4EAF-A2FD-E5E723863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7093C2-4D81-4E5E-81A2-D0294CAC0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5C7E02-607C-4C01-82D9-25089B031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742DC2-E3E4-4641-A55F-655E74462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BigLab-B Task 1：tg-arceos-tutorial 基础练习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EEB342-6997-42BE-AB25-E960891C8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Task 1 是基于 rcore-os/tg-arceos-tutorial 的 test 分支，在自己的 fork 中完成 5 个规定的 exercise-* 基础练习。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77C42C-AECF-4348-835C-DFF191AE1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52650"/>
            <a:ext cx="323850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6E119E-232E-4683-9D02-7C1E3F359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52650"/>
            <a:ext cx="47625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D5A1E0-0D48-41D5-BEAB-A3F887840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62200"/>
            <a:ext cx="2781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仓库与分支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FDC841-8DC5-4711-960C-22B6DC142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81300"/>
            <a:ext cx="27813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fork 上游 tg-arceos-tutorial/test，到自己的仓库继续完成代码和总结文档。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本地对应仓库：github.com/yks23/tg-arceos-tutorial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16DCD4-6C0E-413F-8387-7A4CB607E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152650"/>
            <a:ext cx="323850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D55AC1-6C35-4AE8-ABA0-917BEA2DE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152650"/>
            <a:ext cx="47625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D6FBED-375C-466B-90A3-E8F3FFE6A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781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完成的 5 个 exercise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F8FB0D-CE82-4267-AEC6-E9601D03D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781300"/>
            <a:ext cx="27813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exercise-printcolor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exercise-hashmap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exercise-altalloc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exercise-ramfs-rename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exercise-sysmap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49BD65-2444-4F7C-85E6-86EE34BF9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152650"/>
            <a:ext cx="323850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2BD2CB-D7A7-4EBB-8CC8-C1E21D75E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152650"/>
            <a:ext cx="47625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0AC300-7ECA-4753-9126-AEC4E5438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362200"/>
            <a:ext cx="2781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训练到的能力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80CFF0-5E1E-4290-B2F0-00C2E1689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781300"/>
            <a:ext cx="27813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从基础输出、集合/哈希表、替代 allocator，到 RAMFS rename、系统符号/地址映射，逐步补齐 ArceOS 小实验能力。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A0CAC1-889F-48B3-AA4C-A9ADD9362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6767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1535E8-1652-4BBA-A13E-21F0762A5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72000"/>
            <a:ext cx="9582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这一部分不是 Harness，也不是 StarryOS PR；它是 BigLab-B 的基础训练任务。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C1D4B2-D371-4835-A435-70F9E552E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149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3A936B-634E-44DB-BD9C-6E2733BB3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10150"/>
            <a:ext cx="9582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完成后才进入 Task 2：把方法迁移到 TGOSKit / StarryOS 的真实内核改进。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7032641-AFCD-46DE-9B34-972D4EE4C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5530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43EBC9-EC3E-4047-877E-F4D536BEE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448300"/>
            <a:ext cx="9582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后面的 Harness、PR、自举编译和多核测速都属于 Task 2 主线。</a:t>
            </a:r>
          </a:p>
        </p:txBody>
      </p:sp>
    </p:spTree>
    <p:extLst>
      <p:ext uri="{BB962C8B-B14F-4D97-AF65-F5344CB8AC3E}">
        <p14:creationId xmlns:p14="http://schemas.microsoft.com/office/powerpoint/2010/main" val="26824921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62F1016-73FB-4DF1-AD2D-F2A0BDC22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26D38E-D828-471E-ADC6-35CB27605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211ABC-DC22-4360-9573-B18C480E6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0403E9-F1EB-43FA-9E28-B97BCE8CD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BigLab-B Task 2 阶段 1：Harness 初版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942583-553C-4879-9152-388DF72E6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进入 Task 2 后，第一阶段尝试让模型生成测试并自动运行，用测试失败来反推 StarryOS 的 bug。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FDF8FA-F1E1-4ABA-A135-2E1765A5C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495300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876EAE-FDED-405D-81A3-53BA94BDE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47625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F22C9E-E641-476A-BF56-EA60DA374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86000"/>
            <a:ext cx="4495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做法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8F9D04-8405-4937-B039-6E2FA218E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05100"/>
            <a:ext cx="449580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611E11-D0CF-4CD5-814B-314D82B4E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76450"/>
            <a:ext cx="495300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6AB20C-D4AE-4227-95FA-8370A28CA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76450"/>
            <a:ext cx="47625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4970A4-322C-492E-9166-DD1CC08CD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86000"/>
            <a:ext cx="4495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经验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091FBC-824B-40AB-B7AD-F65F31E1C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705100"/>
            <a:ext cx="449580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DCD1E9-4054-47AB-B5F4-CA3EF3828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24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DB5715-657F-4311-8F5C-A1D67F361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81940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围绕 syscall、busybox 小命令和文件系统行为生成测试用例。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70D59E-133B-453F-9983-941D8E4A2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766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1EC0F5-6FFB-4DC9-9D68-B9A25323F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7185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模型读日志、提出怀疑点、继续补 case 或定位代码。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07162C-CC62-4B09-A5B5-2C912FDE6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924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BE570B-2803-4118-A37E-4001A3801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81940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能快速覆盖很多边界输入，但缺乏 workload 方向性。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25EF01-4A90-4248-8A9C-2986C298B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4766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6C6855-5F63-43F9-9ECB-D41EBC03E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37185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真实 OS bug 数量不稳定，容易陷入泛化测试和低价值失败。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6CC75A-768C-4E2A-B822-4D135EA2B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096000"/>
            <a:ext cx="1047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76200" rIns="76200" bIns="762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结论：纯测试挖掘可以作为补充，但不足以支撑大实验主线；后续改为真实 workload 驱动。</a:t>
            </a:r>
          </a:p>
        </p:txBody>
      </p:sp>
    </p:spTree>
    <p:extLst>
      <p:ext uri="{BB962C8B-B14F-4D97-AF65-F5344CB8AC3E}">
        <p14:creationId xmlns:p14="http://schemas.microsoft.com/office/powerpoint/2010/main" val="31429544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8ECB801-68BB-4EED-9628-8DAD3CC39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62DBE6-AC02-4975-A22D-BE92987F8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D495F1-B91A-4E05-8858-99C8340D3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975844-A6D3-4A3E-9EC8-502F22DBD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BigLab-B Task 2 阶段 1：Harness 当前闭环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4A9D2C-D801-43A6-8C68-B96CD847A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Harness 后来从泛化测试挖掘，收敛到和 StarryOS dev 紧密联动：跑真实任务、读输出、修内核、补测例、提 PR。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C3DE3F-A357-46C8-9639-BAE0CEF37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57450"/>
            <a:ext cx="1428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A72CCC-DDF7-4909-9A85-4475A7FBD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1123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09:00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4F8F8B-2D7A-4869-A0D5-664F78081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90850"/>
            <a:ext cx="1123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同步 dev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D4EC2F-254A-4854-899A-FA80762B6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87655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ABFE89-E78D-4DA0-95B4-ED3829A5A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457450"/>
            <a:ext cx="1428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BEC7EB-A4FE-4389-A657-671573729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647950"/>
            <a:ext cx="1123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45A18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C45A18"/>
                </a:solidFill>
                <a:latin typeface="PingFang SC"/>
                <a:ea typeface="PingFang SC"/>
                <a:cs typeface="PingFang SC"/>
              </a:rPr>
              <a:t>Run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B3FDC0-0A39-42A8-8B01-43AACF166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990850"/>
            <a:ext cx="1123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编译/运行任务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DAA44A-5344-40D2-8866-3AD55ACF8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87655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2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871C9F-B008-4DE5-B403-7A2DC6567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457450"/>
            <a:ext cx="1428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889BAD-0F07-48DC-974F-371ABE9EA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647950"/>
            <a:ext cx="1123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6A42B8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6A42B8"/>
                </a:solidFill>
                <a:latin typeface="PingFang SC"/>
                <a:ea typeface="PingFang SC"/>
                <a:cs typeface="PingFang SC"/>
              </a:rPr>
              <a:t>Read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60E877-B10D-451E-9BB7-06F851AB1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990850"/>
            <a:ext cx="1123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读取输出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2C6FD8-6830-4EAD-BB5F-1532E225C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87655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CD70D6-4CC3-4DEB-9D6D-A8AAA74FD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457450"/>
            <a:ext cx="1428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543E2F-EE74-4FD0-AC20-A0CB0C34C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647950"/>
            <a:ext cx="1123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48A5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148A5A"/>
                </a:solidFill>
                <a:latin typeface="PingFang SC"/>
                <a:ea typeface="PingFang SC"/>
                <a:cs typeface="PingFang SC"/>
              </a:rPr>
              <a:t>Fix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70DB27-4AB6-4B65-A77A-24A9B2C1F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990850"/>
            <a:ext cx="1123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修改内核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0548FA-09B0-4E42-AA24-D0D925269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87655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DA698F-00E2-4486-B336-767F4C926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457450"/>
            <a:ext cx="1428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67AFDC-EAD3-4AEC-862A-B831CB6C6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647950"/>
            <a:ext cx="1123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B42318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B42318"/>
                </a:solidFill>
                <a:latin typeface="PingFang SC"/>
                <a:ea typeface="PingFang SC"/>
                <a:cs typeface="PingFang SC"/>
              </a:rPr>
              <a:t>PR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9A2CA2-FA7E-463F-88BC-87910C3AA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990850"/>
            <a:ext cx="1123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测例+提交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7895341-7D0D-4020-853D-0395934AF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00500"/>
            <a:ext cx="30480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6056E8-A522-4DC9-8A6E-FD8B7BE6A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00500"/>
            <a:ext cx="476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C1DD40F-3B63-4B0D-BF24-EBC762757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2590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自动同步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40698F6-8424-4AF5-A9FF-F2168E1DD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629150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每天早上 9:00 拉取最新 dev，专门同步分支，减少上游快速演进带来的冲突成本。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0A1669-014A-4EE6-A4EF-12E1A5408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000500"/>
            <a:ext cx="30480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65AF5F1-AEBD-49D9-8773-EA009722D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000500"/>
            <a:ext cx="476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C28E587-F402-4469-9B96-8F17B389A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210050"/>
            <a:ext cx="2590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自动修复闭环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54BECD3-59E5-42E3-B64F-EA7E31505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629150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在 StarryOS 上跑具体任务；一旦发现相关 bug，整理 root cause 与 Test Suite，随 OS 改动提 PR 到 dev。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456E12E-F931-47F5-8988-B9523100F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000500"/>
            <a:ext cx="30480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5256BDE-7FE4-4465-9C54-06808A8CD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000500"/>
            <a:ext cx="476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EAA4EB7-FA07-41E7-A33C-2EB431E62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210050"/>
            <a:ext cx="2590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PR 守护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FE09554-61F9-492A-8B1D-B64D2C68E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629150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定时检查 PR CI 状态；未通过则继续收集失败、修复、推送，直到达到可合并状态。</a:t>
            </a:r>
          </a:p>
        </p:txBody>
      </p:sp>
    </p:spTree>
    <p:extLst>
      <p:ext uri="{BB962C8B-B14F-4D97-AF65-F5344CB8AC3E}">
        <p14:creationId xmlns:p14="http://schemas.microsoft.com/office/powerpoint/2010/main" val="176906211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D847A5F-9FF1-4B0A-8794-1B090E5E0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F70043-FD0C-48F2-AAE5-4CCDB4A45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FD94EF-800B-447A-A3F7-32B741252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973826-4047-4C60-AAE1-F0B44D197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Task 2 PR：12 个已合入 OS 修复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FFC8E2-6BE2-4BDD-B796-E0177B726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这些 PR 不按“改了多少文件”讲，而按 OS 行为边界拆分：进程线程、文件系统、网络 ABI、SMP 同步和调度前进性。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611D40-E0BB-4249-A5B1-391AED204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323850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E3BA7A-0F1F-457B-8CB9-199EC03AC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47625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66D062-70E9-4F3D-A347-95BB678A7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00300"/>
            <a:ext cx="2781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进程 / 线程 / futex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EBBBA0-C506-423A-A96A-F6455618E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19400"/>
            <a:ext cx="27813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#692 robust futex cleanup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#693 vfork parent blocking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#878 teardown context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276469-ED0C-4615-BB48-5C20DA790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190750"/>
            <a:ext cx="323850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BE2B5A-EEB7-4A13-996A-915AF140A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190750"/>
            <a:ext cx="47625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E4CBDC-C5DC-4893-A1AF-9B9049258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400300"/>
            <a:ext cx="2781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文件系统 / 设备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539E6C-EA8A-4689-9DE4-E9AEE5F2A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819400"/>
            <a:ext cx="27813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#695 rsext4 inode bitmap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#800 device full transfer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#844 tmpfs rename exec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E6A1D8-A81C-4048-833F-A5B85D9FB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90750"/>
            <a:ext cx="323850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AD20AB-B871-4B57-8DA6-15442DB29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90750"/>
            <a:ext cx="47625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D94DE7-F8BB-4807-8402-BF3DFB958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00300"/>
            <a:ext cx="2781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SMP / 同步 / 调度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D1FCC6-5A18-49AA-9F5F-84D946BDF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819400"/>
            <a:ext cx="27813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#842 CPU topology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#879 raw mutex handoff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#885 syscall entry snapshot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#926 SMP wakeup progress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6D1D3E-CCC7-48B4-BDA6-16DE1D414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438650"/>
            <a:ext cx="3238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541910-B0F0-4120-B2C7-9E611EDDA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438650"/>
            <a:ext cx="476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2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6E64BF-C4C4-4753-B930-B9CB9B2BF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648200"/>
            <a:ext cx="2781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网络 ABI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C21824-C34D-42E4-BFFA-00980790D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067300"/>
            <a:ext cx="2781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#694 IPv4-mapped IPv6 socket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保持 IPv6 用户态语义，内部复用 IPv4 backend。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2198D1-09F6-467D-8D0D-6B5EBE413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38650"/>
            <a:ext cx="3238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9E81A7-2E2C-4137-BE98-24B70285D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38650"/>
            <a:ext cx="476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403C669-F62A-4A8D-9C47-D66BE6E26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648200"/>
            <a:ext cx="2781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验证标准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50508EC-3FAC-4AF1-AC72-8C2ADE9AE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067300"/>
            <a:ext cx="2781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每个 PR 均包含问题根因、修复范围、测试用例和 CI 或本地复现证据。</a:t>
            </a:r>
          </a:p>
        </p:txBody>
      </p:sp>
    </p:spTree>
    <p:extLst>
      <p:ext uri="{BB962C8B-B14F-4D97-AF65-F5344CB8AC3E}">
        <p14:creationId xmlns:p14="http://schemas.microsoft.com/office/powerpoint/2010/main" val="206856627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6CC1A07-C9CE-41D2-909F-4DA517F9F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95BD2C-887B-46B5-9494-F33909FC4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893184-5DA1-416B-8BED-AFB144E94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76D615-3E34-4D73-B0DB-2F218F421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背景 1：进程创建、vfork 与 posix_spawn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10A7D1-FBB4-4B45-A2C3-16440E426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很多用户态程序不是直接“运行一个命令”，而是通过 fork/vfork/clone 创建子进程，再 exec 成目标程序。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FAE55E-5929-4B97-B069-1AD61EB03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90750"/>
            <a:ext cx="3190875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665D88-2436-433F-9A64-78483C46A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90750"/>
            <a:ext cx="47625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EB1729-6EAE-4A41-91EC-73CD25D4A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00300"/>
            <a:ext cx="27336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fork / clone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039358-B5CB-4DC8-9C44-B55DA8594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19400"/>
            <a:ext cx="273367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fork 会复制进程语义，clone 是 Linux 更底层的创建接口；线程、进程、vfork 都可以看成不同 flag 组合。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1A9982-0E4A-4B46-B1A6-996DCE0A2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90750"/>
            <a:ext cx="3190875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DB5E31-852E-41F0-A56E-2255A46EA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90750"/>
            <a:ext cx="47625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FD3C8B-4A3B-4542-8B5B-ACCCF4A30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400300"/>
            <a:ext cx="27336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vfork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58D050-7A40-4907-83EF-658B769F9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819400"/>
            <a:ext cx="273367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vfork 是一种更强同步语义：子进程 exec 或 exit 前，父进程应等待。因为这段时间父子可能共享地址空间，父进程过早运行会破坏状态。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918ABE-D1D6-40BD-A077-AB0298332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90750"/>
            <a:ext cx="3190875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258957-A158-49DD-8499-E969AFEBD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90750"/>
            <a:ext cx="47625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591778-D17A-4B69-A26C-FDF385578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400300"/>
            <a:ext cx="27336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posix_spawn / shell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1B662B-FEDD-4B6C-A688-74CEF121C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819400"/>
            <a:ext cx="273367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shell、busybox、cargo 调 rustc 等路径会频繁创建子进程。posix_spawn 常用 vfork 风格实现，要求父子同步可靠。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4EE8FC-E6E1-4F08-BC1C-FB6D10FC0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29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C01ED5-56E4-45C8-8151-EB774B6F9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724400"/>
            <a:ext cx="9296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老师问“为什么这个重要”：因为它是用户态启动其他程序的基础 ABI。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7E2846-E4B5-4448-9222-DB9233D5F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3244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6D96ED-544A-4F78-BDF8-4611A1370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219700"/>
            <a:ext cx="9296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StarryOS 自举编译里，cargo 会反复 spawn rustc/build.rs；这条路径不稳，大型 workload 就无法稳定推进。</a:t>
            </a:r>
          </a:p>
        </p:txBody>
      </p:sp>
    </p:spTree>
    <p:extLst>
      <p:ext uri="{BB962C8B-B14F-4D97-AF65-F5344CB8AC3E}">
        <p14:creationId xmlns:p14="http://schemas.microsoft.com/office/powerpoint/2010/main" val="93926509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007EDEC-84EA-436D-B7E1-27E33DE8F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4A9F72-94F6-4117-8BC6-89C857C6A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2C4C5C-B285-4D6A-92B9-3BCC0ABC6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8D1C1-C3A9-48C3-929B-064E5800F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重点 PR 1：vfork / clone 语义修复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FDB39D-4F36-4AB8-9E36-0912C19A2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这个 PR 修的是父进程等待条件，保证 vfork 类子进程在 exec/exit 前不会让父进程提前继续。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CCE91F-281E-413E-B07D-68B72EB4E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495300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FBB052-6D9C-4E50-9993-786C2EE2E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47625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53400F-5A14-4DE9-87F3-A509C05D0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86000"/>
            <a:ext cx="4495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问题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932AA2-852F-4E49-8A9D-C32325BF9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05100"/>
            <a:ext cx="449580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4C43C1-005F-4737-AACC-1AB7EB38D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76450"/>
            <a:ext cx="495300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39FE6A-4E2C-47A1-ABB3-D5F9579DB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76450"/>
            <a:ext cx="47625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0A06E2-FE03-4AB1-A00F-59F5483BC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86000"/>
            <a:ext cx="4495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修复与测例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091129-9609-4231-B64B-EF0B74CCA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705100"/>
            <a:ext cx="449580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6D01F0-FA4E-4E63-9FD7-4EF99F1E3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24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8C9DB0-0B8E-4ECD-9DA9-02ED093E6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81940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旧实现把等待条件错误收窄，部分 CLONE_VFORK 场景没有等待。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4AD6F7-DED2-45D0-890E-546D682F4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766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AE96F6-549D-4B62-AFB1-85911A388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7185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父进程提前返回会破坏 shell、busybox、cargo 依赖的同步顺序。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530476-CB22-457F-B4B0-1D0DC0C49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924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E3EA17-84F6-45E2-8F38-DE964D8B9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81940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修复 CLONE_VFORK 等待条件，保证父进程等待 vfork_done。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4402D4-3D35-4068-A3CE-080EBC2B5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4766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A85DFE-CD47-4023-AEE4-B035F3DD4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37185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测例：test-vfork。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7AE3F8-3BF9-44E3-82BD-9295087F2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0290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C01244-1A2E-4E1F-9FCE-F9B2AF623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92430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影响范围：BusyBox / shell / cargo 子进程创建路径。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5DDD97-1D36-4B92-B0B5-12C663D8A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096000"/>
            <a:ext cx="1047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76200" rIns="76200" bIns="762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成果：修复进程创建 ABI 语义，使 BusyBox、shell 和 cargo 子进程创建路径具备更稳定的行为基础。</a:t>
            </a:r>
          </a:p>
        </p:txBody>
      </p:sp>
    </p:spTree>
    <p:extLst>
      <p:ext uri="{BB962C8B-B14F-4D97-AF65-F5344CB8AC3E}">
        <p14:creationId xmlns:p14="http://schemas.microsoft.com/office/powerpoint/2010/main" val="256450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017AD74-4755-4D60-82C8-D5AAFDD62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EAB619-671C-4D24-94F0-76B8880ED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36B3C9-0306-4B94-98A4-1229A0E83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DD1D64-E31B-472E-8395-F14A2A18C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背景 2：futex、robust list 与线程退出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8E3375-1CAD-4E93-AF2E-551F7CB76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futex 是 Linux 用户态同步的核心：平时锁在用户态完成，只有等待/唤醒时才进入内核。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D58041-6334-4B76-9A1C-3439A72A2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52650"/>
            <a:ext cx="3190875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F5EDC6-F9ED-4C3A-A3C2-53772346E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52650"/>
            <a:ext cx="47625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A81369-5B34-479C-9502-DC04CABD3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27336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futex 是什么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AE1F9D-76C6-4E0E-899A-8087F632D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81300"/>
            <a:ext cx="2733675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用户态锁先用原子指令竞争；竞争失败时用 futex syscall 让线程睡眠，释放锁时再由内核唤醒等待者。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D3C0A1-8E45-4CAA-9BA5-2A2865F66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52650"/>
            <a:ext cx="3190875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28B116-E4FF-40F4-9107-73C34ED9C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52650"/>
            <a:ext cx="47625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CCCECE-C08E-41D7-937F-A0B85ECF1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362200"/>
            <a:ext cx="27336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robust list 是什么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FCD3A5-C07A-466E-9D02-A1F601ADA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781300"/>
            <a:ext cx="2733675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线程持有锁时退出，用户态可能来不及释放锁。Linux 让线程登记 robust list，内核在线程退出时扫描并修复遗留锁状态。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4632F9-9887-4264-A0D0-21C73C786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52650"/>
            <a:ext cx="3190875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E655B1-C5BE-47D8-B96A-D40636A50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52650"/>
            <a:ext cx="47625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C81C4C-8A63-43BB-BDC9-66BA8B093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362200"/>
            <a:ext cx="27336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为什么容易出错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F7B64F-93FD-4413-AAB1-FE4EC01EA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781300"/>
            <a:ext cx="2733675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robust list 指针来自用户态，本来就可能是坏地址；退出路径还常在复杂上下文里，不能因为清理失败再引入 panic。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59BAE8-6200-45A7-8765-511137B50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672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0F66E6-73F0-4B71-930C-8E9A291FC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762500"/>
            <a:ext cx="9296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老师问“OS 知识点”：这是用户态 pthread/mutex 与内核等待队列之间的 ABI。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95D475-FA97-482F-92E0-4F737AE5D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3625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09FBD1-B7EF-45A3-BED5-4AE72B4E0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257800"/>
            <a:ext cx="9296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真实 workload 里 build tool、runtime、pthread 都可能走这条路径；退出清理必须容错。</a:t>
            </a:r>
          </a:p>
        </p:txBody>
      </p:sp>
    </p:spTree>
    <p:extLst>
      <p:ext uri="{BB962C8B-B14F-4D97-AF65-F5344CB8AC3E}">
        <p14:creationId xmlns:p14="http://schemas.microsoft.com/office/powerpoint/2010/main" val="114858749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78192C2-B0D5-4AF5-9CF4-873034CC9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ADFDD2-4F93-4CEA-9C9B-2F188BE5C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5D77F7-8DCC-4F1B-B81E-5004D2EE1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B7C298-111E-4E14-936B-84B6D25E6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重点 PR 2：futex 与线程退出清理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C21961-5322-47BD-8CBF-DAE884C87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这个 PR 的重点是让线程退出路径能够安全处理坏 robust-list entry 和 pending futex。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8004A5-8556-4B02-9D6B-C4D57907D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495300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93C0BC-DA29-44DE-84C9-874B58D86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47625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A415DD-C448-40E3-96A4-E4B6D5BFC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86000"/>
            <a:ext cx="4495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问题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DDBAF9-C39B-40BA-A1E2-D8166FFD5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05100"/>
            <a:ext cx="449580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6637E2-F66F-4953-82C2-8166E3716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76450"/>
            <a:ext cx="495300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B1CCAD-4F23-44D1-A682-5951C621E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76450"/>
            <a:ext cx="47625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D7278F-D56F-4CF4-8284-550CD8EAE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86000"/>
            <a:ext cx="4495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修复与测例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8DFD64-C36E-4801-8422-1DDBEA5E3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705100"/>
            <a:ext cx="449580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2360A5-6604-4FD3-A835-22BEC1B56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24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44DFC2-EEF6-4336-986A-D01729726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81940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用户态可以传坏 robust-list 指针，内核不能因此拖垮退出路径。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FDDD92-0F8E-4C80-AF71-ED3B26452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766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91806D-637A-4A74-9F12-9B8836DDC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7185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pending futex 与普通 entry 混在一起，会让 pthread 退出/回收变得脆弱。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6CFC9A-6190-4063-B9DA-D0C081909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924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A45ACD-5A09-4856-9CF8-9E903ED54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81940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坏 entry 容错清理，pending 单独处理。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DB1B3C-E891-44A4-B1C0-3A5994AF2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4766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C3B15D-6157-4F09-B131-891D1515C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37185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测例：test-futex-robust-list。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177CFF0-0284-4A9A-8A4F-1D5580B39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0290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027D98-48AF-4C13-850F-612B43D69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92430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关联：teardown/context usercopy 修复退出路径。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FDA237E-3785-4F56-BA88-223C2F54D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096000"/>
            <a:ext cx="1047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76200" rIns="76200" bIns="762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成果：退出清理路径可以安全处理用户态异常输入，避免单个坏 robust-list 破坏进程回收流程。</a:t>
            </a:r>
          </a:p>
        </p:txBody>
      </p:sp>
    </p:spTree>
    <p:extLst>
      <p:ext uri="{BB962C8B-B14F-4D97-AF65-F5344CB8AC3E}">
        <p14:creationId xmlns:p14="http://schemas.microsoft.com/office/powerpoint/2010/main" val="179705430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7DE8684-4929-45AE-861F-E877FE608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885BF1-170F-402D-8202-AEBD9DD23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AD774A-7B6F-4863-8F8C-E34CFAE06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064858-1A08-48F0-8050-E492895A9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背景 3：VFS、tmpfs、ext4 与真实应用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FF4C3C-40BC-4FC5-812E-CB4FF9648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Linux 应用看到的是统一的文件系统接口，但内核底下可能是内存文件系统、ext4、设备节点或 proc/sysfs。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ABED9D-A3C0-4E58-BCDD-6DDDBDF96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52650"/>
            <a:ext cx="319087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CEFA5C-97BA-4B62-8B3F-5F5441135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52650"/>
            <a:ext cx="4762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1C3FE3-2A6C-4CD7-AD55-46E9C551C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27336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VFS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3D96FB-7923-4CF4-8D68-39289113F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81300"/>
            <a:ext cx="273367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VFS 是统一抽象：open/read/write/rename/unlink/getdents 等 syscall 不直接绑定某一种磁盘格式。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F68335-A279-4D63-AF86-2CD55A0F2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52650"/>
            <a:ext cx="319087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85F1B7-2223-43AC-BC5F-46D10BC4E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52650"/>
            <a:ext cx="4762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7164D3-B50C-4FEA-B2F8-A0B46E2A2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362200"/>
            <a:ext cx="27336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tmpfs / ext4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A73E35-3012-4E4F-ADE7-048205114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781300"/>
            <a:ext cx="273367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tmpfs 主要在内存里维护目录项和文件对象；ext4 需要管理 inode、bitmap、block group 等磁盘元数据。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0C3266-B7F5-4C76-8B67-E234F029E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52650"/>
            <a:ext cx="319087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4B8CD5-5996-498F-9027-252D71607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52650"/>
            <a:ext cx="4762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E4A9F1-4045-4AD3-9927-F96C4109B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362200"/>
            <a:ext cx="27336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Cargo 压力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9934DF-5C2C-470A-8080-9BE198616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781300"/>
            <a:ext cx="273367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cargo 编译会制造大量小文件、临时文件、rename、unlink、目录扫描和设备/pipe I/O，是检验 VFS 语义的真实压力源。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5601E8-92E9-4826-A30D-AE6DD3349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482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C77E57-B39E-46B7-A3A6-5D22BBB79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743450"/>
            <a:ext cx="9296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老师问“为什么 FS 会影响编译”：因为 target 目录几乎全是 metadata 和小文件操作。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B062F2-C0BC-4ECF-A686-87F339573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343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FC5CC8-5E09-4913-AA89-194295437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238750"/>
            <a:ext cx="9296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这类 bug 往往不是单个命令失败，而是大量组合操作后出现目录项、inode 或短读写语义偏差。</a:t>
            </a:r>
          </a:p>
        </p:txBody>
      </p:sp>
    </p:spTree>
    <p:extLst>
      <p:ext uri="{BB962C8B-B14F-4D97-AF65-F5344CB8AC3E}">
        <p14:creationId xmlns:p14="http://schemas.microsoft.com/office/powerpoint/2010/main" val="210894480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087F6A6-073E-4307-9F2E-0EB32021B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F2E562-65F0-4461-A579-EE68A9B85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FFB316-E746-4C4E-B924-CC9885371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DE0977-6CAF-4AAB-A430-4F260F786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重点 PR 3：文件系统与 VFS 正确性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38748D-F9A7-40DB-BFD6-9926E71E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这一组 PR 面向真实应用的文件系统访问模式，补齐 inode 分配、rename/exec 和设备传输语义。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C034BF-8720-4928-A605-B0A9BB19B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90750"/>
            <a:ext cx="3143250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D02E94-C17B-44EB-8C99-C7FBD6F09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90750"/>
            <a:ext cx="47625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139B51-A2BD-4060-B541-43A71F03B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00300"/>
            <a:ext cx="2686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#695 rsext4 inode bitmap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3AAF67-BCAB-456C-8432-B4067FFCC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19400"/>
            <a:ext cx="26860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ext4 block group 可标记 inode bitmap 未初始化；allocator 需要识别并初始化，再继续分配 inode。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984846-9942-4D23-9619-890D73B7B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190750"/>
            <a:ext cx="3143250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708972-E126-486A-8825-0BE11E7A7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190750"/>
            <a:ext cx="47625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4ED3FC-C44A-4470-91E4-E4F4CD8E6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400300"/>
            <a:ext cx="2686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#844 tmpfs rename exec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909E1E-840A-4A27-ADD7-871A9D946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819400"/>
            <a:ext cx="26860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tmpfs 的目录项和可执行文件生命周期要一致；rename/unlink 不能让后续 exec/open 看到错乱状态。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189CAB-5A35-43FD-985F-6DE80781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90750"/>
            <a:ext cx="3143250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94AFB7-A3A3-43A5-A6B3-5653840E2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90750"/>
            <a:ext cx="47625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E8AF04-0652-48AE-89C6-B7B8B4BA3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00300"/>
            <a:ext cx="2686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#800 device transfer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6E01A6-AB4F-4A7A-A71D-DA9AB60E5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819400"/>
            <a:ext cx="26860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VFS 设备节点读写要遵守完整 transfer 语义，否则 busybox、构建脚本等用户态工具会拿到短读写。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0452F0-9F21-44CC-83C7-C520CBAC9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096000"/>
            <a:ext cx="1047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76200" rIns="76200" bIns="762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成果：文件系统层面对真实应用的目录项、inode 和设备 I/O 行为更加接近 Linux 预期。</a:t>
            </a:r>
          </a:p>
        </p:txBody>
      </p:sp>
    </p:spTree>
    <p:extLst>
      <p:ext uri="{BB962C8B-B14F-4D97-AF65-F5344CB8AC3E}">
        <p14:creationId xmlns:p14="http://schemas.microsoft.com/office/powerpoint/2010/main" val="205863803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E68D07D-2E60-4641-A275-2A4A31B76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7AB6BC-A8A0-4330-89FB-419A2FCE7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D4D4BA-BAA3-42B0-9087-B13D6A147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7D9BD5-716D-491A-A4EC-00230B65A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实验 4：StarryOS guest 内自举编译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CC458D-CD5D-4528-A67F-B3D1C7D49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实验目标是在 StarryOS userland 中运行 cargo build，完成 StarryOS 自身构建并输出 PASS marker。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CF4EA0-9C9F-4CFE-A3D0-DEA32768D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24150"/>
            <a:ext cx="1524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D1742C-2655-42DD-BB56-D84CCCB07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00375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启动内核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89060F-0185-4970-8962-7FE13F4F6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133725"/>
            <a:ext cx="723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2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9EF93F-5255-4E08-825C-7832AFA2F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724150"/>
            <a:ext cx="1524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268B67-B191-4AA7-8C02-D91DAE44C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0375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A42B8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6A42B8"/>
                </a:solidFill>
                <a:latin typeface="PingFang SC"/>
                <a:ea typeface="PingFang SC"/>
                <a:cs typeface="PingFang SC"/>
              </a:rPr>
              <a:t>挂载 rootfs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51E0BB-6397-4D0B-A5BB-275B99B41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133725"/>
            <a:ext cx="723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46D6A3-7A71-4442-965C-E2458411C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724150"/>
            <a:ext cx="1524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6AE98F-1D2B-487F-B7B3-333E20DA0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000375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45A18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C45A18"/>
                </a:solidFill>
                <a:latin typeface="PingFang SC"/>
                <a:ea typeface="PingFang SC"/>
                <a:cs typeface="PingFang SC"/>
              </a:rPr>
              <a:t>运行 cargo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998446-1A91-4EEC-969C-9479EC58E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133725"/>
            <a:ext cx="723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24C42D-FA24-4D14-BF39-D802DD126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724150"/>
            <a:ext cx="1524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750872-41AA-484D-9CC6-BC32CABC7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000375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48A5A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48A5A"/>
                </a:solidFill>
                <a:latin typeface="PingFang SC"/>
                <a:ea typeface="PingFang SC"/>
                <a:cs typeface="PingFang SC"/>
              </a:rPr>
              <a:t>定位 ELF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C4BC9D-5274-4818-BEFB-75151619A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133725"/>
            <a:ext cx="723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7620B2-747E-49D5-8D7E-9141C6CBF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724150"/>
            <a:ext cx="1524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78351D-760A-4EF2-87D3-C187E3F76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000375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42318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B42318"/>
                </a:solidFill>
                <a:latin typeface="PingFang SC"/>
                <a:ea typeface="PingFang SC"/>
                <a:cs typeface="PingFang SC"/>
              </a:rPr>
              <a:t>PASS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BC5375-E545-420A-9937-6C195E72A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5053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EA1313-C056-4A50-AF08-76FC0ADA7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400550"/>
            <a:ext cx="9582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宿主对齐参考：同 StarryOS kernel 配置、同 target/profile，host cargo j1=85s，j8=29s。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6E527F9-2A4C-4BEA-B3F3-89FD7AD07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962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260C899-BA01-44F4-B94F-D45C474FC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857750"/>
            <a:ext cx="9582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guest 最优：AArch64/HVF 8 核 StarryOS guest，完整 self-build 331s。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C0F9524-DC6D-49D4-9009-DD9EED9F9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419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5661A72-3E27-4F11-A38E-1B6A35739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314950"/>
            <a:ext cx="9582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判据：进入 userland、找到 rootfs 内 StarryOS ELF、打印 PASS、无 panic/trap/FATAL/error。</a:t>
            </a:r>
          </a:p>
        </p:txBody>
      </p:sp>
    </p:spTree>
    <p:extLst>
      <p:ext uri="{BB962C8B-B14F-4D97-AF65-F5344CB8AC3E}">
        <p14:creationId xmlns:p14="http://schemas.microsoft.com/office/powerpoint/2010/main" val="70253398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BFDE00E-B470-4B59-8FA9-7EC2037CE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A13C81-C625-4423-86A9-2AD5E7A1C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AC2DA3-3027-459E-B7F8-4FAA91369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27B7C6-A89A-4420-B501-6DBB2D3CE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多核编译性能结果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F8B8DA-FA5A-45B5-9BF1-FA41FCD28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通过脚本和构建参数调节，guest 完整 self-build 从 951s 降到 331s，约 3 倍，已稳定进入 400s 内。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ED8CE7-A3EF-4C4B-9119-3E795BB04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381250"/>
            <a:ext cx="20002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E1BE2B-B99A-4F13-AB54-C6FACA50B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381250"/>
            <a:ext cx="2000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FBFBA7-6349-4555-9BD0-8C91829B0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628900"/>
            <a:ext cx="1657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B4231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B42318"/>
                </a:solidFill>
                <a:latin typeface="PingFang SC"/>
                <a:ea typeface="PingFang SC"/>
                <a:cs typeface="PingFang SC"/>
              </a:rPr>
              <a:t>951s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C1FFDA-884F-4A33-A77D-9AD3ACEBE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09562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最慢 guest baseline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03391A-9C35-4E4C-91E3-41519ECAC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381250"/>
            <a:ext cx="20002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D545B1-BFC2-45A5-961C-DEC2B0B6F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381250"/>
            <a:ext cx="2000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14C0C4-CE2E-4FCC-8C14-24574C2AB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628900"/>
            <a:ext cx="1657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C45A1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C45A18"/>
                </a:solidFill>
                <a:latin typeface="PingFang SC"/>
                <a:ea typeface="PingFang SC"/>
                <a:cs typeface="PingFang SC"/>
              </a:rPr>
              <a:t>642s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7B9E6B-1B37-4F87-9520-1860613D2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09562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默认 8 核 guest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11AE73-7E3B-4C60-9642-B4538651B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2381250"/>
            <a:ext cx="20002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9D9192-C9AE-46C1-8716-B12F8E838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2381250"/>
            <a:ext cx="2000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DBDCA9-038E-4E2F-9B6F-884255B83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2628900"/>
            <a:ext cx="1657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48A5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48A5A"/>
                </a:solidFill>
                <a:latin typeface="PingFang SC"/>
                <a:ea typeface="PingFang SC"/>
                <a:cs typeface="PingFang SC"/>
              </a:rPr>
              <a:t>331s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E8E2AA-484D-4D3B-B064-5FAC7B0C8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309562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当前最快 guest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981F16-30F3-4A93-9189-063EA5EC5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381250"/>
            <a:ext cx="20002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03F52D-4D0B-4E57-BF8A-0299C4BEA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381250"/>
            <a:ext cx="2000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EBF7F9-907F-41D6-902B-511D9DEC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628900"/>
            <a:ext cx="1657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29s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C4619C-892B-4F9D-98BE-20EC30238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09562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host cargo j8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E2600B-D9F6-4F35-A634-6F5263ACE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2381250"/>
            <a:ext cx="15240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504E9B-3A1C-4841-9A34-8FD53C921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23812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2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35EE577-EC8F-4677-9799-71D4E81C3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2628900"/>
            <a:ext cx="1181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6A42B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6A42B8"/>
                </a:solidFill>
                <a:latin typeface="PingFang SC"/>
                <a:ea typeface="PingFang SC"/>
                <a:cs typeface="PingFang SC"/>
              </a:rPr>
              <a:t>85s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8BDFD6-7BCC-4646-A208-D5A0E3312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3095625"/>
            <a:ext cx="1181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host cargo j1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CBBC67-D4F9-4FB6-A6EE-10BC8E563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95750"/>
            <a:ext cx="9677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4DEDB88-60C7-4410-8DBE-D1B5848EE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267200"/>
            <a:ext cx="4381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8A5A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48A5A"/>
                </a:solidFill>
                <a:latin typeface="PingFang SC"/>
                <a:ea typeface="PingFang SC"/>
                <a:cs typeface="PingFang SC"/>
              </a:rPr>
              <a:t>端到端真正收益：951s / 331s = 2.87x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B2E64F6-5C0B-48B6-931A-6D160305E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591050"/>
            <a:ext cx="4381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45A18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C45A18"/>
                </a:solidFill>
                <a:latin typeface="PingFang SC"/>
                <a:ea typeface="PingFang SC"/>
                <a:cs typeface="PingFang SC"/>
              </a:rPr>
              <a:t>guest 编译并行：422s / 341s = 1.24x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97D6F5F-31B8-42D8-848F-9FF451C4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267200"/>
            <a:ext cx="4095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host 对齐参考：85s / 29s = 2.93x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8EEEE4F-AB90-49CB-A18A-7AA7AA58F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591050"/>
            <a:ext cx="4095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A42B8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6A42B8"/>
                </a:solidFill>
                <a:latin typeface="PingFang SC"/>
                <a:ea typeface="PingFang SC"/>
                <a:cs typeface="PingFang SC"/>
              </a:rPr>
              <a:t>链接/串行尾段：642s / 427s = 1.50x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B5BEEEA-6C34-4119-BAD9-9F5A79B8D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972050"/>
            <a:ext cx="8858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注：host 与 guest 编译同一 AArch64/SMP8 StarryOS kernel；host 不进入 guest，链接项不是独立 link-only benchmark。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0E1617F-60C5-4769-9F5E-FBD06016E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096000"/>
            <a:ext cx="1047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76200" rIns="76200" bIns="762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结论：完整 guest self-build 已完成；并行收益受 Cargo critical path、guest OS/FS/SMP 和串行尾段共同限制。</a:t>
            </a:r>
          </a:p>
        </p:txBody>
      </p:sp>
    </p:spTree>
    <p:extLst>
      <p:ext uri="{BB962C8B-B14F-4D97-AF65-F5344CB8AC3E}">
        <p14:creationId xmlns:p14="http://schemas.microsoft.com/office/powerpoint/2010/main" val="195312647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831939E-97C2-49A5-9193-620986EA7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3717BD-A7EE-44E4-9B76-1CF04FC6C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8B89E8-4F1C-4555-BF93-CCFB18617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C7AA52-7E90-42BD-BAAD-DEE570045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性能模型与测试细项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AACEC7-05AC-4A54-9FDE-2478FFD73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每个瓶颈都用接近 Cargo 行为的微基准拆开验证，而不是只给粗略归因。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ECD081-1026-49BD-A89E-69B78F29F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62150"/>
            <a:ext cx="103632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76200" rIns="76200" bIns="762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T_build(N) = T_std/cache + T_serial + T_parallel/N + T_fs(N) + T_smp(N) + T_wait(N)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471581-F962-4107-81CE-0020AC70C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257175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315EBB-A937-4CF6-80F3-154586A87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47625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303516-4A37-4767-A073-1690D4DFA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57550"/>
            <a:ext cx="2114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进程链路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7DD74D-971E-4DEE-8BE3-BBE79BA47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76650"/>
            <a:ext cx="21145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fork/exec/wait 1000 次：20/11/5/3s，8 路 6.67x。模拟 cargo 反复 spawn rustc。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F72FAA-5FAC-4720-8797-4AF0E8809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048000"/>
            <a:ext cx="257175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2E8CF1-7A20-43D9-B879-4233E3E5D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048000"/>
            <a:ext cx="47625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BC0237-8AA7-4D3E-A3BE-9D5355031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257550"/>
            <a:ext cx="2114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短任务 wave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31C116-F826-4238-89C0-89A2142C5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676650"/>
            <a:ext cx="21145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24 个 build-script：27/22/27/32/32s。2 路最快，过并行会被 OS/FS/SMP 成本吃掉。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3BD0D2-67D8-4474-AF5C-1B39B5709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048000"/>
            <a:ext cx="257175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52B094-8A09-4F28-8E08-7369B4943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048000"/>
            <a:ext cx="47625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49D8E4-D9AF-4114-AAC2-F757C2EF6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57550"/>
            <a:ext cx="2114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FS metadata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37825E-5C22-4D57-90CF-CA5F0E065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676650"/>
            <a:ext cx="21145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rsext4 fileio jobs=8：47.5s→14.5s。模拟 target 小文件 create/write/rename/unlink。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CCECAE-2DA6-474E-8C24-6EE98AA27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048000"/>
            <a:ext cx="257175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FC0944-FC45-4833-9A4E-8DC449503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048000"/>
            <a:ext cx="47625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2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FC5C74-440B-4A9A-A74F-5F5E6D6D2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257550"/>
            <a:ext cx="2114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宿主/QEMU参考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E692BF4-6E44-4B38-8452-9D064A408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676650"/>
            <a:ext cx="21145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host 同构建任务 85/29=2.93x；guest jobs-only 422/341=1.24x。raw CPU MTTCG 3.17x 不作 RISC-V correctness。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F1F24C-4670-4BCE-A5DE-B8EBA54A6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72050"/>
            <a:ext cx="10287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final link timestamp：artifact tail 约 2s，starry-kernel 后段约 17-20s；331s 版本主瓶颈不是纯链接。</a:t>
            </a:r>
          </a:p>
        </p:txBody>
      </p:sp>
    </p:spTree>
    <p:extLst>
      <p:ext uri="{BB962C8B-B14F-4D97-AF65-F5344CB8AC3E}">
        <p14:creationId xmlns:p14="http://schemas.microsoft.com/office/powerpoint/2010/main" val="148588800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E8A0E5B-6BCA-4A6A-9DF8-1283F3E57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1C81A2-1054-4D0D-AC8D-6D4661CD7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5FA5F1-3704-43E0-90D4-67BB37DBA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76E659-096D-4F94-AD32-000D4A6B7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SMP8 CPU 利用率与阶段分析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E4B58E-6B4E-4F6E-AF78-3B74D844C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诊断 run 使用 GUEST_CPU_MONITOR=1 和 cargo JSON timing，耗时 457s；监控有开销，但能解释 8 核为什么没有线性加速。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27B639-FF99-444D-818D-A0D707D09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14550"/>
            <a:ext cx="7239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7B030E-AD6D-43BC-A9A7-3AD20CC15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171950"/>
            <a:ext cx="6305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C7944E-0160-46ED-987F-7AC6DAB2E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7670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0%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C64E12-2169-47E7-B0A6-6D154F779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743325"/>
            <a:ext cx="6305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B9FEAA-1992-4501-B5B2-DCF4A87E1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48075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25%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1C7267-69A8-4DF2-B88E-C4D9F03F0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314700"/>
            <a:ext cx="6305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E7A658-91EC-4823-8669-F5D40D3A0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194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50%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7C045B-B2A1-4AEC-A000-C0CBD3900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886075"/>
            <a:ext cx="6305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703162-0D65-430A-A31C-3931A8018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90825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75%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776B0E-52F7-455F-8F8A-165ABFA1D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457450"/>
            <a:ext cx="6305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A0D0FB-789C-473A-8C80-7EADA4B42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6220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100%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1AEC16-C211-4965-B03B-3901CFC20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023235"/>
            <a:ext cx="876300" cy="11487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1B7353-739C-4992-9CC0-D2C92C634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775585"/>
            <a:ext cx="876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48A5A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148A5A"/>
                </a:solidFill>
                <a:latin typeface="PingFang SC"/>
                <a:ea typeface="PingFang SC"/>
                <a:cs typeface="PingFang SC"/>
              </a:rPr>
              <a:t>67%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5F942E-24DC-4C45-A2FF-C6B18BA35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267200"/>
            <a:ext cx="1066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0-90s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ECA3B9-68B7-41CD-831E-683FE43E4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5720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build-std/proc-macro 启动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1C01F1-9383-43F7-ABBA-6E6683145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80410"/>
            <a:ext cx="876300" cy="8915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C92AD6-FC82-4001-B0E0-A1F753CC4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032760"/>
            <a:ext cx="876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45A18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C45A18"/>
                </a:solidFill>
                <a:latin typeface="PingFang SC"/>
                <a:ea typeface="PingFang SC"/>
                <a:cs typeface="PingFang SC"/>
              </a:rPr>
              <a:t>52%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8BE13B8-2C9E-4EF4-81D3-1FE7491E3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267200"/>
            <a:ext cx="1066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90-180s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2AA3509-B9B2-4C58-BCEE-8E7AD9B7E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720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core/compiler_builtins 长链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4CF092F-CF5D-4F81-97F6-3B50E13CB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971800"/>
            <a:ext cx="8763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9160255-B6AE-48C5-A20F-BC9B683B8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724150"/>
            <a:ext cx="876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70%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EFAF548-214E-4212-9B4C-3542D05BF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267200"/>
            <a:ext cx="1066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180-270s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F3E8D2B-43CA-4707-AC8D-B6C110914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5720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crate 图中段并行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D49E57-2F38-4AFC-9CFD-AA1437F84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246120"/>
            <a:ext cx="876300" cy="9258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2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9CDA99C-970A-4756-A0A7-05EA52852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998470"/>
            <a:ext cx="876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6A42B8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6A42B8"/>
                </a:solidFill>
                <a:latin typeface="PingFang SC"/>
                <a:ea typeface="PingFang SC"/>
                <a:cs typeface="PingFang SC"/>
              </a:rPr>
              <a:t>54%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EAA6C8C-E568-4D54-ACF5-B07D11E27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267200"/>
            <a:ext cx="1066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270-360s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AD344E9-64EB-4C6B-A7E2-20FE83071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5720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FS/等待/短任务波动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FF4B51B-DCB8-4EAC-9C2C-75B978F26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794760"/>
            <a:ext cx="876300" cy="3771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95E863B-1039-48C1-AB02-7EC84D8FA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547110"/>
            <a:ext cx="876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B42318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B42318"/>
                </a:solidFill>
                <a:latin typeface="PingFang SC"/>
                <a:ea typeface="PingFang SC"/>
                <a:cs typeface="PingFang SC"/>
              </a:rPr>
              <a:t>22%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7981454-D6E4-4DE8-937C-B258550D9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267200"/>
            <a:ext cx="1066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360-457s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8760ED0-FDD3-42BA-9E28-D970980B9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5720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starry-kernel / final tail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0B81703-B521-48F0-91AE-9570892ED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14550"/>
            <a:ext cx="25717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0C5D73E-2BB6-4093-9DFD-9F21318AF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14550"/>
            <a:ext cx="47625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88EBCDC-F898-4341-A6D9-AB6AB6637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324100"/>
            <a:ext cx="2114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怎么看这张图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B262123-D79F-470D-92E0-E13C05582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743200"/>
            <a:ext cx="21145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前中段能吃到并行，但并不是 8 核常满；后段掉到低利用率，说明瓶颈转成 Cargo critical path、单个大 crate codegen、文件系统 metadata 与 wait/wakeup。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817D0C6-F95B-4AAB-A659-0FF092990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752850"/>
            <a:ext cx="25717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1970771-9979-4353-8958-137D48B10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752850"/>
            <a:ext cx="47625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F072008-183B-4E03-9E02-3F5A0D2B2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962400"/>
            <a:ext cx="2114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监控暴露的问题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2496F5D-BC6E-41E7-89F0-63F6BF43A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381500"/>
            <a:ext cx="21145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旧 /proc/stat aggregate 曾出现非单调，说明 CPU 计数本身也需要内核修复；因此这里同时结合 cargo JSON timing 与微基准解释。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AE509B7-0BD6-4D71-946E-5120C4458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096000"/>
            <a:ext cx="1047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76200" rIns="76200" bIns="762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结论：8 核是有效的，但完整 cargo 的可并行段、OS 开销和串行尾段不均衡；下一步应优化 T_wait、T_fs、T_smp。</a:t>
            </a:r>
          </a:p>
        </p:txBody>
      </p:sp>
    </p:spTree>
    <p:extLst>
      <p:ext uri="{BB962C8B-B14F-4D97-AF65-F5344CB8AC3E}">
        <p14:creationId xmlns:p14="http://schemas.microsoft.com/office/powerpoint/2010/main" val="115777481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A53A104-0222-4948-A57F-4030B6001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DBE5C5-B777-42D7-A58F-26227F0B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4F35D6-7FBB-42A4-BC3C-C26591CBA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293DBB-7506-446F-A978-4E7BF5DB2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对齐对比：为什么 host 能 2.93x，guest 只有 1.24x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E6958E-2528-4B0B-BF94-B9A55BD73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这页把同一 StarryOS kernel 构建任务的 host 参考和 guest jobs-only 放在一起，说明差距来自哪里。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900CCA-3F84-48DA-B6AF-1C70C7146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66950"/>
            <a:ext cx="28575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05B6F5-CA80-41F9-AC52-BAD08D7D3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66950"/>
            <a:ext cx="2857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8F9E61-046C-40EC-9EA3-4E8187753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514600"/>
            <a:ext cx="2514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85s -&gt; 29s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4C5BE3-CEA9-4941-BBC8-E9CF9E467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981325"/>
            <a:ext cx="2514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host 对齐参考，2.93x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CAAB35-D72F-4B94-9E8A-39C143D48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266950"/>
            <a:ext cx="28575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449475-778A-4FBF-9D9A-E4E97D77A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266950"/>
            <a:ext cx="2857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9BF56E-79E8-45F7-8FF9-85C6B296B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514600"/>
            <a:ext cx="2514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C45A1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C45A18"/>
                </a:solidFill>
                <a:latin typeface="PingFang SC"/>
                <a:ea typeface="PingFang SC"/>
                <a:cs typeface="PingFang SC"/>
              </a:rPr>
              <a:t>422s -&gt; 341s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DEE8A8-0AE0-4D6B-9E8E-DF57D40D4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981325"/>
            <a:ext cx="2514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guest jobs-only，1.24x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2EEE6E-590A-4BED-8CD6-8ECEA62E1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66950"/>
            <a:ext cx="28575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C5E611-603D-40AE-AF86-EB03AC0E7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66950"/>
            <a:ext cx="2857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A2424B-9690-4255-804E-641FF9079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514600"/>
            <a:ext cx="2514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48A5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48A5A"/>
                </a:solidFill>
                <a:latin typeface="PingFang SC"/>
                <a:ea typeface="PingFang SC"/>
                <a:cs typeface="PingFang SC"/>
              </a:rPr>
              <a:t>951s -&gt; 331s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FDC4B2-139F-429A-A7CB-9E62AE737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981325"/>
            <a:ext cx="2514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guest 端到端调优，2.87x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E3B79A-FE37-4776-86D6-7441F71BE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95750"/>
            <a:ext cx="28575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2506B8-8DBA-40D2-9DFB-21C166AB9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95750"/>
            <a:ext cx="4762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4EA8B0-515C-4975-97D4-093311B4E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305300"/>
            <a:ext cx="2400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Host 参考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A40B9D-C697-4BA1-A16F-B686AA9DA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724400"/>
            <a:ext cx="2400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同源码、同 AArch64/SMP8 kernel config、同 release profile；cargo/rustc 跑在宿主机。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8FE219-005E-494D-9A71-990A93D8B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95750"/>
            <a:ext cx="28575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471BA4-28A2-4DB2-8AF5-098B9DE06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95750"/>
            <a:ext cx="4762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917D39-85E6-48B0-8B7C-FF589CC9F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305300"/>
            <a:ext cx="2400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Guest 真实承载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FFC608A-F46B-4277-A507-0DC3CA85A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724400"/>
            <a:ext cx="2400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同 profile 只改 jobs，但要承担 syscall、VFS、scheduler、pipe/wait 和虚拟化边界。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CD4699B-86B6-4939-8FCE-F949D071B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095750"/>
            <a:ext cx="28575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90CDE5-8C74-4F77-940D-165665636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095750"/>
            <a:ext cx="4762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0C9DF59-B0FF-462D-94D8-0E7857146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305300"/>
            <a:ext cx="2400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结论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E9C9CD1-508E-40A2-BBD5-681CFC633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724400"/>
            <a:ext cx="2400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并行空间存在；full cargo 的剩余差距来自 OS 短任务成本和串行尾段叠加。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68AF260-E4E6-4A8A-B240-7153FA814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096000"/>
            <a:ext cx="1047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76200" rIns="76200" bIns="762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现场讲法：host 是可并行上界；guest 是 OS 真实承载能力；两者差距就是本实验定位和修复的对象。</a:t>
            </a:r>
          </a:p>
        </p:txBody>
      </p:sp>
    </p:spTree>
    <p:extLst>
      <p:ext uri="{BB962C8B-B14F-4D97-AF65-F5344CB8AC3E}">
        <p14:creationId xmlns:p14="http://schemas.microsoft.com/office/powerpoint/2010/main" val="65041088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3144A38-32E2-4985-9607-D4EDA41DF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C58BB6-60E3-429A-9465-832F5A753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307199-6829-4EC0-9637-DA5EBA45C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18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446F26-8D17-429A-8CC0-29173331D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成因拆解：Cargo、OS、QEMU 分别承担什么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851AED-00CD-4647-B4B1-349706A46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最后把瓶颈按归属拆清楚，避免把所有慢都归因给 QEMU 或 Cargo。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4D7D4F-67E4-4A9C-B87B-F04A1D5BF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114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观测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6073A9-896B-44DA-A2D1-CDF200E35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152650"/>
            <a:ext cx="114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归因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521E21-C4F4-4138-8846-E08B31741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15265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已经做了什么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D927AE-AFD0-4BF9-80DD-1F28F3410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2095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4E4706-02AB-4B76-9F78-911AE0891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57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2A2C89-9792-4756-8DF5-4FE732271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1619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host 2.93x</a:t>
            </a:r>
          </a:p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但 guest jobs-only 1.24x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D29D36-4F0B-458D-A11D-07C161E2E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81940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6C94D6-1250-4548-AF13-B132E59A6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590800"/>
            <a:ext cx="3086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Cargo 图有并行空间；差距主要出在 guest 运行成本。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664B5B-C96B-4CB6-82D0-0B0F6AEB3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81940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F1CF8A-E747-4F15-B53C-79A20FF0F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590800"/>
            <a:ext cx="3810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对齐 host/guest profile，拆分 syscall、VFS、scheduler、QEMU 边界。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93F827-9DDC-4F9E-8489-A108D6D7E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2095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89E36E-C045-4E17-9A07-7C30AC5CE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57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B55684-340A-4E23-B37A-74355B19C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90900"/>
            <a:ext cx="1619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fork/exec/wait</a:t>
            </a:r>
          </a:p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8 路 6.67x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00C4E8-866D-47B9-8956-CFA09AA5F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5623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89BFFA-B4CE-43B4-BF77-A063B2DA3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333750"/>
            <a:ext cx="3086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进程创建和等待这条 OS 热路径本身可以扩展。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360832-8A2D-48C8-B52E-371A64692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5623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AA2E27-594F-4BBD-986B-75B3B512D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333750"/>
            <a:ext cx="3810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#842 CPU topology、#926 wakeup progress、#879 RawMutex handoff。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BCD932-94AF-489D-9F43-8712AFB05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57650"/>
            <a:ext cx="2095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204F7E-F128-4980-881A-3C896F5B7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57650"/>
            <a:ext cx="57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FF5A7CC-98A9-4D37-91A1-CF2A8AEFF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133850"/>
            <a:ext cx="1619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build-script wave</a:t>
            </a:r>
          </a:p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2 路最快，8 路变慢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A1F7EC-9F8F-47D4-8E27-5201CC403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30530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C12B6E4-0985-440E-93AD-B382E2468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076700"/>
            <a:ext cx="3086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Cargo 短任务过并行后，被 pipe/wait、文件 metadata 和锁竞争反吃。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C733029-86DC-48F8-8594-E578965B0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30530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A759F7-0DB0-4F01-A74F-11963499B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076700"/>
            <a:ext cx="3810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用短基准定位 T_wait(N)、T_fs(N)、T_smp(N)，避免只等完整 build。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BD0B9A-0ACA-4B2C-8EE5-912E84889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2095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CAF0705-F1F1-4245-8B59-DD6215DDD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57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2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FE4FF33-F1EA-4901-9ACF-60352C908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76800"/>
            <a:ext cx="1619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final link tail</a:t>
            </a:r>
          </a:p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约 2s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BCB1269-347D-4448-BEBB-1EAECB698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50482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2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466C2FB-3FE8-4B27-8CCE-4B8E0C2B5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819650"/>
            <a:ext cx="3086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331s 版本主瓶颈不是纯链接器，而是 build graph 和 codegen 尾段。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BBBAB0F-DE62-422A-82C1-A637A7C3E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482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2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05FD31C-2987-457E-B9D0-24D4242B8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819650"/>
            <a:ext cx="3810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关闭 LTO、opt0、cgu256，串行尾段 642s -&gt; 427s。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6CBAECA-ED79-41DE-B87A-8AF31A02A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53100"/>
            <a:ext cx="102489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C3F72EE-72E3-4C20-86E4-F48182E61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886450"/>
            <a:ext cx="9677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结论：self-build 已跑通；多核不是无效，剩余瓶颈已拆成 Cargo critical path、OS 短任务成本和虚拟化边界三类。</a:t>
            </a:r>
          </a:p>
        </p:txBody>
      </p:sp>
    </p:spTree>
    <p:extLst>
      <p:ext uri="{BB962C8B-B14F-4D97-AF65-F5344CB8AC3E}">
        <p14:creationId xmlns:p14="http://schemas.microsoft.com/office/powerpoint/2010/main" val="198279761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2026-05-29T20:11:27.6970000Z</dcterms:created>
  <dcterms:modified xsi:type="dcterms:W3CDTF">2026-05-29T20:11:27.6970000Z</dcterms:modified>
</coreProperties>
</file>