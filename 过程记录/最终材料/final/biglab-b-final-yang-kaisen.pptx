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485f8726984e31" /><Relationship Type="http://schemas.openxmlformats.org/officeDocument/2006/relationships/extended-properties" Target="/docProps/app.xml" Id="R180837037d67456c" /><Relationship Type="http://schemas.openxmlformats.org/officeDocument/2006/relationships/officeDocument" Target="/ppt/presentation.xml" Id="R7576c4c8147840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3d9a6a2e9b405f"/>
  </p:sldMasterIdLst>
  <p:notesMasterIdLst>
    <p:notesMasterId xmlns:r="http://schemas.openxmlformats.org/officeDocument/2006/relationships" r:id="R360a55c2f12c468b"/>
  </p:notesMasterIdLst>
  <p:sldIdLst>
    <p:sldId xmlns:r="http://schemas.openxmlformats.org/officeDocument/2006/relationships" id="256" r:id="R55ac4a9168d24b11"/>
    <p:sldId xmlns:r="http://schemas.openxmlformats.org/officeDocument/2006/relationships" id="257" r:id="R8e9d67d423ce48ae"/>
    <p:sldId xmlns:r="http://schemas.openxmlformats.org/officeDocument/2006/relationships" id="258" r:id="R9ae4fe5dfaa84d34"/>
    <p:sldId xmlns:r="http://schemas.openxmlformats.org/officeDocument/2006/relationships" id="259" r:id="R7f014e88e9e54e9e"/>
    <p:sldId xmlns:r="http://schemas.openxmlformats.org/officeDocument/2006/relationships" id="260" r:id="Rd834c405e0ff4983"/>
    <p:sldId xmlns:r="http://schemas.openxmlformats.org/officeDocument/2006/relationships" id="261" r:id="R4267505e39034dda"/>
    <p:sldId xmlns:r="http://schemas.openxmlformats.org/officeDocument/2006/relationships" id="262" r:id="R4b597def42a14238"/>
    <p:sldId xmlns:r="http://schemas.openxmlformats.org/officeDocument/2006/relationships" id="263" r:id="R39c4e9ad957642f8"/>
    <p:sldId xmlns:r="http://schemas.openxmlformats.org/officeDocument/2006/relationships" id="264" r:id="R9549fa936384408f"/>
    <p:sldId xmlns:r="http://schemas.openxmlformats.org/officeDocument/2006/relationships" id="265" r:id="R1215d85c6eae413f"/>
    <p:sldId xmlns:r="http://schemas.openxmlformats.org/officeDocument/2006/relationships" id="266" r:id="Rd88cfe8e20aa40ce"/>
    <p:sldId xmlns:r="http://schemas.openxmlformats.org/officeDocument/2006/relationships" id="267" r:id="Rbb030c8505e544a0"/>
    <p:sldId xmlns:r="http://schemas.openxmlformats.org/officeDocument/2006/relationships" id="268" r:id="R0fcecc8376744809"/>
    <p:sldId xmlns:r="http://schemas.openxmlformats.org/officeDocument/2006/relationships" id="269" r:id="R7a04d7fd1a17402e"/>
    <p:sldId xmlns:r="http://schemas.openxmlformats.org/officeDocument/2006/relationships" id="270" r:id="R198d3d61769a44a3"/>
    <p:sldId xmlns:r="http://schemas.openxmlformats.org/officeDocument/2006/relationships" id="271" r:id="Rc7bbbf87dd8342c5"/>
    <p:sldId xmlns:r="http://schemas.openxmlformats.org/officeDocument/2006/relationships" id="272" r:id="Rfe850725d27241ad"/>
    <p:sldId xmlns:r="http://schemas.openxmlformats.org/officeDocument/2006/relationships" id="273" r:id="Rb1a557f2139542bd"/>
    <p:sldId xmlns:r="http://schemas.openxmlformats.org/officeDocument/2006/relationships" id="274" r:id="R8ed8a7c9460244b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d9a6a2e9b405f" /><Relationship Type="http://schemas.openxmlformats.org/officeDocument/2006/relationships/theme" Target="/ppt/theme/theme1.xml" Id="R5afec0ef73c7485e" /><Relationship Type="http://schemas.openxmlformats.org/officeDocument/2006/relationships/notesMaster" Target="/ppt/notesMasters/notesMaster1.xml" Id="R360a55c2f12c468b" /><Relationship Type="http://schemas.openxmlformats.org/officeDocument/2006/relationships/presProps" Target="/ppt/presProps.xml" Id="R7208cb9753074820" /><Relationship Type="http://schemas.openxmlformats.org/officeDocument/2006/relationships/viewProps" Target="/ppt/viewProps.xml" Id="Re99a441990264e94" /><Relationship Type="http://schemas.openxmlformats.org/officeDocument/2006/relationships/tableStyles" Target="/ppt/tableStyles.xml" Id="Rb6bebd5cff6d4f23" /><Relationship Type="http://schemas.openxmlformats.org/officeDocument/2006/relationships/slide" Target="/ppt/slides/slide1.xml" Id="R55ac4a9168d24b11" /><Relationship Type="http://schemas.openxmlformats.org/officeDocument/2006/relationships/slide" Target="/ppt/slides/slide2.xml" Id="R8e9d67d423ce48ae" /><Relationship Type="http://schemas.openxmlformats.org/officeDocument/2006/relationships/slide" Target="/ppt/slides/slide3.xml" Id="R9ae4fe5dfaa84d34" /><Relationship Type="http://schemas.openxmlformats.org/officeDocument/2006/relationships/slide" Target="/ppt/slides/slide4.xml" Id="R7f014e88e9e54e9e" /><Relationship Type="http://schemas.openxmlformats.org/officeDocument/2006/relationships/slide" Target="/ppt/slides/slide5.xml" Id="Rd834c405e0ff4983" /><Relationship Type="http://schemas.openxmlformats.org/officeDocument/2006/relationships/slide" Target="/ppt/slides/slide6.xml" Id="R4267505e39034dda" /><Relationship Type="http://schemas.openxmlformats.org/officeDocument/2006/relationships/slide" Target="/ppt/slides/slide7.xml" Id="R4b597def42a14238" /><Relationship Type="http://schemas.openxmlformats.org/officeDocument/2006/relationships/slide" Target="/ppt/slides/slide8.xml" Id="R39c4e9ad957642f8" /><Relationship Type="http://schemas.openxmlformats.org/officeDocument/2006/relationships/slide" Target="/ppt/slides/slide9.xml" Id="R9549fa936384408f" /><Relationship Type="http://schemas.openxmlformats.org/officeDocument/2006/relationships/slide" Target="/ppt/slides/slide10.xml" Id="R1215d85c6eae413f" /><Relationship Type="http://schemas.openxmlformats.org/officeDocument/2006/relationships/slide" Target="/ppt/slides/slide11.xml" Id="Rd88cfe8e20aa40ce" /><Relationship Type="http://schemas.openxmlformats.org/officeDocument/2006/relationships/slide" Target="/ppt/slides/slide12.xml" Id="Rbb030c8505e544a0" /><Relationship Type="http://schemas.openxmlformats.org/officeDocument/2006/relationships/slide" Target="/ppt/slides/slide13.xml" Id="R0fcecc8376744809" /><Relationship Type="http://schemas.openxmlformats.org/officeDocument/2006/relationships/slide" Target="/ppt/slides/slide14.xml" Id="R7a04d7fd1a17402e" /><Relationship Type="http://schemas.openxmlformats.org/officeDocument/2006/relationships/slide" Target="/ppt/slides/slide15.xml" Id="R198d3d61769a44a3" /><Relationship Type="http://schemas.openxmlformats.org/officeDocument/2006/relationships/slide" Target="/ppt/slides/slide16.xml" Id="Rc7bbbf87dd8342c5" /><Relationship Type="http://schemas.openxmlformats.org/officeDocument/2006/relationships/slide" Target="/ppt/slides/slide17.xml" Id="Rfe850725d27241ad" /><Relationship Type="http://schemas.openxmlformats.org/officeDocument/2006/relationships/slide" Target="/ppt/slides/slide18.xml" Id="Rb1a557f2139542bd" /><Relationship Type="http://schemas.openxmlformats.org/officeDocument/2006/relationships/slide" Target="/ppt/slides/slide19.xml" Id="R8ed8a7c9460244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a3c8298a3f443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45834c975c4203" /><Relationship Type="http://schemas.openxmlformats.org/officeDocument/2006/relationships/notesMaster" Target="/ppt/notesMasters/notesMaster1.xml" Id="R818b71bf7b5d42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53af2b7d474110" /><Relationship Type="http://schemas.openxmlformats.org/officeDocument/2006/relationships/notesMaster" Target="/ppt/notesMasters/notesMaster1.xml" Id="Rb35b73f344c446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ea0810828b4d4a" /><Relationship Type="http://schemas.openxmlformats.org/officeDocument/2006/relationships/notesMaster" Target="/ppt/notesMasters/notesMaster1.xml" Id="R9421d2ead1064e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69c09dac4644b5" /><Relationship Type="http://schemas.openxmlformats.org/officeDocument/2006/relationships/notesMaster" Target="/ppt/notesMasters/notesMaster1.xml" Id="Re4fa1acf584246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7ace99f1804798" /><Relationship Type="http://schemas.openxmlformats.org/officeDocument/2006/relationships/notesMaster" Target="/ppt/notesMasters/notesMaster1.xml" Id="R87df0e5b9fb14c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7ded624cda4ff5" /><Relationship Type="http://schemas.openxmlformats.org/officeDocument/2006/relationships/notesMaster" Target="/ppt/notesMasters/notesMaster1.xml" Id="R7ea1e34efa0f42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77d1bbf2c646fe" /><Relationship Type="http://schemas.openxmlformats.org/officeDocument/2006/relationships/notesMaster" Target="/ppt/notesMasters/notesMaster1.xml" Id="R136cfd63af1746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b505994b01474e" /><Relationship Type="http://schemas.openxmlformats.org/officeDocument/2006/relationships/notesMaster" Target="/ppt/notesMasters/notesMaster1.xml" Id="R86733ba8f50e4b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a2ac0c2d7e40c6" /><Relationship Type="http://schemas.openxmlformats.org/officeDocument/2006/relationships/notesMaster" Target="/ppt/notesMasters/notesMaster1.xml" Id="R91696a7bf6c244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3d8531fc0f44d4" /><Relationship Type="http://schemas.openxmlformats.org/officeDocument/2006/relationships/notesMaster" Target="/ppt/notesMasters/notesMaster1.xml" Id="Rddec6f75ecba4a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0b9a6a7dc746f8" /><Relationship Type="http://schemas.openxmlformats.org/officeDocument/2006/relationships/notesMaster" Target="/ppt/notesMasters/notesMaster1.xml" Id="Rf42e5749e68247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21a8c9740c493b" /><Relationship Type="http://schemas.openxmlformats.org/officeDocument/2006/relationships/notesMaster" Target="/ppt/notesMasters/notesMaster1.xml" Id="R99bb1c6f91de42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6327bbe9924d9f" /><Relationship Type="http://schemas.openxmlformats.org/officeDocument/2006/relationships/notesMaster" Target="/ppt/notesMasters/notesMaster1.xml" Id="R8a9dc2d16d4045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34e7d701aa45bd" /><Relationship Type="http://schemas.openxmlformats.org/officeDocument/2006/relationships/notesMaster" Target="/ppt/notesMasters/notesMaster1.xml" Id="Rc1844b0555ae46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dbe45e971b4195" /><Relationship Type="http://schemas.openxmlformats.org/officeDocument/2006/relationships/notesMaster" Target="/ppt/notesMasters/notesMaster1.xml" Id="R61d69cbb5c0f4fc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d4157b21324356" /><Relationship Type="http://schemas.openxmlformats.org/officeDocument/2006/relationships/notesMaster" Target="/ppt/notesMasters/notesMaster1.xml" Id="Rcbe1721c6eb749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ebd411d9174519" /><Relationship Type="http://schemas.openxmlformats.org/officeDocument/2006/relationships/notesMaster" Target="/ppt/notesMasters/notesMaster1.xml" Id="Rcca339faeeec40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7ba26bb7e04234" /><Relationship Type="http://schemas.openxmlformats.org/officeDocument/2006/relationships/notesMaster" Target="/ppt/notesMasters/notesMaster1.xml" Id="R1f451a38274644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780890c0da42e7" /><Relationship Type="http://schemas.openxmlformats.org/officeDocument/2006/relationships/notesMaster" Target="/ppt/notesMasters/notesMaster1.xml" Id="Rc635d63f2b4641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fd96b556d49c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b41ef710a6647f1" /><Relationship Type="http://schemas.openxmlformats.org/officeDocument/2006/relationships/slideLayout" Target="/ppt/slideLayouts/slideLayout2.xml" Id="Rc23696b8092341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696b8092341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10cb7c62e04e3d" /><Relationship Type="http://schemas.openxmlformats.org/officeDocument/2006/relationships/notesSlide" Target="/ppt/notesSlides/notesSlide1.xml" Id="R3a3f7ea3e1194d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d737a98c564e26" /><Relationship Type="http://schemas.openxmlformats.org/officeDocument/2006/relationships/notesSlide" Target="/ppt/notesSlides/notesSlide2.xml" Id="R9f379a006e5e4d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3754f270d42ff" /><Relationship Type="http://schemas.openxmlformats.org/officeDocument/2006/relationships/notesSlide" Target="/ppt/notesSlides/notesSlide3.xml" Id="R95607565d58e4d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84932bc01541ca" /><Relationship Type="http://schemas.openxmlformats.org/officeDocument/2006/relationships/notesSlide" Target="/ppt/notesSlides/notesSlide4.xml" Id="Re34d97efb2ab4e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dac1839fa34ef2" /><Relationship Type="http://schemas.openxmlformats.org/officeDocument/2006/relationships/notesSlide" Target="/ppt/notesSlides/notesSlide5.xml" Id="R7a61fa8549854c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b77ef3245c4e4b" /><Relationship Type="http://schemas.openxmlformats.org/officeDocument/2006/relationships/notesSlide" Target="/ppt/notesSlides/notesSlide6.xml" Id="Ra1bb59d3f12a42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d1288b4d674767" /><Relationship Type="http://schemas.openxmlformats.org/officeDocument/2006/relationships/notesSlide" Target="/ppt/notesSlides/notesSlide7.xml" Id="Re22442c3387c41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8b88b76a1547cd" /><Relationship Type="http://schemas.openxmlformats.org/officeDocument/2006/relationships/notesSlide" Target="/ppt/notesSlides/notesSlide8.xml" Id="R40475ea2e7ff4f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b61276d8ae4f0a" /><Relationship Type="http://schemas.openxmlformats.org/officeDocument/2006/relationships/notesSlide" Target="/ppt/notesSlides/notesSlide9.xml" Id="R36a49a6b431b48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3da9daa680494a" /><Relationship Type="http://schemas.openxmlformats.org/officeDocument/2006/relationships/notesSlide" Target="/ppt/notesSlides/notesSlide10.xml" Id="R75bc87b29c8644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1121fc0480422d" /><Relationship Type="http://schemas.openxmlformats.org/officeDocument/2006/relationships/notesSlide" Target="/ppt/notesSlides/notesSlide11.xml" Id="R56d39c3d667044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4a012b941c461e" /><Relationship Type="http://schemas.openxmlformats.org/officeDocument/2006/relationships/notesSlide" Target="/ppt/notesSlides/notesSlide12.xml" Id="R45d18095b1d84c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ac3e693167452e" /><Relationship Type="http://schemas.openxmlformats.org/officeDocument/2006/relationships/notesSlide" Target="/ppt/notesSlides/notesSlide13.xml" Id="R623c46de70544e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ab818405f04715" /><Relationship Type="http://schemas.openxmlformats.org/officeDocument/2006/relationships/notesSlide" Target="/ppt/notesSlides/notesSlide14.xml" Id="R1ec8c75ff5ab46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e2562ca0cf4936" /><Relationship Type="http://schemas.openxmlformats.org/officeDocument/2006/relationships/notesSlide" Target="/ppt/notesSlides/notesSlide15.xml" Id="R4dc9948c5e3f4f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a33116fcd04385" /><Relationship Type="http://schemas.openxmlformats.org/officeDocument/2006/relationships/image" Target="/ppt/media/image.png" Id="Re2f8b130aa904e22" /><Relationship Type="http://schemas.openxmlformats.org/officeDocument/2006/relationships/image" Target="/ppt/media/image.svg" Id="Rf11ab22f5eb74617" /><Relationship Type="http://schemas.openxmlformats.org/officeDocument/2006/relationships/notesSlide" Target="/ppt/notesSlides/notesSlide16.xml" Id="R9b74adfedef240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714ce301064209" /><Relationship Type="http://schemas.openxmlformats.org/officeDocument/2006/relationships/image" Target="/ppt/media/image2.png" Id="R7c59d89435c9485c" /><Relationship Type="http://schemas.openxmlformats.org/officeDocument/2006/relationships/image" Target="/ppt/media/image2.svg" Id="R82965283252d4f2c" /><Relationship Type="http://schemas.openxmlformats.org/officeDocument/2006/relationships/notesSlide" Target="/ppt/notesSlides/notesSlide17.xml" Id="R6eb4b9d69a974e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2e654ff21b49f8" /><Relationship Type="http://schemas.openxmlformats.org/officeDocument/2006/relationships/notesSlide" Target="/ppt/notesSlides/notesSlide18.xml" Id="R93813f4c856346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9d6e747fa64c28" /><Relationship Type="http://schemas.openxmlformats.org/officeDocument/2006/relationships/notesSlide" Target="/ppt/notesSlides/notesSlide19.xml" Id="Rc9ac08a048aa4d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B09C7-2484-470E-AC41-B1546F57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92565-6D71-4AD5-82E5-3326F66A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StarryOS 自举编译与内核改进成果汇报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D0246-D6ED-4C77-BC41-E81F43E8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BigLab-B 最终汇报 | 杨凯森 | 2026-05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78965-6E39-480A-A7D3-276AE082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主线：让 StarryOS 在 guest 内编译出 StarryOS 自己，过程分为两步推进。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D3156-3DBB-437E-B4AF-3DC512FD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3FD5E-02C5-49BD-8DA7-46D26853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18872-B0C9-4D4B-BEC1-412ED9AA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71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首先实现单核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A8034-EB43-4904-9722-F759E57C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48150"/>
            <a:ext cx="3295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先让 StarryOS 在 guest 环境中稳定完成一次自举编译，形成单核可复现基线。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8B481-7C8C-40AB-8FEC-1D5B394D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FEDB2-19DE-4A74-A9DA-42B49F1D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BF7D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BF7D0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EB15A-44E4-4CA9-B583-305DBD47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719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然后实现多核编译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12EF9-0CF7-4E21-BDB1-09EB2E9B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3295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再沿同一条链路推进多核，让 StarryOS 在 guest 内以多核方式完成自举编译。</a:t>
            </a:r>
          </a:p>
        </p:txBody>
      </p:sp>
    </p:spTree>
    <p:extLst>
      <p:ext uri="{BB962C8B-B14F-4D97-AF65-F5344CB8AC3E}">
        <p14:creationId xmlns:p14="http://schemas.microsoft.com/office/powerpoint/2010/main" val="1036448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55D22B-B627-4BFA-AF97-10781A86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2A27D-EFF5-47E5-AABD-40568CB3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6306D-68A6-4C4F-BC3E-18D263AA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AD57F-8369-4D76-ADAE-883A6469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BigLab-A：rCore Tutorial 章节训练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D95ED-D9F0-43F4-AC62-6289C8EC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基于 yks23/tg-rcore-tutorial，完成 ch1/ch2 基础、ch3-ch6 内核机制、ch8 综合 demo，以及 ch3-ch5 的 t2l10 扩展版本。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D788D-3F58-41E2-9BC4-84E9E824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371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7A522-C161-4F10-8F39-66FD2912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3679A-39C7-4507-B8CC-43CB7112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ch1-ch2：基础内核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7DEF6-F710-45B5-9C4E-032055DD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tg-rcore-tutorial-ch{1,2}-yks23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裸机启动、no_std/Rust、SBI/QEMU 运行；用户程序加载、trap/syscall 和批处理执行。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A33C3-8BE1-4370-81D3-55204DF5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3371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3075B-8BAF-439E-B260-7AEAD5A4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955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D90D0-632E-49EE-B9D1-19AB2FF1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0505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ch3 - ch6：核心 OS 机制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EC8EA-6F4A-418B-B9E0-467E35A9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2415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tg-rcore-tutorial-ch3/4/5/6-yks23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覆盖多道程序与时间片、地址空间与页表、进程 fork/exec/wait、文件系统与块设备。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3D09D-C27B-4333-9C4B-5427B799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371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F8DDF-8D6D-49BA-9566-38D2FD15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695989-3F16-4A9D-A8C3-3DDDB120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14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ch8 + t2l10：综合与扩展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B27DF-EF22-44B1-824D-389A1F91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914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tg-rcore-tutorial-ch8-yks23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ch{3,4,5}-yks23-t2l10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继续补线程/同步、图形或综合 demo，并对前几章做扩展版本。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E90CC-DBA2-4F30-9452-6F4B02C0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10401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B3487-9F13-4ED0-9AC7-D6F50C74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形成的能力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574F3-281B-487D-B1CE-1E694564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把 RISC-V、QEMU、trap、地址空间、进程、文件系统和同步这些基础机制跑通，为后续 StarryOS/TGOSKit 的真实 workload 修复打底。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29B42-C39F-4677-A004-0623D705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BigLab-A 的作用：不是泛泛完成基础实验，而是沿 rCore 章节把小内核的关键子系统逐步实现和验证。</a:t>
            </a:r>
          </a:p>
        </p:txBody>
      </p:sp>
    </p:spTree>
    <p:extLst>
      <p:ext uri="{BB962C8B-B14F-4D97-AF65-F5344CB8AC3E}">
        <p14:creationId xmlns:p14="http://schemas.microsoft.com/office/powerpoint/2010/main" val="623971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5BC83F-6030-4382-9D11-12A95DB6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37578-D90A-4ACA-AEDD-44C8EAED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43ECF-DFEE-4CF2-8C45-57AE1E55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2BE09-EF01-401E-B2F2-1CF371AB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BigLab-B Task 1：tg-arceos-tutorial 基础练习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7E156-7FCC-4151-9732-34753CE2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Task 1 是基于 rcore-os/tg-arceos-tutorial 的 test 分支，在自己的 fork 中完成 5 个规定的 exercise-* 基础练习。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F8424-BA2F-4C6E-B800-50E3E97B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23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87B32-E4D0-4E69-94B9-3F95D337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EF4A0-B876-44D0-A6BC-D50F0E83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仓库与分支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18653-CDEF-4269-B009-61979857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fork 上游 tg-arceos-tutorial/test，到自己的仓库继续完成代码和总结文档。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本地对应仓库：github.com/yks23/tg-arceos-tutorial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582F1-3E48-4AB4-BE45-EDB3D618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23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E5EB1-FD6A-41B8-9373-559EF802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20FD5-456E-4617-8A10-473BDBBD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完成的 5 个 exercise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B05E1-67C2-4B55-AA7E-088902F2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exercise-printcolor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exercise-hashmap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exercise-altalloc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exercise-ramfs-rename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exercise-sysmap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EE63E-9701-4A15-A67D-51C4A8A4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32385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63CFF-B1D7-40E6-BCD7-AD6C5717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9AC1C-E211-49CF-9B8D-61B1B7AF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训练到的能力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7BA93-94F8-4985-9D2F-09408DE3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从基础输出、集合/哈希表、替代 allocator，到 RAMFS rename、系统符号/地址映射，逐步补齐 ArceOS 小实验能力。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DAB47-7689-4114-BF1D-459229C4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76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C025B-21D2-4C4B-A32B-F4D91183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958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这一部分不是 Harness，也不是 StarryOS PR；它是 BigLab-B 的基础训练任务。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1D7448-E302-4051-AE5B-CC1D438F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14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22D4B-4019-4C62-A442-BF2DA13F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0150"/>
            <a:ext cx="958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完成后才进入 Task 2：把方法迁移到 TGOSKit / StarryOS 的真实内核改进。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D38CC1-8A73-483E-9C1C-67E5F22B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6DDC5-613A-43DF-9BF3-0C326523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48300"/>
            <a:ext cx="9582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后面的 Harness、PR、自举编译和多核测速都属于 Task 2 主线。</a:t>
            </a:r>
          </a:p>
        </p:txBody>
      </p:sp>
    </p:spTree>
    <p:extLst>
      <p:ext uri="{BB962C8B-B14F-4D97-AF65-F5344CB8AC3E}">
        <p14:creationId xmlns:p14="http://schemas.microsoft.com/office/powerpoint/2010/main" val="1584410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878585-3175-4C31-84E8-078ED692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3024F-6198-45A6-845D-14CB639D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D5B85-B237-4C4A-98D7-C6A7D21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30B93-ED77-4CD8-A11F-05F2DE76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BigLab-B Task 2 阶段 1：Harness 初版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36548-3659-4ECF-8676-077D391E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进入 Task 2 后，第一阶段尝试让模型生成测试并自动运行，用测试失败来反推 StarryOS 的 bug。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2387E-904D-427F-90F6-25124538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857C8-ED2C-4A4B-B3E5-A1DF8C63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E5562-730B-4D1E-BEC3-696052DC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做法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E6617-EBB4-42EB-919C-437E41A8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89FD6-511F-450F-9478-C04BB4A9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3BBBD-712A-4F3E-BC80-D8B613E8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761C8-1060-445A-ABE5-734BAFE9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FC603-D607-4E8F-BDBA-5B8FDEB0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D2897-B9BC-4F3B-BF50-D9F172F5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D270F-6978-41A9-948F-08E1D751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围绕 syscall、busybox 小命令和文件系统行为生成测试用例。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EAB3C-21E8-4423-A402-A14FDC7C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B302FB-C78C-4B14-99DF-F1000CA3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模型读日志、提出怀疑点、继续补 case 或定位代码。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A3038-0EC0-4BC9-8B1A-989ED4BA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FD214-F04F-43AF-82DC-608DB583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能快速覆盖很多边界输入，但缺乏 workload 方向性。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29043-C4BA-4405-BEA0-2330C954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C58A4-7695-4060-B990-E5B081DF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真实 OS bug 数量不稳定，容易陷入泛化测试和低价值失败。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9471F-4FB3-4AA0-B465-FCFBEAA8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结论：纯测试挖掘可以作为补充，但不足以支撑大实验主线；后续改为真实 workload 驱动。</a:t>
            </a:r>
          </a:p>
        </p:txBody>
      </p:sp>
    </p:spTree>
    <p:extLst>
      <p:ext uri="{BB962C8B-B14F-4D97-AF65-F5344CB8AC3E}">
        <p14:creationId xmlns:p14="http://schemas.microsoft.com/office/powerpoint/2010/main" val="581782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0DD239-CB6D-4A80-B0D7-5A5BFD8D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E0108-5396-4CDB-8271-D6F99C01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AE14D-B666-4D91-B979-77BBA902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B0AC1-D7E6-48E4-B34C-43D4F46F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BigLab-B Task 2 阶段 1：Harness 当前闭环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CD0F0-5A54-4DC2-BFB7-3C8F4D0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Harness 后来从泛化测试挖掘，收敛到和 StarryOS dev 紧密联动：跑真实任务、读输出、修内核、补测例、提 PR。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A5DCF-B4D7-4F42-9E04-921F099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6542B-DC4A-4E14-8DF5-9F08338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09:00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0A135-A14D-42D8-AF6C-F079A50E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同步 dev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A3669-93B5-47FA-AFA1-7CEC6DCD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45AB1-D66F-41F5-BAF8-BCFF693D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2D622-4B89-41BB-966E-46C88952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DC767-66BC-493C-815B-95729F83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编译/运行任务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B7F2D-468A-4087-AE65-B3D2B83B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C59CA-B22C-407D-91F1-F558B9BE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381D3-ABFC-4850-BA15-E529F4BB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1258D-13E0-409E-9BD2-4C3DC3AF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读取输出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32BE7-78C1-4BA7-9E8B-705DB220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5D036-D36F-4BF4-B70A-51BAF902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06D19-4A01-4A10-97B0-DF6A33BD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Fix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24966-3542-4492-989C-6F342029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修改内核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E7C4F-A8A8-496B-A7B8-7835CF0E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76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9FA9F-4973-4F63-A57D-0A27792B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57450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33308-4ED5-49A7-8BC0-40D2C9FF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47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PR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8753B-A38B-499C-A0E2-D56E21A9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9085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测例+提交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6F9F7-2F49-43E3-A50E-6BB5F191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1F62F-19F5-4450-9E85-E54E9E35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DC422A-C78E-4436-9395-282D7F5D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自动同步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3F2C19-07F4-435A-AE2A-71DD7AE4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291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每天早上 9:00 拉取最新 dev，专门同步分支，减少上游快速演进带来的冲突成本。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B47F11-D606-411C-9CDB-02331CEC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AC1FAA-955B-4474-95BB-113907D9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7B5DCE-C58E-4F47-9411-22BA3F32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自动修复闭环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00B8A-E021-4B9A-B7AB-39BD70C6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291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在 StarryOS 上跑具体任务；一旦发现相关 bug，整理 root cause 与 Test Suite，随 OS 改动提 PR 到 dev。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471576-87F9-4D69-B8C6-BAA9FE9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8FCDB4-B3C5-4959-9C50-60E88D92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9B4CDB-963E-44B6-947F-F796664D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 守护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1B7699-5079-4F3B-9CB5-541266C3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29150"/>
            <a:ext cx="259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定时检查 PR CI 状态；未通过则继续收集失败、修复、推送，直到达到可合并状态。</a:t>
            </a:r>
          </a:p>
        </p:txBody>
      </p:sp>
    </p:spTree>
    <p:extLst>
      <p:ext uri="{BB962C8B-B14F-4D97-AF65-F5344CB8AC3E}">
        <p14:creationId xmlns:p14="http://schemas.microsoft.com/office/powerpoint/2010/main" val="1453778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F74E26-3B6F-4713-AA00-B9E4715A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021BF-19B9-4791-AB19-F0F82DDC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4A7D0-97B2-4DD2-857C-DF2FA2A7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A5B57-BA60-470C-9D7D-39D607C2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Task 2 PR：12 个已合入 OS 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448AD-F5D4-4C06-BD4D-0E4A217E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这些 PR 不按“改了多少文件”讲，而按 OS 行为边界拆分：进程线程、文件系统、网络 ABI、SMP 同步和调度前进性。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110E4-0E7F-4C5F-ACFD-3A588570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D4BA7-2909-40E3-A772-8EBCEB53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76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5DBFD-3C5D-4D2E-A2B9-30A6CA9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进程 / 线程 / futex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C4345-1C53-49ED-8579-17E36491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#692 robust futex cleanup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#693 vfork parent blocking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#878 teardown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EECC9-89B1-411B-987A-3A08820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D4CEE-F60D-4AEC-9BD7-A27CDD49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476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21D56-1922-4FFA-8616-43CDBF4C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文件系统 / 设备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12B47-162C-4F45-8BBE-FFF084A2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194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#695 rsext4 inode bitmap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#800 device full transfer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#844 tmpfs rename exec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54D76-53D4-4FD3-BC27-0208EEB6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A4CD0-07F0-4EF2-8F78-EAB1E26D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476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6B96F-3DD6-4DFE-B0C8-4A9086A6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SMP / 同步 / 调度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13353-5DED-469C-8A1A-F58431F1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781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#842 CPU topology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#879 raw mutex handoff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#885 syscall entry snapshot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#926 SMP wakeup progress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2B83D8-5FDE-42E0-9CB7-3D16A325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CB9F1-D68C-4C8C-9AAE-FECC5E58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4E2F9-AEF3-494F-83F3-35FE7C00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48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网络 ABI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D9AE8-9DDC-42C0-8941-63D1B8FC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673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#694 IPv4-mapped IPv6 socket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保持 IPv6 用户态语义，内部复用 IPv4 backend。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46895-AAA7-4617-A771-3ED118AE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7F234F-0B98-4CE6-B9E8-CABB63D2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F3B11-761B-4D8D-B42A-C54F445E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验证标准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3FCF01-3B91-44F4-8DB9-6975B0A8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673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每个 PR 均包含问题根因、修复范围、测试用例和 CI 或本地复现证据。</a:t>
            </a:r>
          </a:p>
        </p:txBody>
      </p:sp>
    </p:spTree>
    <p:extLst>
      <p:ext uri="{BB962C8B-B14F-4D97-AF65-F5344CB8AC3E}">
        <p14:creationId xmlns:p14="http://schemas.microsoft.com/office/powerpoint/2010/main" val="324842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DFB609-4409-4B83-ABBC-D8A93FC7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6A91B-770A-43C7-9D51-F6D3EA5E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6F0B1-11C0-4D55-8B76-FE44B2D6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4B7A3-0332-4ADB-9C1A-414E8767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背景 1：进程创建语义：fork / vfork / clone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1DF42-FF3F-46BE-8D79-EB04A70D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启动新程序不是单个动作，而是创建子执行流、决定资源共享边界、替换程序映像、回收退出状态的一组 ABI。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300E8-5DFE-4A40-936F-C9329047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782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FC0AC-14DE-4F85-8B8A-6B39BC14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263A9-5D26-41F3-B92F-1761BCF2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术语定义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D7E11-4C4E-4B9D-BC1C-9D52F11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57400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fork 复制当前进程得到子进程；vfork 是父进程阻塞的创建后立即 exec/exit 路径；clone 是用 flags 表达资源共享的底层创建接口。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A0AE1-86F3-42D2-97B3-AF7EEAF8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FFB8D-E1BA-46B8-BFB9-AC783A1E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E40BD-BFBE-4F6B-9BFE-8FA9F214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fork：独立子进程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E4476-6F93-432A-85BB-D68AB685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文件描述符、信号等状态按规则继承；地址空间按复制或 COW 语义分离，父子随后并发运行。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77B0C-71A6-4F59-885D-257D3B4A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BF289-5A6B-4DB4-86ED-836D9FB4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38E50-3D4F-42D9-8D50-760C10B3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vfork / CLONE_VFORK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D51B5-E85B-41F3-A61B-FDC117D3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子进程 exec 或 exit 前父进程必须等待，避免共享或尚未完全分离的状态被并发破坏。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878D0-16E1-48BB-BE0F-D3335DD7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74141-5F38-4F0F-B871-B0D942FD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289F3-1444-4ACD-B771-CC0D38D6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clone：底层 flag 组合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22B07-B97C-4059-8E51-30EF30D1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通过 flags 选择是否共享 VM、文件表、信号处理、线程组等资源；线程、fork、vfork 都可表达为不同组合。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EA890-FCEF-497B-BE9D-6B0814F1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5C46DF-86FD-489B-9A8D-FCFE2C77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2B436-FC9F-4483-9FE4-A2494EC0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exec / wait / posix_spawn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4EDD83-54C6-4D9B-BAE3-B318C0D8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exec 替换子进程映像，wait 回收退出状态。shell、BusyBox、Cargo 会把这些动作串成高频启动链路。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987C76-AC0C-4983-9EEB-23340C98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进程创建正确性取决于资源共享边界、父子同步，以及 exec/wait 顺序是否与 Linux ABI 一致。</a:t>
            </a:r>
          </a:p>
        </p:txBody>
      </p:sp>
    </p:spTree>
    <p:extLst>
      <p:ext uri="{BB962C8B-B14F-4D97-AF65-F5344CB8AC3E}">
        <p14:creationId xmlns:p14="http://schemas.microsoft.com/office/powerpoint/2010/main" val="17075932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F60365-3169-4AC6-B916-88B00B4A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8522F-04EC-412D-A61F-30CA4977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F4E4B-05AC-486C-8152-5553F6DB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5C9F3-FDB0-46A1-AA69-61918ECD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 PR 1：vfork / clone 语义修复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F970E-E5E0-4533-8001-FF168D8D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这个 PR 修的是父进程等待条件，保证 vfork 类子进程在 exec/exit 前不会让父进程提前继续。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7F3B2-9C21-4091-9EA1-4279B6BE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0D9C6-D3BC-49FE-8417-742E0779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077E6-AFAA-4398-A6EF-63ED30A1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5BAC9-100E-4F56-B6F9-8D82FB50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2B392-B80D-4FE7-91A4-7E42BEC9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337C6-5F3A-42CC-ADCF-F708A943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21B00-B277-43A3-98AB-1B5B2B72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修复与测例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DAB29-B7C8-4356-A75F-7F5AF29F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31725-4351-4F9C-AC04-C4530377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1BCE4-9C08-426A-BA06-32A8224A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旧实现把等待条件错误收窄，部分 CLONE_VFORK 场景没有等待。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F26C71-D040-46DC-AA31-B2FEB87B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85FFC2-29F9-47DB-976F-088D651B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父进程提前返回会破坏 shell、busybox、cargo 依赖的同步顺序。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4CE37-A949-443E-87B2-7A1AE374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12079-ED7B-41A7-AA1E-38D1AAD1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 CLONE_VFORK 等待条件，保证父进程等待 vfork_done。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BA395-D870-4923-A59A-B5CB1767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0DBBA0-3693-498A-AAF8-F7B07111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测例：test-vfork。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8B18D-98FA-4CB9-95AA-D9E4952A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B29CA7-3390-4381-9453-68A81B63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影响范围：BusyBox / shell / cargo 子进程创建路径。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82E10-2D4C-458B-9592-09B16504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成果：修复进程创建 ABI 语义，使 BusyBox、shell 和 cargo 子进程创建路径具备更稳定的行为基础。</a:t>
            </a:r>
          </a:p>
        </p:txBody>
      </p:sp>
    </p:spTree>
    <p:extLst>
      <p:ext uri="{BB962C8B-B14F-4D97-AF65-F5344CB8AC3E}">
        <p14:creationId xmlns:p14="http://schemas.microsoft.com/office/powerpoint/2010/main" val="840500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92988-C27D-4A4D-B74F-69B34880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0E97B-C17C-4CC3-979A-0BBEECB0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BDFAA-47CB-4342-B64C-89275E08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3990F-FED7-4FCC-903B-0767B242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背景 2：futex、robust list 与线程退出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64FDB-5037-40D8-BC80-81B35740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pthread/mutex 的稳定性依赖 futex 快慢路径，以及线程异常退出时内核对遗留锁状态的清理能力。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3BD32-A365-49FC-BFC6-49267916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782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F7A37-A8DF-4FEB-9A3C-89416DA7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90C2E-529E-4836-A48C-CE6D428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术语定义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35537-D348-4903-B621-C1176F1F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57400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futex 是“用户态内存字 + 内核等待队列”的同步机制；robust list 是线程登记给内核的持锁链表，用于退出时修复 owner died 状态。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44B24-0D6A-45A4-B11B-95999A22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12EAD-0448-465D-8357-CC4CDCCD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35935-B546-47AB-A0F6-41333013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用户态快路径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B3059-B827-40A0-8E19-21E3F97F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互斥锁、条件变量先用原子指令读写内存字；无竞争时不进入内核，这是 futex 高性能的基础。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00DBF-AE2B-4FC9-A43D-C0EFD31C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89031-552F-40E2-A2D9-2A460682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1E6C0-2902-46C3-8E34-F1B2425C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内核慢路径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F0D04B-4698-4E7B-91B8-E21CB6EC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竞争失败时 FUTEX_WAIT 睡眠；释放锁时 FUTEX_WAKE 按地址唤醒等待线程，避免无谓轮询。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227AA-A410-480A-92B7-429747E6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2E35E-0A1D-40CB-82B2-33D0F544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6538A-941A-464C-999E-07BF0922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robust 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6B627-E4C3-4690-BC47-70A1FF4D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线程持锁退出时，内核扫描登记链表，标记 owner died 并唤醒等待者，避免锁永久卡死。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8F974-0616-467F-9B1D-C1AB61CC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7BD779-4DC7-49E4-A8AE-DA7A1014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1027E9-33F7-4A34-AABC-F49E3134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退出路径容错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326FF-093F-44A1-BDC7-08464352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链表指针来自用户态，可能为空、坏地址或跨页；清理路径必须把它当作不可信输入处理。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92F1AA-363E-4616-A193-8F8A680C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futex 正确性取决于用户态内存字与内核等待队列一致，退出清理还必须安全处理异常用户内存。</a:t>
            </a:r>
          </a:p>
        </p:txBody>
      </p:sp>
    </p:spTree>
    <p:extLst>
      <p:ext uri="{BB962C8B-B14F-4D97-AF65-F5344CB8AC3E}">
        <p14:creationId xmlns:p14="http://schemas.microsoft.com/office/powerpoint/2010/main" val="8536962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808C82-4241-46D0-A0AD-43D273F5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7BDEB-71D3-4C90-9B39-3F48803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1AF8C-7439-49FD-B5A7-6BD418EB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A3BE4-735F-4D75-B782-F7EC9A76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 PR 2：futex 与线程退出清理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402CE-9841-437C-B4E1-3FF2BE3E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这个 PR 的重点是让线程退出路径能够安全处理坏 robust-list entry 和 pending futex。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D35DB-C99C-48D3-8276-BC671AC8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7D81B-C92A-41E3-93A6-EEFAE504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E913C-85A4-416C-8639-32E739BC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BEA38-191A-4E16-9340-7297C12C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14A1F-9D40-4213-969E-9A6840D7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8A259-5F51-4468-96A2-F08A63C7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4762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2CD84-C140-4071-B015-132EB186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49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修复与测例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049A7-3729-4469-86BF-2626698D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44958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D688A-43FB-43BB-AA6D-FD6C3117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9B3C6-0939-42EA-B972-27245C6A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用户态可以传坏 robust-list 指针，内核不能因此拖垮退出路径。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0D1E7-FAF3-4DE0-BEC3-A4DBB074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EB980-2638-480E-9EF7-2CEE39DA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pending futex 与普通 entry 混在一起，会让 pthread 退出/回收变得脆弱。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16DBF-54C7-4B72-B9E6-5ABE1741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7A2499-8A07-4503-9C02-E8982FB1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坏 entry 容错清理，pending 单独处理。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5D4A5-979B-4BF2-A857-6BB36FCA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F1801-C7E4-45BA-B36B-54A63467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测例：test-futex-robust-list。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1F7C4-C7AB-4C92-84C5-83413DD7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29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3C85C-052E-44DA-84E1-DE0E64E0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24300"/>
            <a:ext cx="386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关联：teardown/context usercopy 修复退出路径。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6BF63-8C77-4ADD-B5EF-08FE3E3E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成果：退出清理路径可以安全处理用户态异常输入，避免单个坏 robust-list 破坏进程回收流程。</a:t>
            </a:r>
          </a:p>
        </p:txBody>
      </p:sp>
    </p:spTree>
    <p:extLst>
      <p:ext uri="{BB962C8B-B14F-4D97-AF65-F5344CB8AC3E}">
        <p14:creationId xmlns:p14="http://schemas.microsoft.com/office/powerpoint/2010/main" val="10772156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46666E-875F-4ABC-B2B0-A004B80F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799A0-B8D7-41C1-A4C8-C87CD308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1D339-64AC-4F24-9E50-7E1D37BB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8779E-7290-492C-B25E-81393425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背景 3：VFS 与构建型 workload 的文件系统压力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6C7FE-60C2-44E6-AC04-D94EFCEB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构建系统不会只访问单一文件，它会反复组合路径解析、元数据更新、目录遍历、临时文件替换和设备 I/O。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439CE-EE55-4587-949A-E88C37ED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782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B594C-4AB2-4275-9BFE-3F1DB68B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F633E-FFDB-4450-AA01-A6F0024B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术语定义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5FD6C-BD39-43FF-BF99-2FA7321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57400"/>
            <a:ext cx="876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VFS 是内核统一文件系统接口层，屏蔽 tmpfs、ext4/rsext4、设备节点、pipe 等后端差异；应用只看到一组统一 syscall。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08196-38D5-4E96-927B-166647CF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CF508-DE12-446F-82E3-46B68321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6127C-5DA8-41F4-9CF6-78520172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VFS 抽象层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C17CB-1A90-4C0C-B4B1-F2CD6701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负责路径解析、dentry/inode/file 对象和权限生命周期，让 open/read/write/rename 等 syscall 有一致语义。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49F39-8BBB-4C31-9F4E-B7B3304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BC591-87E2-4A28-823D-7B250639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9A7D2-90F8-4EC7-8A84-727F589A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tmpfs：内存文件系统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01EC2-6B1C-4048-BB2C-4B5E9B27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主要维护内存中的文件对象和目录树；rename/unlink/open/exec 必须保持同一生命周期视图。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8F77F-C9DF-4074-B150-12AFC6F2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20242-AE3C-480C-A07E-9CFBF6E9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BA518-A3C0-4A0A-9424-04FAF1AE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ext4 / rsext4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941C17-7A25-4FF1-91F9-D3551984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磁盘文件系统需要管理 inode bitmap、block group、目录项和数据块分配；元数据状态会影响后续创建。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E70FD-439F-4DF9-8865-03CA6014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991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B53E8-B3A1-411E-BB23-018A6CD8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CF285-D89D-468F-B315-EFBBABBA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Cargo 真实压力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52438D-A224-4C9B-88C1-DED609AD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457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编译会密集创建小文件、原子 rename、目录扫描、unlink，以及 pipe/device I/O；组合 workload 才是真实检验。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9656E-00B8-4E29-B29F-66FF987A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构建型 workload 会组合触发路径解析、元数据分配、rename/unlink 和设备 I/O，检验 VFS 后端一致性。</a:t>
            </a:r>
          </a:p>
        </p:txBody>
      </p:sp>
    </p:spTree>
    <p:extLst>
      <p:ext uri="{BB962C8B-B14F-4D97-AF65-F5344CB8AC3E}">
        <p14:creationId xmlns:p14="http://schemas.microsoft.com/office/powerpoint/2010/main" val="13434343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D5A6B6-0D81-4D61-942E-BC0EB2CD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1344A-7BC0-4885-B63F-60A478DB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2736E-B3A0-438F-B37B-CCAB4E2A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5CA02-57DE-451F-A83F-1D9E5D2C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重点 PR 3：文件系统与 VFS 正确性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A056C-E654-4998-90FE-04A51616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这一组 PR 面向真实应用的文件系统访问模式，补齐 inode 分配、rename/exec 和设备传输语义。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2568F-5D37-45AE-8210-2EB751DB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567AA-5BC9-411A-8E43-78BF1C0D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AE3A1-91D7-4FC9-A06C-834F8F82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#695 rsext4 inode bitmap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B9683-2708-43A5-8CE0-AC612321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ext4 block group 可标记 inode bitmap 未初始化；allocator 需要识别并初始化，再继续分配 inode。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FDF67-8016-47CB-86B5-97C2261A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4B154-A8DC-44E5-A318-FABB6A6A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C4FC9-AFCD-491F-B50D-43326C89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#844 tmpfs rename exec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C6D11-21C6-4C82-A995-F8503E7B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tmpfs 的目录项和可执行文件生命周期要一致；rename/unlink 不能让后续 exec/open 看到错乱状态。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79645-A5D2-4D7B-9355-429D2D06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8EFCA-6A29-4D22-89E3-BC07BE94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1DA17-405C-463A-A330-84D1CBC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686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#800 device 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79D71-A711-41FE-8E7C-F944274E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686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VFS 设备节点读写要遵守完整 transfer 语义，否则 busybox、构建脚本等用户态工具会拿到短读写。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CA507-2FA4-4EC1-9F27-DE05E891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成果：文件系统层面对真实应用的目录项、inode 和设备 I/O 行为更加接近 Linux 预期。</a:t>
            </a:r>
          </a:p>
        </p:txBody>
      </p:sp>
    </p:spTree>
    <p:extLst>
      <p:ext uri="{BB962C8B-B14F-4D97-AF65-F5344CB8AC3E}">
        <p14:creationId xmlns:p14="http://schemas.microsoft.com/office/powerpoint/2010/main" val="3783654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D538AB-B60C-49FE-818C-DE13FC3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CB995-1349-401F-8D67-66E37BE2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D447D-4AC5-47D3-B421-4C950846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A36D9-B470-455E-8E4C-97BEEDD4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实验 4：StarryOS guest 内自举编译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98E87-F1A8-4529-B975-AFE6B438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实验目标是在 StarryOS userland 中运行 cargo build，完成 StarryOS 自身构建并输出 PASS marker。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EF61D-DFB6-4DE4-8EE4-3318B5EC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33065-0F55-4D36-9CCC-60B5411B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启动内核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DE004-8001-418D-AFAE-2AADE760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337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3AD93-7067-41D3-9C62-22C3A1E4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6E6C7-427D-40B2-A3D9-A0E5BE93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挂载 rootfs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A58EA-D2D9-42A2-9133-52D5559E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337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F3D65-2D2A-4113-BF0E-E385EAFB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7D29E-D7A8-4E61-8948-E4490235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运行 cargo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67AD1-0FB5-44B3-AEBA-15E07DFB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337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D0D30-EEEF-4FEF-B75E-4B9629A2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FAC29-C7A4-4620-9BC9-6B34196F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定位 ELF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86133-3689-4E89-AEA5-56A84E3D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3372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501E2-F389-4017-BC93-1536A5F5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2415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3F79E-3DD0-41A6-B7B1-9E7D6389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0037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A046D-F37A-4EC9-8CAD-04C6293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05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30C6B-4FDB-498D-B69E-ED891043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00550"/>
            <a:ext cx="958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macOS native release 参考：同 StarryOS kernel 配置，host cargo j1=96s，j8=42s。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27255-E94E-4EF7-B01F-CB9BDE08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62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53BEA-0252-41C0-B31F-1DCCDB08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57750"/>
            <a:ext cx="958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guest 最优：AArch64/HVF 8 核 StarryOS guest，完整 self-build 331s。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BE9EE-FB6C-47CA-A996-2A4C5A11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9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A3D47D-4F9D-48AB-B2A3-ED8E8478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14950"/>
            <a:ext cx="958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判据：进入 userland、找到 rootfs 内 StarryOS ELF、打印 PASS、无 panic/trap/FATAL/error。</a:t>
            </a:r>
          </a:p>
        </p:txBody>
      </p:sp>
    </p:spTree>
    <p:extLst>
      <p:ext uri="{BB962C8B-B14F-4D97-AF65-F5344CB8AC3E}">
        <p14:creationId xmlns:p14="http://schemas.microsoft.com/office/powerpoint/2010/main" val="8675202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CF715-F5E3-469C-91AF-4F7156D7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6ABA1-C435-4003-B773-1C054E0E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9FF0F-0E59-42AF-BCA9-CA056002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53BB8-131C-4E00-AD3B-A5BA95E5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多核编译性能结果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AA366-E688-4735-B140-8D0E93D0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通过脚本和构建参数调节，guest 完整 self-build 从 951s 降到 331s，约 3 倍，已稳定进入 400s 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66AB97-F580-4122-A9F6-29B486F2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F2E71-3CF3-4955-B84B-2B995EF8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BCFC6-0F2A-4535-9AFB-D89D7C2B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289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951s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C4594-87EC-4557-B46B-B0F2D6D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95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最慢 guest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D3F9A-60F5-4931-A8E8-CD305278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F5AB5-7FE4-4D57-8D43-062EF9A3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812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5DB22-06F3-4F92-AB34-88C51A0C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642s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DB640-4A85-4226-96CB-2B9EE59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95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默认 8 核 guest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EA828-81E0-4877-BD72-CAB28414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81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780E1-FADD-4EA3-B474-55E55BE6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812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45911-0677-4B68-A4E8-05803118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6289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331s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181C8-B198-43E4-835B-4E19BBD2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095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当前最快 guest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E1B94-8351-409B-B640-BAC0BC7B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DB123-13C1-468D-8EEE-2BFD4DD1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2459C-8D57-4CE9-A408-04E39F17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42s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4B757-1B08-4154-A690-0A5C1756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9562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macOS native j8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DD10F-07A1-4761-82EC-4185A3B3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0"/>
            <a:ext cx="1524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4F509-44E2-4BFA-8490-7E3F87FB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1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8E46C-5DF4-4ADD-9E35-864D5190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28900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96s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38CCF5-9087-4BA3-8A2E-F2F30909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95625"/>
            <a:ext cx="1181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macOS native j1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B6BE0-EB6E-4670-9494-B32D1411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9677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013437-CD14-4233-9A80-62131DD9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6720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端到端真正收益：951s / 331s = 2.87x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6EC0A-FD6D-4CBD-8778-EC02BBC7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guest 编译并行：422s / 341s = 1.24x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FCD049-0C41-439C-83A1-B4F65CA9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macOS native 参考：96s / 42s = 2.29x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C1FD44-B192-483B-B160-52E6141B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91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A42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A42B8"/>
                </a:solidFill>
                <a:latin typeface="PingFang SC"/>
                <a:ea typeface="PingFang SC"/>
                <a:cs typeface="PingFang SC"/>
              </a:rPr>
              <a:t>链接/串行尾段：642s / 427s = 1.50x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3FDC1A-BC63-4487-899C-9C533E19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885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注：macOS native release 未设置 opt0/LTO off/CGU256；guest 最优是演示 profile，二者用于说明量级和瓶颈归属。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D68610-C19B-442E-890A-F8FAAA8A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结论：完整 guest self-build 已完成；并行收益受 Cargo critical path、guest OS/FS/SMP 和串行尾段共同限制。</a:t>
            </a:r>
          </a:p>
        </p:txBody>
      </p:sp>
    </p:spTree>
    <p:extLst>
      <p:ext uri="{BB962C8B-B14F-4D97-AF65-F5344CB8AC3E}">
        <p14:creationId xmlns:p14="http://schemas.microsoft.com/office/powerpoint/2010/main" val="4920797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0951AB-B21C-4ADA-98A7-7B016E1D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EBD97-5FA6-41B7-BD06-937C463A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F5291-5AFD-4BF5-901A-9955FEB6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28110-94C1-4DD5-9F0B-0323D8D4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性能模型与测试细项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A9672-1329-4F31-B8D8-A3886B8B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每个瓶颈都用接近 Cargo 行为的微基准拆开验证，而不是只给粗略归因。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3E338-11BE-496A-AB76-6B9D16A0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0363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T_build(N) = T_std/cache + T_serial + T_parallel/N + T_fs(N) + T_smp(N) + T_wait(N)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A3163-E0B4-4E9F-877E-44C27F4E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1076B-4FF4-408D-BA89-BD7243C5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CE0F6-4E59-4CE6-80DF-7895F5E8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进程链路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8A986-182B-4B1F-8329-8818B9F0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fork/exec/wait 1000 次：20/11/5/3s，8 路 6.67x。模拟 cargo 反复 spawn rustc。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FF9EC-B9E6-48CE-B95F-21DEBAC0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A04A0-01DA-47B9-8B79-AD40F7B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AE878-668E-4124-9572-A7095881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短任务 wave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F6555-9629-4342-8AE3-C466BE47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766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24 个 build-script：27/22/27/32/32s。2 路最快，过并行会被 OS/FS/SMP 成本吃掉。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0A294-1A5E-49CF-85F4-AE90A0F3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699F4-4C7A-4031-B722-83CE8745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32413-F4E8-49BC-8831-7C472E9C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FS 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E96A7-CFF9-4D6B-ADF8-AF26D6AF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rsext4 fileio jobs=8：47.5s→14.5s。模拟 target 小文件 create/write/rename/unlink。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3E3BCF-17D7-403D-913C-E9B82A57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571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41456-838D-4D47-916E-39285AFD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149B3-BB35-47EA-9238-5D0F4834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575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宿主/QEMU参考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FAB1D-8E21-4AF3-B4B4-7D5A901D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766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macOS native release 96/42=2.29x；guest jobs-only 422/341=1.24x。raw CPU MTTCG 3.17x 不作 RISC-V correctness。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08604-DB44-4350-91A2-ED455674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final link timestamp：artifact tail 约 2s，starry-kernel 后段约 17-20s；331s 版本主瓶颈不是纯链接。</a:t>
            </a:r>
          </a:p>
        </p:txBody>
      </p:sp>
    </p:spTree>
    <p:extLst>
      <p:ext uri="{BB962C8B-B14F-4D97-AF65-F5344CB8AC3E}">
        <p14:creationId xmlns:p14="http://schemas.microsoft.com/office/powerpoint/2010/main" val="7813150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580C2-76F6-4E07-8CDC-965CEFD9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3687E-5A16-4482-B653-24061132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66165-3D03-4520-AD31-02F3C624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A7283-114D-4C69-8263-566BDEFF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为什么 8 核总是打不满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9372D-6A3F-4BA7-B5EC-35DBDF05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完整 551s 采样显示：8 核 guest 能短时拉高到 93.2%，但均值只有 48.9%，90% 以上仅 1 秒。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110BB-BC81-4DDF-BA94-3327C210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76581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8b130aa904e22">
            <a:extLst>
              <a:ext uri="{96DAC541-7B7A-43D3-8B79-37D633B846F1}">
                <asvg:svgBlip xmlns:asvg="http://schemas.microsoft.com/office/drawing/2016/SVG/main" r:embed="Rf11ab22f5eb746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2190750"/>
            <a:ext cx="7277100" cy="3067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F3B87-B887-4AE0-A6E3-B38FE28B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口径：BUILD-START 到 BUILD-END 全窗口；QEMU 进程 CPU time 按 8 vCPU 归一化，800% QEMU CPU = 100% 容量。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80BD0-2A63-4B51-A835-9C4C7599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证据等级：曲线/日志直接测得；原因是由 Cargo timing、host 对照和 guest 短基准共同支撑的工程归因。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6E9E7-6C9E-4033-9DCE-E05AA78E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2743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5119F-2E20-4DAE-9316-20C6DCA2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6AEF4-3B9E-4F7D-B551-1E526C53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526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1. 负载宽度阶段性不足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D5964-3611-42C9-9C56-75A6DF68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2400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证据：完整曲线只有 39s &gt;=75%，&gt;=90% 只有 1s。推论：多数时间没有 8 个持续可运行编译任务。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F6D8A-7E39-4CB1-8BD0-C95954B2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743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479D3-6417-4FEB-AECB-5341B2B1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17E0D-A332-431D-97F7-AD62358E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242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2. rustc/尾段有限并行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0027A-C8D6-47DE-8670-A311A5B3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71850"/>
            <a:ext cx="2400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证据：约 7:00 之后进入窄尾段，QEMU CPU 长时间约 200%，即约 2 个忙 vCPU。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1EA88-F3A1-47CC-98DA-E6D82264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743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2D5A7-DCA7-41B7-BAF8-0C82DFB2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4F01A-02BE-413D-802D-E67E2E6D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957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3. 短任务过并行会反吃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869F0-7DD1-491F-9FA3-554F0ACE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43400"/>
            <a:ext cx="2400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证据：24 个 build-script wave，j1/j2/j4/j6/j8 = 27/22/27/32/32s，2 路最快。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0F9AC-FCFE-4FBE-A318-9E3031F8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2743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D9CBD-AF63-4FF0-A0D0-E3FB1958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86C8E1-7535-474C-9D30-7AF91A68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673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4. OS/FS 路径确实影响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3B833-DD94-408D-A8D1-F3ECE33F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14950"/>
            <a:ext cx="2400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证据：fork/exec 20/11/5/3s 说明多核有效；rsext4 j8 47.5s -&gt; 14.5s 说明 FS 路径曾是瓶颈。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B110A3-DBE4-4830-9F87-F363D999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结论：setting 已生效，8 核能被用起来；打不满主要来自 Cargo/Rust 负载宽度、尾段串行化和 guest OS/FS 短链路成本。</a:t>
            </a:r>
          </a:p>
        </p:txBody>
      </p:sp>
    </p:spTree>
    <p:extLst>
      <p:ext uri="{BB962C8B-B14F-4D97-AF65-F5344CB8AC3E}">
        <p14:creationId xmlns:p14="http://schemas.microsoft.com/office/powerpoint/2010/main" val="18183803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D39CC9-1B35-4410-BB6E-7D28D54F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25743-0E9C-466B-88B8-067BC127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DB5B1-B65B-4E18-8B0A-F00902BB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A6E4B-91D1-4F19-9F54-D6B9F01D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对齐对比：为什么 host 有收益，guest 只有 1.24x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8720F-F665-491C-8B48-7AE04D21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macOS native release 证明 Cargo 本身有并行收益；guest jobs-only 更低，说明差距落在 guest OS/FS/SMP 承载成本上。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4F6E2-5D1D-4E6D-ADB0-45D0163C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2F7F7-3CE1-4F45-AF7D-1AA0BC72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CE086-B073-4499-9FBD-B4622C91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146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96s -&gt; 42s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A7952-326F-4E4A-8970-9F3DC9CA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81325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macOS native release，2.29x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2DEDE-9337-4A12-896C-F4A2CEC2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3A11E-40CB-47D4-987E-569DC1CD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A2E3B-A4F3-43FC-B9EB-2DA445AD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45A18"/>
                </a:solidFill>
                <a:latin typeface="PingFang SC"/>
                <a:ea typeface="PingFang SC"/>
                <a:cs typeface="PingFang SC"/>
              </a:rPr>
              <a:t>422s -&gt; 341s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5007D-1913-48B7-9417-AEA7F74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81325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guest jobs-only，1.24x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F50CA-DCD2-406A-9D2F-4EB8FD10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57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E4A94-E653-49E2-B8BB-7EB1C389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5FAF2-00B6-4B6B-9953-5E5C02A5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48A5A"/>
                </a:solidFill>
                <a:latin typeface="PingFang SC"/>
                <a:ea typeface="PingFang SC"/>
                <a:cs typeface="PingFang SC"/>
              </a:rPr>
              <a:t>951s -&gt; 331s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341FE-FCD1-4746-BDF0-AE30863C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81325"/>
            <a:ext cx="2514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guest 端到端调优，2.87x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E8161-0926-4DD6-83E5-A481E96C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5810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9d89435c9485c">
            <a:extLst>
              <a:ext uri="{96DAC541-7B7A-43D3-8B79-37D633B846F1}">
                <asvg:svgBlip xmlns:asvg="http://schemas.microsoft.com/office/drawing/2016/SVG/main" r:embed="R82965283252d4f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3886200"/>
            <a:ext cx="5505450" cy="15240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AB941-7D2E-4EF2-90C9-45B9358D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同一 native release profile：-j8 比 -j1 快，但 CPU 仍远低于 8 核常满。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EC9D8-3AC0-4F64-A042-E61AAD5A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05250"/>
            <a:ext cx="3429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464C9-7806-4742-9F45-9BEF2950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052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7B0D7-C452-4730-A2F6-4898F3CB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14800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47BACC-D8B9-4076-9B83-01290486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33900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并行空间存在；但完整 cargo 的可运行宽度、短任务成本和串行尾段共同限制收益。guest 还额外承担 OS/FS/SMP 路径成本。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B0826F-99CD-4C1A-BF3F-B2397AB8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现场讲法：host 是可并行上界；guest 是 OS 真实承载能力；两者差距就是本实验定位和修复的对象。</a:t>
            </a:r>
          </a:p>
        </p:txBody>
      </p:sp>
    </p:spTree>
    <p:extLst>
      <p:ext uri="{BB962C8B-B14F-4D97-AF65-F5344CB8AC3E}">
        <p14:creationId xmlns:p14="http://schemas.microsoft.com/office/powerpoint/2010/main" val="15719848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1BC73A-AC8B-46F5-83F1-46F3CA63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E1308-1C5A-4E3E-A2AB-644FF5D5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7D077-D20E-4BF1-9631-6D067FB5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08FE7-9F39-4F0E-99EC-856509CC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成因拆解：Cargo、OS、QEMU 分别承担什么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422DA-8D7D-4574-8526-48ABBBE1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最后把瓶颈按归属拆清楚，避免把所有慢都归因给 QEMU 或 Cargo。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BA83A-6F2D-4E7E-93FF-AFA389A9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观测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4D2B2-E935-434D-A091-216D7FCD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归因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B835F-2F3A-413B-94E1-474E1EBF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已经做了什么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8647A-C88B-43E6-9FFB-DCEA3A10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25C29-5868-4224-9D34-9AC0B23F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B0E15-111F-47E5-B173-4AEA59D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host 2.29x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但 guest jobs-only 1.24x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E34A9-3EAA-46A0-B789-57E7D852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194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A4079-E633-4D6F-9779-30F9AB44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9080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Cargo 图有并行空间；差距主要出在 guest 运行成本。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2F199-22D6-408F-87D1-4A42376A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194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29DD6-1590-41D2-9B7D-4A4D8DB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908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区分 native host 与 guest profile，拆分 syscall、VFS、scheduler、QEMU 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6324C-AAC6-45D0-A981-CDC69BBB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27758-6CD5-4F17-98E7-47C2F8BA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E9D78-032A-4274-9349-10BBA1A4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fork/exec/wait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8 路 6.67x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B8712-9108-40FC-B91C-53A6C829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406E89-1982-4C30-A2A7-C28CBCB7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3375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进程创建和等待这条 OS 热路径本身可以扩展。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DB8BD-1B99-401C-A8C5-4261F283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5FEF0-F62D-426A-B9E9-3EFEA712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#842 CPU topology、#926 wakeup progress、#879 RawMutex handoff。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FC0AF1-C4F4-4F89-8ACF-26ED8A1E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0786CC-86F0-430F-820C-6660B260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97E6D-DF2C-4520-B5CD-7EE4F4BE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build-script wave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 路最快，8 路变慢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2900F-1737-478C-A8B3-D31B1A52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05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5031EF-0311-443A-8463-1AB136BE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7670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Cargo 短任务过并行后，被 pipe/wait、文件 metadata 和锁竞争反吃。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62394C-7126-4E9A-8EF8-82A74CEF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D3E87F-0CF9-4A28-A777-85288EC5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7670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用短基准定位 T_wait(N)、T_fs(N)、T_smp(N)，避免只等完整 build。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D6C8AA-6EEE-45AB-B6A1-72DAE23B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B174AD-996A-4F1C-9621-33AE9BB2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AC02F8-6077-42B9-8DFB-7590425E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final link tail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约 2s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19C534-AE55-40DA-97A4-CC567E90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482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AA0176-992E-4341-8065-3C170E66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965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331s 版本主瓶颈不是纯链接器，而是 build graph 和 codegen 尾段。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ACF0F1-9001-4B8C-9B2B-C84A0653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82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42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885682-7A3C-42FF-BD3F-3BA98AE9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19650"/>
            <a:ext cx="381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关闭 LTO、opt0、cgu256，串行尾段 642s -&gt; 427s。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D8D2B5-5EE3-4C39-AC71-870AC62E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1024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C8B18F-5CA7-473E-81FD-04FF600D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86450"/>
            <a:ext cx="967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结论：self-build 已跑通；多核不是无效，剩余瓶颈已拆成 Cargo critical path、OS 短任务成本和虚拟化边界三类。</a:t>
            </a:r>
          </a:p>
        </p:txBody>
      </p:sp>
    </p:spTree>
    <p:extLst>
      <p:ext uri="{BB962C8B-B14F-4D97-AF65-F5344CB8AC3E}">
        <p14:creationId xmlns:p14="http://schemas.microsoft.com/office/powerpoint/2010/main" val="263394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BF954C-DB67-456C-AD52-30265AE2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63B1C-57E9-4FB6-A914-69CC867C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BigLab-B / StarryOS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8AA85-29D4-4075-A647-5C7B995C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301A6-F51F-4E3E-B998-0E739F3C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总结：真实 workload 驱动的 StarryOS 改进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908D2-9EAE-4B7A-A859-2C834DB4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主线是让 StarryOS 在 guest 内编译 StarryOS，并把失败路径拆成可验证、可合入、可复现的工程结果。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38751-F827-4638-BA2D-6D7EC1F7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3333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6E2FC-8472-4AF5-AF8E-6C8BF5F4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76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3D3B4-3020-4B92-95F1-0C33B1CD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876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Self-build 跑通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2E23B-2CD3-4FCF-ACC8-39D75EAA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876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AArch64/HVF 8 核 guest 内完成 StarryOS self-build。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最好结果 331s；端到端从 951s 调到 331s。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F13F9-98C2-4818-9674-89431E0F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71700"/>
            <a:ext cx="3333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75D5B-479E-476F-A672-E9F18C2B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71700"/>
            <a:ext cx="476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F81DA-C651-4FF6-AB80-C8BE416C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876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OS 修复合入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93D21-64FE-48B6-9FA3-5010996E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0350"/>
            <a:ext cx="2876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12 个 PR 已进入 TGOSKit dev。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覆盖 vfork/futex、VFS/device、SMP 调度、usercopy 上下文等真实系统语义。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CCC72-0583-469C-B0F5-62F3D2AC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3333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DD6D6-E98D-46E9-B278-B422C70A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71700"/>
            <a:ext cx="476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EFCF3-9EBA-4248-8238-BDB5C394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876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性能边界拆清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E2545-6E93-4EDC-88A8-D5924328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0350"/>
            <a:ext cx="2876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fork/exec/wait 可到 6.67x，macOS native 编译 2.29x，guest jobs-only 1.24x。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瓶颈来自 Cargo critical path、OS 小任务成本和虚拟化边界。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97412-FFD5-4777-9207-1F109AD2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F73C9-FFD1-4E99-A4FD-7D620889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00700"/>
            <a:ext cx="971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最终结果：一套可复现 self-build demo，一组已合入 OS 修复，一份可解释的多核性能证据。</a:t>
            </a:r>
          </a:p>
        </p:txBody>
      </p:sp>
    </p:spTree>
    <p:extLst>
      <p:ext uri="{BB962C8B-B14F-4D97-AF65-F5344CB8AC3E}">
        <p14:creationId xmlns:p14="http://schemas.microsoft.com/office/powerpoint/2010/main" val="999768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2026-05-30T11:29:43.8330000Z</dcterms:created>
  <dcterms:modified xsi:type="dcterms:W3CDTF">2026-05-30T11:29:43.8330000Z</dcterms:modified>
</coreProperties>
</file>