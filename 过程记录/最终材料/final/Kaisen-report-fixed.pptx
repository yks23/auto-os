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181b1f427a4a18" /><Relationship Type="http://schemas.openxmlformats.org/officeDocument/2006/relationships/extended-properties" Target="/docProps/app.xml" Id="R7c73b34f50ce4516" /><Relationship Type="http://schemas.openxmlformats.org/officeDocument/2006/relationships/officeDocument" Target="/ppt/presentation.xml" Id="R8a135c60c47a48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df200a2314bea"/>
  </p:sldMasterIdLst>
  <p:notesMasterIdLst>
    <p:notesMasterId xmlns:r="http://schemas.openxmlformats.org/officeDocument/2006/relationships" r:id="R85ffe00520754f8b"/>
  </p:notesMasterIdLst>
  <p:sldIdLst>
    <p:sldId xmlns:r="http://schemas.openxmlformats.org/officeDocument/2006/relationships" id="256" r:id="R3fb161d849c6437d"/>
    <p:sldId xmlns:r="http://schemas.openxmlformats.org/officeDocument/2006/relationships" id="257" r:id="Rfd4615a4cccf44f4"/>
    <p:sldId xmlns:r="http://schemas.openxmlformats.org/officeDocument/2006/relationships" id="258" r:id="R3dc2f599bb094638"/>
    <p:sldId xmlns:r="http://schemas.openxmlformats.org/officeDocument/2006/relationships" id="259" r:id="R291b0ea9e43b45ef"/>
    <p:sldId xmlns:r="http://schemas.openxmlformats.org/officeDocument/2006/relationships" id="260" r:id="R83d4211047074537"/>
    <p:sldId xmlns:r="http://schemas.openxmlformats.org/officeDocument/2006/relationships" id="261" r:id="Rf68b731ca85447d4"/>
    <p:sldId xmlns:r="http://schemas.openxmlformats.org/officeDocument/2006/relationships" id="262" r:id="R1a6983460572450b"/>
    <p:sldId xmlns:r="http://schemas.openxmlformats.org/officeDocument/2006/relationships" id="263" r:id="Rf8894c907bde4d0b"/>
    <p:sldId xmlns:r="http://schemas.openxmlformats.org/officeDocument/2006/relationships" id="264" r:id="Rf3523079e1e64955"/>
    <p:sldId xmlns:r="http://schemas.openxmlformats.org/officeDocument/2006/relationships" id="265" r:id="Rcf6b8e285fce4065"/>
    <p:sldId xmlns:r="http://schemas.openxmlformats.org/officeDocument/2006/relationships" id="266" r:id="Ra8249d33f8324455"/>
    <p:sldId xmlns:r="http://schemas.openxmlformats.org/officeDocument/2006/relationships" id="267" r:id="R751224f026ec490d"/>
    <p:sldId xmlns:r="http://schemas.openxmlformats.org/officeDocument/2006/relationships" id="268" r:id="Rb2d5be9d9c854f9d"/>
    <p:sldId xmlns:r="http://schemas.openxmlformats.org/officeDocument/2006/relationships" id="269" r:id="R0f0e8834a7fa410e"/>
    <p:sldId xmlns:r="http://schemas.openxmlformats.org/officeDocument/2006/relationships" id="270" r:id="R27b830d4505945ea"/>
    <p:sldId xmlns:r="http://schemas.openxmlformats.org/officeDocument/2006/relationships" id="271" r:id="R02282f23f7cb48cf"/>
    <p:sldId xmlns:r="http://schemas.openxmlformats.org/officeDocument/2006/relationships" id="272" r:id="R0496d49878df4ee0"/>
    <p:sldId xmlns:r="http://schemas.openxmlformats.org/officeDocument/2006/relationships" id="273" r:id="R7d8e73f19f18407b"/>
    <p:sldId xmlns:r="http://schemas.openxmlformats.org/officeDocument/2006/relationships" id="274" r:id="Rea135669e22a44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df200a2314bea" /><Relationship Type="http://schemas.openxmlformats.org/officeDocument/2006/relationships/theme" Target="/ppt/theme/theme1.xml" Id="R7019ea54c4214bdf" /><Relationship Type="http://schemas.openxmlformats.org/officeDocument/2006/relationships/notesMaster" Target="/ppt/notesMasters/notesMaster1.xml" Id="R85ffe00520754f8b" /><Relationship Type="http://schemas.openxmlformats.org/officeDocument/2006/relationships/presProps" Target="/ppt/presProps.xml" Id="R97e2ba7fa5b14ccc" /><Relationship Type="http://schemas.openxmlformats.org/officeDocument/2006/relationships/viewProps" Target="/ppt/viewProps.xml" Id="Rac8727336bcd4280" /><Relationship Type="http://schemas.openxmlformats.org/officeDocument/2006/relationships/tableStyles" Target="/ppt/tableStyles.xml" Id="Ra23d5adff4444133" /><Relationship Type="http://schemas.openxmlformats.org/officeDocument/2006/relationships/slide" Target="/ppt/slides/slide1.xml" Id="R3fb161d849c6437d" /><Relationship Type="http://schemas.openxmlformats.org/officeDocument/2006/relationships/slide" Target="/ppt/slides/slide2.xml" Id="Rfd4615a4cccf44f4" /><Relationship Type="http://schemas.openxmlformats.org/officeDocument/2006/relationships/slide" Target="/ppt/slides/slide3.xml" Id="R3dc2f599bb094638" /><Relationship Type="http://schemas.openxmlformats.org/officeDocument/2006/relationships/slide" Target="/ppt/slides/slide4.xml" Id="R291b0ea9e43b45ef" /><Relationship Type="http://schemas.openxmlformats.org/officeDocument/2006/relationships/slide" Target="/ppt/slides/slide5.xml" Id="R83d4211047074537" /><Relationship Type="http://schemas.openxmlformats.org/officeDocument/2006/relationships/slide" Target="/ppt/slides/slide6.xml" Id="Rf68b731ca85447d4" /><Relationship Type="http://schemas.openxmlformats.org/officeDocument/2006/relationships/slide" Target="/ppt/slides/slide7.xml" Id="R1a6983460572450b" /><Relationship Type="http://schemas.openxmlformats.org/officeDocument/2006/relationships/slide" Target="/ppt/slides/slide8.xml" Id="Rf8894c907bde4d0b" /><Relationship Type="http://schemas.openxmlformats.org/officeDocument/2006/relationships/slide" Target="/ppt/slides/slide9.xml" Id="Rf3523079e1e64955" /><Relationship Type="http://schemas.openxmlformats.org/officeDocument/2006/relationships/slide" Target="/ppt/slides/slide10.xml" Id="Rcf6b8e285fce4065" /><Relationship Type="http://schemas.openxmlformats.org/officeDocument/2006/relationships/slide" Target="/ppt/slides/slide11.xml" Id="Ra8249d33f8324455" /><Relationship Type="http://schemas.openxmlformats.org/officeDocument/2006/relationships/slide" Target="/ppt/slides/slide12.xml" Id="R751224f026ec490d" /><Relationship Type="http://schemas.openxmlformats.org/officeDocument/2006/relationships/slide" Target="/ppt/slides/slide13.xml" Id="Rb2d5be9d9c854f9d" /><Relationship Type="http://schemas.openxmlformats.org/officeDocument/2006/relationships/slide" Target="/ppt/slides/slide14.xml" Id="R0f0e8834a7fa410e" /><Relationship Type="http://schemas.openxmlformats.org/officeDocument/2006/relationships/slide" Target="/ppt/slides/slide15.xml" Id="R27b830d4505945ea" /><Relationship Type="http://schemas.openxmlformats.org/officeDocument/2006/relationships/slide" Target="/ppt/slides/slide16.xml" Id="R02282f23f7cb48cf" /><Relationship Type="http://schemas.openxmlformats.org/officeDocument/2006/relationships/slide" Target="/ppt/slides/slide17.xml" Id="R0496d49878df4ee0" /><Relationship Type="http://schemas.openxmlformats.org/officeDocument/2006/relationships/slide" Target="/ppt/slides/slide18.xml" Id="R7d8e73f19f18407b" /><Relationship Type="http://schemas.openxmlformats.org/officeDocument/2006/relationships/slide" Target="/ppt/slides/slide19.xml" Id="Rea135669e22a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0d0361851d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d8c204ed84cee" /><Relationship Type="http://schemas.openxmlformats.org/officeDocument/2006/relationships/notesMaster" Target="/ppt/notesMasters/notesMaster1.xml" Id="Rfa4ec5d5427d4b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99d48076148c0" /><Relationship Type="http://schemas.openxmlformats.org/officeDocument/2006/relationships/notesMaster" Target="/ppt/notesMasters/notesMaster1.xml" Id="Rb2a7c401ce4643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9a8ad39f64232" /><Relationship Type="http://schemas.openxmlformats.org/officeDocument/2006/relationships/notesMaster" Target="/ppt/notesMasters/notesMaster1.xml" Id="Rc0a5f9454a56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de4037b774358" /><Relationship Type="http://schemas.openxmlformats.org/officeDocument/2006/relationships/notesMaster" Target="/ppt/notesMasters/notesMaster1.xml" Id="R59a01b98485d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8c6e75cd54ef4" /><Relationship Type="http://schemas.openxmlformats.org/officeDocument/2006/relationships/notesMaster" Target="/ppt/notesMasters/notesMaster1.xml" Id="R645cbbfa6c6d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ef6ad15144e06" /><Relationship Type="http://schemas.openxmlformats.org/officeDocument/2006/relationships/notesMaster" Target="/ppt/notesMasters/notesMaster1.xml" Id="R90a8667b5415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05311f38c34d40" /><Relationship Type="http://schemas.openxmlformats.org/officeDocument/2006/relationships/notesMaster" Target="/ppt/notesMasters/notesMaster1.xml" Id="Rd968f0d8d4aa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084618e0e4421c" /><Relationship Type="http://schemas.openxmlformats.org/officeDocument/2006/relationships/notesMaster" Target="/ppt/notesMasters/notesMaster1.xml" Id="Rd07b52ff965e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9f12f834b4d53" /><Relationship Type="http://schemas.openxmlformats.org/officeDocument/2006/relationships/notesMaster" Target="/ppt/notesMasters/notesMaster1.xml" Id="Rf9fda0c4761f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414c46fda84fff" /><Relationship Type="http://schemas.openxmlformats.org/officeDocument/2006/relationships/notesMaster" Target="/ppt/notesMasters/notesMaster1.xml" Id="R9f7016898d6e41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66e87288eb43d6" /><Relationship Type="http://schemas.openxmlformats.org/officeDocument/2006/relationships/notesMaster" Target="/ppt/notesMasters/notesMaster1.xml" Id="Rca7de912ebd84f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02fff35ac8477f" /><Relationship Type="http://schemas.openxmlformats.org/officeDocument/2006/relationships/notesMaster" Target="/ppt/notesMasters/notesMaster1.xml" Id="R350d2905349248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39d4fdf44a481c" /><Relationship Type="http://schemas.openxmlformats.org/officeDocument/2006/relationships/notesMaster" Target="/ppt/notesMasters/notesMaster1.xml" Id="R352f544d118c4d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b6b1edff9648a6" /><Relationship Type="http://schemas.openxmlformats.org/officeDocument/2006/relationships/notesMaster" Target="/ppt/notesMasters/notesMaster1.xml" Id="R20911f0d8da84a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7ea5c9f59f40cf" /><Relationship Type="http://schemas.openxmlformats.org/officeDocument/2006/relationships/notesMaster" Target="/ppt/notesMasters/notesMaster1.xml" Id="R6ad3eef4917743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8d6c4df30e45ba" /><Relationship Type="http://schemas.openxmlformats.org/officeDocument/2006/relationships/notesMaster" Target="/ppt/notesMasters/notesMaster1.xml" Id="R48c7abcbc18448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97a029501c4d36" /><Relationship Type="http://schemas.openxmlformats.org/officeDocument/2006/relationships/notesMaster" Target="/ppt/notesMasters/notesMaster1.xml" Id="R37126b58060949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48c55d021d49b1" /><Relationship Type="http://schemas.openxmlformats.org/officeDocument/2006/relationships/notesMaster" Target="/ppt/notesMasters/notesMaster1.xml" Id="R4bd36dfac1d44e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e92d7f9ae94a38" /><Relationship Type="http://schemas.openxmlformats.org/officeDocument/2006/relationships/notesMaster" Target="/ppt/notesMasters/notesMaster1.xml" Id="Re7646d4e8cc2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05be34df445fd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b2a19ec5c434c" /><Relationship Type="http://schemas.openxmlformats.org/officeDocument/2006/relationships/theme" Target="/ppt/theme/theme1.xml" Id="R62cd77dc636a485f" /><Relationship Type="http://schemas.openxmlformats.org/officeDocument/2006/relationships/slideLayout" Target="/ppt/slideLayouts/slideLayout2.xml" Id="R591a296cb54246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f0fb2a19ec5c434c"/>
    <p:sldLayoutId xmlns:r="http://schemas.openxmlformats.org/officeDocument/2006/relationships" id="2147483649" r:id="R591a296cb54246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715f4a9e24dae" /><Relationship Type="http://schemas.openxmlformats.org/officeDocument/2006/relationships/notesSlide" Target="/ppt/notesSlides/notesSlide1.xml" Id="R1ce50229ca27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18bf27e0c4d46" /><Relationship Type="http://schemas.openxmlformats.org/officeDocument/2006/relationships/notesSlide" Target="/ppt/notesSlides/notesSlide2.xml" Id="R18e40708f590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88d1aabc74c47" /><Relationship Type="http://schemas.openxmlformats.org/officeDocument/2006/relationships/notesSlide" Target="/ppt/notesSlides/notesSlide3.xml" Id="Ra03eebd6b2ef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228038b8374d8d" /><Relationship Type="http://schemas.openxmlformats.org/officeDocument/2006/relationships/notesSlide" Target="/ppt/notesSlides/notesSlide4.xml" Id="R514071883437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29b5b55d045ba" /><Relationship Type="http://schemas.openxmlformats.org/officeDocument/2006/relationships/notesSlide" Target="/ppt/notesSlides/notesSlide5.xml" Id="Re4e59f92b410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2a326965941c0" /><Relationship Type="http://schemas.openxmlformats.org/officeDocument/2006/relationships/notesSlide" Target="/ppt/notesSlides/notesSlide6.xml" Id="R2db4be537ea3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9be94b090444a" /><Relationship Type="http://schemas.openxmlformats.org/officeDocument/2006/relationships/image" Target="/ppt/media/image.png" Id="R68b6b9d768c4461d" /><Relationship Type="http://schemas.openxmlformats.org/officeDocument/2006/relationships/notesSlide" Target="/ppt/notesSlides/notesSlide7.xml" Id="R0c32a6b47bd04c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7eb3b69f6946b7" /><Relationship Type="http://schemas.openxmlformats.org/officeDocument/2006/relationships/notesSlide" Target="/ppt/notesSlides/notesSlide8.xml" Id="Rb4368484677e42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780e4694c4b51" /><Relationship Type="http://schemas.openxmlformats.org/officeDocument/2006/relationships/notesSlide" Target="/ppt/notesSlides/notesSlide9.xml" Id="R3049395ae91e41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4272c8e544a3c" /><Relationship Type="http://schemas.openxmlformats.org/officeDocument/2006/relationships/notesSlide" Target="/ppt/notesSlides/notesSlide10.xml" Id="Rd09359e2d8b745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52f6feacb141ed" /><Relationship Type="http://schemas.openxmlformats.org/officeDocument/2006/relationships/notesSlide" Target="/ppt/notesSlides/notesSlide11.xml" Id="Rdad90a5fa8d641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56c1622344165" /><Relationship Type="http://schemas.openxmlformats.org/officeDocument/2006/relationships/notesSlide" Target="/ppt/notesSlides/notesSlide12.xml" Id="R0ebd9abeb88343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197540d5b34d5a" /><Relationship Type="http://schemas.openxmlformats.org/officeDocument/2006/relationships/notesSlide" Target="/ppt/notesSlides/notesSlide13.xml" Id="Rf8742f330e1848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f338b2fe4b4c51" /><Relationship Type="http://schemas.openxmlformats.org/officeDocument/2006/relationships/notesSlide" Target="/ppt/notesSlides/notesSlide14.xml" Id="Rce765a4fe3314f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fccdb098144ff" /><Relationship Type="http://schemas.openxmlformats.org/officeDocument/2006/relationships/notesSlide" Target="/ppt/notesSlides/notesSlide15.xml" Id="R65ad32402b774a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af14bac114544" /><Relationship Type="http://schemas.openxmlformats.org/officeDocument/2006/relationships/image" Target="/ppt/media/image2.png" Id="Rc196cefa6ea04ec9" /><Relationship Type="http://schemas.openxmlformats.org/officeDocument/2006/relationships/image" Target="/ppt/media/image.svg" Id="R1460bda2834543c8" /><Relationship Type="http://schemas.openxmlformats.org/officeDocument/2006/relationships/notesSlide" Target="/ppt/notesSlides/notesSlide16.xml" Id="R8ca3fbe1872242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eac9ea8f44894" /><Relationship Type="http://schemas.openxmlformats.org/officeDocument/2006/relationships/image" Target="/ppt/media/image3.png" Id="Raf57e2e4f38943e2" /><Relationship Type="http://schemas.openxmlformats.org/officeDocument/2006/relationships/image" Target="/ppt/media/image2.svg" Id="R69cdc6acded34997" /><Relationship Type="http://schemas.openxmlformats.org/officeDocument/2006/relationships/notesSlide" Target="/ppt/notesSlides/notesSlide17.xml" Id="Ra34cc00a8c904c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a091453344860" /><Relationship Type="http://schemas.openxmlformats.org/officeDocument/2006/relationships/notesSlide" Target="/ppt/notesSlides/notesSlide18.xml" Id="R6bae26e216b240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ce3ad1a6040bb" /><Relationship Type="http://schemas.openxmlformats.org/officeDocument/2006/relationships/notesSlide" Target="/ppt/notesSlides/notesSlide19.xml" Id="Rdeea960c93fc4c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E8CA1B-F065-457D-A489-98F879E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4C4ACE-D114-4C2C-A870-99633199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OS BIGLAB </a:t>
            </a: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78431AE-E8DD-4A13-B96F-438B8F0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 杨凯森 | 2026-05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A13DD6-5AF2-449F-ACDE-BB82DB8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Biglab</a:t>
            </a: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 B</a:t>
            </a: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主要成果：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25A23F-B4D8-46EF-B14B-6715400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A7811C-4E23-442D-8BD6-ED2DA92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23EFF-86B2-4144-96C4-2178A85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</a:t>
            </a: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单核</a:t>
            </a: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编译</a:t>
            </a: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Starrryos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4E6A72-C431-4C5A-91AA-EFA4C79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3295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跑了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6h,….,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终于完成了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57FE636-38E4-46C3-84CB-8310945F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B79D613-9747-4AE1-B651-D70C122F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BF7D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BF7D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0D56887-04EF-4532-8513-F7C7816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</a:t>
            </a: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多核编译</a:t>
            </a: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C3C838F-BED0-49D0-AD29-D9963E0C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3295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原先的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pipeline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太慢了，换了实验环境后，最后优化到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~400s</a:t>
            </a: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编译成功</a:t>
            </a:r>
          </a:p>
        </p:txBody>
      </p:sp>
    </p:spTree>
    <p:extLst>
      <p:ext uri="{BB962C8B-B14F-4D97-AF65-F5344CB8AC3E}">
        <p14:creationId xmlns:p14="http://schemas.microsoft.com/office/powerpoint/2010/main" val="1293799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66532BE-1FE4-4455-91E1-73CC26C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5C6086-E358-4B46-8D7D-FC10AB2C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496A685-265F-489B-8F5F-2EBFD4F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42B951D-2A36-4305-859F-DCD963B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BigLab-A：rCore Tutorial 章节训练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EC9A5A-6E69-4FA6-A3A8-B8A9EE75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73EE97C-B1A5-461E-94FB-8E9596F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46BC06-3979-44E9-B0EA-7C6F336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基础内核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22FB53B-BE2F-4F02-8CC0-91EB446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tg-rcore-tutorial-ch{1,2}-yks23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裸机启动、no_std/Rust、SBI/QEMU 运行；用户程序加载、trap/syscall 和批处理执行。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948260-C306-4C0E-9FF2-55058B3F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AEF787-65D0-4297-88D0-576B7C7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74F88BE-7EDC-4CD8-9B4A-CCF674F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</a:t>
            </a: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OS </a:t>
            </a: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机制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C1E966-E677-4574-A8FC-2CA247A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tg-rcore-tutorial-ch3/4/5/6-yks23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覆盖多道程序与时间片、地址空间与页表、进程 fork/exec/wait、文件系统与块设备。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426C07E-B7F8-4D1D-8999-A05C6013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A8ECD4B-58CD-4AB1-AED8-9B54303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305E4B-EFB7-47C1-A9A6-FA45F4F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综合与扩展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CA075E2-8B2B-4627-A248-2B0881B6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tg-rcore-tutorial-ch8-yks23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ch{3,4,5}-yks23-t2l10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继续补线程/同步、图形或综合 demo，并对前几章做扩展版本。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16794A1-2263-43EA-B2FC-4B2682C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401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D12B84-5075-48F5-8B70-2ABFD11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形成的能力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2AE19A0-791D-44D2-BD3E-C09BCFE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把 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RISC-V、QEMU、trap、地址空间、进程、文件系统和同步这些基础机制跑通，为后续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StarryOS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TGOSKit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的真实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 workload 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修复打底</a:t>
            </a: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4109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FC27F66-8A2B-4A92-AD19-AA495EAB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5FB3DF-095F-433C-AA75-765EFFC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0C5CB7-05C1-4265-A8FC-C847FBBD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791F37C-E7DA-4D27-9D86-627DDD93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1：tg-arceos-tutorial 基础练习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F69073F-51F3-47B6-8098-69A2BB15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45" y="2920160"/>
            <a:ext cx="6614693" cy="2888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9898D7-C5E2-45FE-B162-DCA6A0FF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45" y="2920160"/>
            <a:ext cx="97275" cy="2888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908652C-CBEE-4BCA-BFFD-4F19A97B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46" y="2084158"/>
            <a:ext cx="5680854" cy="496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完成的 5 个 exercise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54B2023-D8D8-4AE6-B03C-45AF802C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46" y="3019244"/>
            <a:ext cx="5680854" cy="1677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printcolor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hashmap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altalloc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ramfs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-rename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</a:t>
            </a:r>
            <a:r>
              <a:rPr sz="2000" b="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sysmap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AEE412F-63FA-77FF-BEAA-CD97847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1" y="2920160"/>
            <a:ext cx="4222629" cy="2888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5C429BA-6CF3-4301-4E63-86D46F8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326" y="2920160"/>
            <a:ext cx="97275" cy="2888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793D1D9-075A-14B5-5B1C-7D8284D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927" y="2084158"/>
            <a:ext cx="5680854" cy="496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能力培养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1D962BC-10D7-ADA7-EBF4-C354AB6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927" y="3019244"/>
            <a:ext cx="2791752" cy="1677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从基础输出、集合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哈希表、替代 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allocator，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到 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RAMFS rename、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系统符号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地址映射，逐步补齐 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ArceOS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0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小实验能力</a:t>
            </a:r>
            <a:r>
              <a:rPr sz="2000" i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89151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C8659A1-CBE7-46C9-8EA0-DDDDF8CF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A48ECB-A9E9-4D89-8FA6-4F0CCDF7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B32FEFD-0CE8-4DFF-AB72-FCCD779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40FBA1E-9B49-4CB8-BB2F-93BF472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2 阶段 1：Harness 初版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49604B-2C8A-4CEA-A044-B054988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99D31B-AE10-485B-92E6-4A5B0B3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C95E652-EDB8-4D01-855D-ADB720AA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做法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BB942F1-DEA8-42B1-97CA-0B684D0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6F4107A-6D85-423F-9B9E-F02D5A8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320A3-71A3-4C85-BEFD-0B93BE92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4D62AD0-42BD-4B21-AE78-A397CF1B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8B06328-F570-4113-BE8D-8F46C903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42B222-6E4A-4286-8D90-8199DC8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613BC85-CB75-46B5-A4E7-81750A9B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围绕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syscall、busybox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小命令和文件系统行为生成测试用例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（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Generator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5EF6F74-D50A-46CF-B732-D27FA4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3785258-0C78-4395-ACD4-78D93B1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模型读日志、提出怀疑点、继续补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case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或定位代码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Debugger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)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D75DC64-38C8-4DF1-9F10-F5066F6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38F8BCD-A9BD-4716-B5BB-6533022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能快速覆盖很多边界输入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A64D069-8552-41C1-906F-D0070A57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200A2F-88AA-474C-98F8-171C1DB4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OS bug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数量不稳定，容易陷入泛化测试和低价值失败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C6C8C30-098B-4477-935E-C66F17E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纯测试挖掘可以作为补充</a:t>
            </a: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但是缺乏真实目标使得没有体系的效果</a:t>
            </a:r>
          </a:p>
        </p:txBody>
      </p:sp>
    </p:spTree>
    <p:extLst>
      <p:ext uri="{BB962C8B-B14F-4D97-AF65-F5344CB8AC3E}">
        <p14:creationId xmlns:p14="http://schemas.microsoft.com/office/powerpoint/2010/main" val="2109867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FF1D58C-8247-4000-A1DF-E7E6D4B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EDD13F-5A58-43FC-824B-E59D3EDF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3FCF7D-D074-4503-AB66-19FA761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CC3FC18-43C2-4F7E-B6BE-7E65776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</a:t>
            </a: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-B Task 2 </a:t>
            </a: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阶段</a:t>
            </a: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1：当前</a:t>
            </a: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Harness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1499BDB-D630-41B8-9E9A-0CA25EB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Harness 后来从泛化测试挖掘，收敛到和 StarryOS dev 紧密联动：跑真实任务、读输出、修内核、补测例、提 PR。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8DE1EB-57E2-4D5E-A256-6B79F3DF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010DAB9-4F57-4FEE-94A4-3B3F768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09:00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92A6C5-E013-49B5-AC7A-8D9EE9A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同步 dev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78EEF1-DFB7-4793-9738-A1A08F0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3610B0D-B0DC-4F5E-95B6-EF3919B3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DFF037-F375-46B4-956B-377F3719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CAE274E-8974-46F2-8189-F0B09DD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编译/运行任务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33ED7DF-1C27-48F5-B737-11997CA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970389-DE5B-4861-9414-C4155FA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067BDF-FB84-4FE1-ACAB-25586A2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FeedBack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F22ACB-C035-4B7C-AD8D-92647A9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读取输出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278FFF1-4F88-4EE3-91B6-64DA106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5F614B4-0BC3-4517-98A4-F9CF264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D671EE2-E918-4647-9C76-6C62668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Fix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E227A1-CD63-4EF5-8621-F6F27E8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修改内核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E53B722-1041-476A-89AE-57128A5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C426C6-7AF4-4C19-A930-AB74E425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03B6262-E1E1-47A9-AF7F-FBD370ED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PR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49F321F-4D4D-4214-AAB0-0A793ABF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测例+提交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75247CF-2153-4DC1-82A4-C4E0FAC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09B8C8A-B8D8-425A-9F6C-C352334A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472D28-D458-4D92-9B2B-2807EE9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自动同步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1624EE5-B4A3-4EB3-9191-F1D7150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每天早上 9:00 拉取最新 dev，专门同步分支，减少上游快速演进带来的冲突成本。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B37D71C-B454-4286-8D04-F2311C0C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156D0B7-D855-4082-97FC-1EC03BF4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52D322C-4DA2-4784-BD4F-25CE271A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自动修复闭环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18A8642-D697-4D98-A9E5-687924F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StarryOS 上跑具体任务；一旦发现相关 bug，整理 root cause 与 Test Suite，随 OS 改动提 PR 到 dev。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7B00D23-76EB-4F30-A335-7CDFE29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7EBE0DC-A54C-4750-B064-DBA8E4E3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DD66F8A-87A9-4570-AC2A-C0F7D16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 守护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6F1BADF-1BF0-4784-B068-465728A2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定时检查 PR CI 状态；未通过则继续收集失败、修复、推送，直到达到可合并状态。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F355855-A604-C4A9-C5ED-283252AB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58364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293B79E-06B4-0505-D980-8ADFEFEE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58364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46A76C2-DEC5-9C90-C13F-BCA93589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67914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反馈加速器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A303CA9-DF76-9D9D-D84F-3AD367F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087014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每天自动审查</a:t>
            </a: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工作进展，提出能够加快迭代速度的建议</a:t>
            </a:r>
          </a:p>
        </p:txBody>
      </p:sp>
    </p:spTree>
    <p:extLst>
      <p:ext uri="{BB962C8B-B14F-4D97-AF65-F5344CB8AC3E}">
        <p14:creationId xmlns:p14="http://schemas.microsoft.com/office/powerpoint/2010/main" val="1641779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065C9F-D841-4CCF-A39E-886E1076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5995BC-AD04-4B3A-A2F2-FA2FCF6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ECDF31-03CA-443B-BD40-7D0F5E24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331F5F6-3FBF-4BFA-9EA5-DD0D6AC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PR：12 个已合入 OS 修复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5C9FDA-E3F1-407D-8214-CF4F77CA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D28BB10-76DD-49AC-9DA1-F6B19ED0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1C29909-AF36-4BB3-B1AD-BB32F015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 / 线程 / futex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578ECF-4413-4671-83E1-27C6C41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#692 robust futex cleanup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#693 vfork parent blocking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#878 teardown context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50BC0E1-63D9-4C3B-A9A2-3E94BA1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730ECE-9290-4061-928F-47E8A1A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EC4417-DD03-4E27-8452-920D694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文件系统 / 设备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404911-6070-4A6F-BEE7-007DB82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#800 device full transfer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D5544C1-1839-4285-83E1-90F1D3EE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3A83B3-56CB-49CD-B0B7-4605A135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5174BEB-BDB7-474F-9D78-0845A25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 / 同步 / 调度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88E76AB-2088-4096-84E3-399FC257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#842 CPU topology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#879 raw mutex handoff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#885 syscall entry snapshot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#926 SMP wakeup progress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779ED4F-F8E6-4CD2-B6FC-297FEB8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839BF6E-6C3C-4312-A658-E21AE90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0F0280D-0835-4FFF-9D19-252C408D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网络 ABI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EBEC8F0-3581-4FA9-A993-AE49FF28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#694 IPv4-mapped IPv6 socket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保持 IPv6 用户态语义，内部复用 IPv4 backend。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B73DD50-BC8D-488B-87EA-FB605CF3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E2734A7-570A-4DBA-A1B6-A708A77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7A804C0-0156-423B-8E9F-F9D7AE5B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验证标准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E47BCF7-4BD0-49D3-B128-EEA51371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 PR 均包含问题根因、修复范围、测试用例和 CI 或本地复现证据。</a:t>
            </a:r>
          </a:p>
        </p:txBody>
      </p:sp>
    </p:spTree>
    <p:extLst>
      <p:ext uri="{BB962C8B-B14F-4D97-AF65-F5344CB8AC3E}">
        <p14:creationId xmlns:p14="http://schemas.microsoft.com/office/powerpoint/2010/main" val="2053926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6B0236D-BAC0-4A4E-BC31-8B765550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397119A-844F-49C9-BA5B-38C7FE91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A72DA73-BFE5-4E51-9B88-EB6651BE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30E919-E647-4E16-A920-756C0DD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1：进程创建语义：fork / vfork / clone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DA4B32D-7104-52C6-F597-00EA9DC4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647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b9d768c446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044" y="742950"/>
            <a:ext cx="10386205" cy="58453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1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F423C09-38A4-450D-A7FC-C729EC93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D320647-0170-4D73-964B-EA98C1B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8057DC-F1DF-475F-8998-B2A3ADD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6CE0C2-9D6B-406D-9BDE-A250E904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1：vfork / clone 语义修复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4775349-3A87-4835-B5B6-CA59CC6B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修的是父进程等待条件，保证 vfork 类子进程在 exec/exit 前不会让父进程提前继续。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C24ADAE-1E59-4C36-B64E-1740DBD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E9FE72A-72A4-41D6-8EB5-9298B22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BF067C-8B70-4E2F-AFE5-FF40E4D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F13046-AF3F-4A19-9388-B713AC8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A6BC288-6CD8-4FAD-9D8E-10DBAC79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F2F60A-F611-4CE9-9151-3371F4D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76A881-D4BE-4014-AA31-725B2988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4B42B4-F6B0-4916-8C49-D1011C36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F3142F9-25DC-4B76-B510-5199B8D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3F679E0-E3CF-4F1C-BA57-54ACA9EA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旧实现把等待条件错误收窄，部分 CLONE_VFORK 场景没有等待。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49F9B72-58B6-466C-833D-DEF98B72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F32A35D-876E-4336-8CE0-87920972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父进程提前返回会破坏 shell、busybox、cargo 依赖的同步顺序。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AE32E9A-EBED-447B-9B0C-809CA550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BAAD0B2-3249-46A3-9DBC-29B6A37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 CLONE_VFORK 等待条件，保证父进程等待 vfork_done。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392200-676E-481D-8248-E4F2539C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CA8A955-499A-4735-A7F1-9F6300D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测例：test-vfork。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BCD0D3D-5D22-478F-ADA3-BFCDB890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52EF03C-21B7-42D6-8BF7-812FCF42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影响范围：BusyBox / shell / cargo 子进程创建路径。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DFF0E8A-18B5-4814-A83F-20EE55B4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成果：修复进程创建 ABI 语义，使 BusyBox、shell 和 cargo 子进程创建路径具备更稳定的行为基础。</a:t>
            </a:r>
          </a:p>
        </p:txBody>
      </p:sp>
    </p:spTree>
    <p:extLst>
      <p:ext uri="{BB962C8B-B14F-4D97-AF65-F5344CB8AC3E}">
        <p14:creationId xmlns:p14="http://schemas.microsoft.com/office/powerpoint/2010/main" val="96765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9CEBFFE-C34B-4927-BDE3-05B80E14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57CCFA-B424-4774-943A-D27DB31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0C59229-82A6-4FD3-B5F9-DEB538A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D0F96E-2061-4469-8DB3-ACCF2E4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2：futex、robust list 与线程退出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44F8DAE-844F-4B23-BB9F-DD68CF4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pthread/mutex 的稳定性依赖 futex 快慢路径，以及线程异常退出时内核对遗留锁状态的清理能力。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AEEA08-2CD5-4B35-B233-3B3574E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78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1DB310-DCD1-4D73-8D5D-DA504D9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9E600A-9724-46AF-87D6-48A9CA8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术语定义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A16884C-4E26-413B-8A47-936F0BB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futex 是“用户态内存字 + 内核等待队列”的同步机制；robust list 是线程登记给内核的持锁链表，用于退出时修复 owner died 状态。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B032515-3E8A-4B57-9360-D9772799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86C7602-2335-46AA-9CBF-5949978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59FA4E3-E62F-46A5-890B-A65059D7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用户态快路径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BD5A7F0-F93D-41DA-BA67-0B88CD4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互斥锁、条件变量先用原子指令读写内存字；无竞争时不进入内核，这是 futex 高性能的基础。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00F0C76-408F-4BB5-8204-E820962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9888CCF-4E52-4B92-BFE9-BFAF9337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C0948AF-97F7-40AA-9E06-3E627A0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内核慢路径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1E7627C-B0C5-4AE8-843B-148BA2A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竞争失败时 FUTEX_WAIT 睡眠；释放锁时 FUTEX_WAKE 按地址唤醒等待线程，避免无谓轮询。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991325-ACCC-428E-83B4-93B22F76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3816EDE-3BD4-41D2-B6CF-4B247C8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6C6676C-7EFE-4131-BFEC-3452D9D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robust list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C59043-8323-4F40-990C-EFC6983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线程持锁退出时，内核扫描登记链表，标记 owner died 并唤醒等待者，避免锁永久卡死。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2927D90-8C21-4D72-92A5-3A6C0A8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BD23BCB-50D2-4DDF-BC78-ADCAA03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9DABB2B-DE69-497A-8A6F-C44FFF4D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退出路径容错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BFC0C0E-8AE1-4BC4-AE27-3BCC7933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链表指针来自用户态，可能为空、坏地址或跨页；清理路径必须把它当作不可信输入处理。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22E81AD-6103-4B51-8171-5B4A117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futex 正确性取决于用户态内存字与内核等待队列一致，退出清理还必须安全处理异常用户内存。</a:t>
            </a:r>
          </a:p>
        </p:txBody>
      </p:sp>
    </p:spTree>
    <p:extLst>
      <p:ext uri="{BB962C8B-B14F-4D97-AF65-F5344CB8AC3E}">
        <p14:creationId xmlns:p14="http://schemas.microsoft.com/office/powerpoint/2010/main" val="1170355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9AF8B30-6F32-4917-BB9A-30DEB32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AFFE68A-1276-43DF-B2D2-5673272E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4BCC4E9-E970-4B33-ABF9-12DB441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9B35522-1004-4725-8011-8CCFAED1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2：futex 与线程退出清理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30E394-F811-4522-B333-204ED0FB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的重点是让线程退出路径能够安全处理坏 robust-list entry 和 pending futex。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6319350-1B7E-4950-9067-1796BCF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936E3EA-C0EB-4580-B012-5A1166AB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C9F40F0-D8E6-4696-9861-D21F0383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5F650A-6C73-40CF-A482-EBDF53E4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E26B462-4F28-4BBB-A4F6-EDB05EAD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8A4A9E4-DD8B-4E42-9175-C7EC317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6B5F5C4-19A1-4221-81D0-13A0C04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7015562-03E3-4251-9839-F5C8314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6564B3B-754B-4512-BF91-E944EF2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8AF009D-0927-4172-BC93-15A2516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用户态可以传坏 robust-list 指针，内核不能因此拖垮退出路径。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EE65BC1-D2D9-4540-9308-5665974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71CD289-82F6-4B60-82B7-A508CA12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pending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futex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与普通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entry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混在一起，会让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pthread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退出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回收变得脆弱</a:t>
            </a: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ABE9ED-A332-480E-97DC-9D71A4A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10B29D-68BE-403D-965B-ADDE2F7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坏 entry 容错清理，pending 单独处理。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7311A6-2358-4702-84DF-07D80AEC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2E7F73C-5F40-4F4E-9CE2-71AD1302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测例：test-futex-robust-list。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420AF06-B6C5-4F86-BAE0-18BC886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EF6DDBC-931E-45A2-B209-75A7388A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关联：teardown/context usercopy 修复退出路径。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B78C149-365F-4061-87CF-074B2BB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成果：退出清理路径可以安全处理用户态异常输入，避免单个坏 robust-list 破坏进程回收流程。</a:t>
            </a:r>
          </a:p>
        </p:txBody>
      </p:sp>
    </p:spTree>
    <p:extLst>
      <p:ext uri="{BB962C8B-B14F-4D97-AF65-F5344CB8AC3E}">
        <p14:creationId xmlns:p14="http://schemas.microsoft.com/office/powerpoint/2010/main" val="1275734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36290AA-7032-4765-9A06-ECD9A02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26D6B88-8F70-4BD2-A179-5F97E1E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096148-E4C3-4D24-BCCA-17F3AFC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B4BDDEE-10CB-4A9E-BC10-07046DE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3：VFS 与构建型 workload 的文件系统压力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8954232-A2C2-4CC0-9294-A4E04E85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构建系统不会只访问单一文件，它会反复组合路径解析、元数据更新、目录遍历、临时文件替换和设备 I/O。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C7C7A1-BA59-4D38-A9E8-C75296A9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78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BA11933-E9DF-4107-B81D-8C0001E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572460F-8438-4F6A-9858-267ED8E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术语定义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156F10D-7C74-4E4A-8B9A-7B1FD3F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 是内核统一文件系统接口层，屏蔽 tmpfs、ext4/rsext4、设备节点、pipe 等后端差异；应用只看到一组统一 syscall。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E33BCA-B785-4890-A299-E01050F4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CD34829-D33B-4002-AF33-5956697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DA40BC4-56A0-4896-9096-A1110C5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 抽象层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A2D1224-2A4E-4906-844E-DF0A620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负责路径解析、dentry/inode/file 对象和权限生命周期，让 open/read/write/rename 等 syscall 有一致语义。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514B22-28F0-4174-9A3C-154A3A6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79EA58-8471-43A5-AE8A-2FF3D45F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14A210B-26C2-44C9-9F9F-40965D68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tmpfs：内存文件系统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20B2970-F9CF-4CA7-ACFE-63FEBE0D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主要维护内存中的文件对象和目录树；rename/unlink/open/exec 必须保持同一生命周期视图。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2FC61CA-EA9F-4D49-8873-D3B3AAB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D63E4D5-F0D6-46B9-B6BB-2A47EEF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B7EFDF6-D826-4827-9E0D-1E4902B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ext4 / rsext4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64999B9-21D0-4762-B724-E92937AF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磁盘文件系统需要管理 inode bitmap、block group、目录项和数据块分配；元数据状态会影响后续创建。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1C73E18-E160-484C-B529-486125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CE73C4C-2291-4EE1-842C-4F7B2587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13BD553-C5A7-4530-A848-6B66804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真实压力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C83D03-7A55-4B0C-A8AF-10C6AAF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编译会密集创建小文件、原子 rename、目录扫描、unlink，以及 pipe/device I/O；组合 workload 才是真实检验。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35D5608-7230-488E-8A8F-244316D2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构建型 workload 会组合触发路径解析、元数据分配、rename/unlink 和设备 I/O，检验 VFS 后端一致性。</a:t>
            </a:r>
          </a:p>
        </p:txBody>
      </p:sp>
    </p:spTree>
    <p:extLst>
      <p:ext uri="{BB962C8B-B14F-4D97-AF65-F5344CB8AC3E}">
        <p14:creationId xmlns:p14="http://schemas.microsoft.com/office/powerpoint/2010/main" val="8681882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755C44D-D92F-4D68-8E4D-46C32A9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DCB1317-0016-4A41-B5DA-0D0CBC56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75E0942-559B-4430-950C-BDEB69E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CB7C912-0BE7-462A-9C0F-D2E8B087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3：文件系统与 VFS 正确性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B29BE5-73BC-42AB-BBFC-8997DFE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这一组 PR 面向真实应用的文件系统访问模式，补齐 inode 分配、rename/exec 和设备传输语义。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D12CE3-4A30-4247-B5F2-2756E79B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1203436-9617-43A6-9AAB-73F3ADD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6B980D-6D7C-40B5-96DE-14BAE62C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BF5444D-0F68-4B36-9231-C018B55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ext4 block group 可标记 inode bitmap 未初始化；allocator 需要识别并初始化，再继续分配 inode。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89F4A6-C1E5-4CB6-8DDB-AF934B0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CA1823-B9C4-4A8C-8B5A-46FE3E1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BA277D-239C-469A-8F5D-B12D0C2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DFDD90-8F02-406E-BED3-E322B91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的目录项和可执行文件生命周期要一致；rename/unlink 不能让后续 exec/open 看到错乱状态。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BF7AFE5-822F-44C8-985B-240F2A5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DD5CB24-545E-4944-A883-275D597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A6B08B4-3416-44B6-9DBC-99E53F7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#800 device transfer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CAC6CB7-2695-49D8-BC30-79D51C9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设备节点读写要遵守完整 transfer 语义，否则 busybox、构建脚本等用户态工具会拿到短读写。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484DC5-658C-49F8-9321-7C42D43F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成果：文件系统层面对真实应用的目录项、inode 和设备 I/O 行为更加接近 Linux 预期。</a:t>
            </a:r>
          </a:p>
        </p:txBody>
      </p:sp>
    </p:spTree>
    <p:extLst>
      <p:ext uri="{BB962C8B-B14F-4D97-AF65-F5344CB8AC3E}">
        <p14:creationId xmlns:p14="http://schemas.microsoft.com/office/powerpoint/2010/main" val="1248283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2C6BFC-8B4B-43AA-841D-EAABC7E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7B7F-E186-47A3-98CB-1209C0B2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369C9-DD13-4A2A-A814-0261081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58587-68AD-40F6-A992-E8220A44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 4：StarryOS guest 内自举编译：单核阶段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03389-3FE8-4611-8D81-A1EC060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单核阶段先把完整 cargo build 跑通；真正瓶颈是环境、日志、翻译执行和 OS 语义共同拉长反馈。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584D8-2C4E-4D0E-AC0F-FA17930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1AC30-F2AD-4821-B3AC-12BC00F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4885B-1C61-4193-8517-C6FA7071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6h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7CF7-D085-4D3A-AAAB-8464441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早期带高频日志的一次完整编译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D007F-A0E0-4D30-87C8-B7F5905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62C24-F3BC-4E56-A7C7-CBE81C85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B6C30-659D-4EEE-B8DE-8849A446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050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100min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FC2C5-9DB6-43F5-AF49-4355522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908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去掉高频日志后的单核反馈量级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3F557-547A-4BE2-87A0-C59FD29B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712CD-5D3C-452D-846E-04F3D5D9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59EEC-6D26-4C95-92F4-152B7413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Alpine/riscv64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E5B53-F238-4ED2-9F27-650DD174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Docker Linux rootfs；不同于 macOS host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42E33-78C0-49DB-AE1B-8F21657D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8EF94-D0EE-4773-9864-C621B55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08E25-3820-4838-A280-E92E83C7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TCG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65B25-63F4-444F-9B0E-D4982CA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908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riscv64 guest 指令翻译执行，I/O 和 syscall 也走 guest 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39B90-4585-493C-B419-EB5B16C7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ECB89-84E8-4DDB-9458-0E5A1D7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8C55C-91EF-4464-9236-7196771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环境差异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74483-F440-4646-B4E1-6C8774E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不是 macOS 上直接 cargo build，而是在 Docker 准备的 Linux/Alpine/riscv64 rootfs 中，让 StarryOS guest 承载 Rust/Cargo workload。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C2639-D73B-4072-934A-3377D11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877D0-52B8-4886-96D4-E964920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FB850-5582-44CB-98C8-495EDB09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慢的直接原因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99CE4-C6D4-4188-BC3A-7DC06EE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QEMU TCG 指令翻译本身慢；串口/trace 日志会把 trap、syscall、调度和文件系统路径的开销放大到不可调试。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48442-56F0-4E10-BEA3-689E2A36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8CB1D-62A0-4375-9CB8-1141435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6D302-DD34-4985-BCAB-E8BB09E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单核阶段找到的 bug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52FF5-1945-457A-8423-29CC98E9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281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真实编译暴露 fork/exec/wait、futex/robust-list、文件系统、rsext4、tmpfs rename、设备 I/O 和进程回收等问题。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6AA69-13F3-4841-962B-C4F4F1F8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单核阶段的核心价值：先把 6h 级反馈压到可分析范围，并把“慢/卡住”拆成可复现的 OS bug。</a:t>
            </a:r>
          </a:p>
        </p:txBody>
      </p:sp>
    </p:spTree>
    <p:extLst>
      <p:ext uri="{BB962C8B-B14F-4D97-AF65-F5344CB8AC3E}">
        <p14:creationId xmlns:p14="http://schemas.microsoft.com/office/powerpoint/2010/main" val="1830568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8E32A-935B-4862-99FA-3F8B7DC8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1FBD7-9A16-47CB-8DEC-54BEA851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7D056-291A-4AC7-9ADB-B8D9A6D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3B61F-1AB2-4FB3-A0B5-E451A50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多核编译性能结果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B2238-7355-4E9D-94DD-61037EF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多核不是只开 -smp 8：先缩短编译工作量和 OS 热路径，再比较 guest 内 jobs=8 与 macOS host 的差距。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ED957-33DB-4622-8756-8B5CA2DF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1C7D8-4D65-4F4B-80AC-794CAC24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FA02D-5D6D-411C-ABA8-6D675BF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951s -&gt; 331s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D7AC0-1BB1-4E83-9E68-7C11634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端到端调优，2.87x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52177-6972-4E81-992B-B22BBEC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79F4D-F2C2-49AB-A8D6-74CF865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4327-FB3B-43C1-9FF8-374BB09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422s -&gt; 341s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6F06E-9941-4774-85C0-8D0CD93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717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 profile 只改 guest jobs，1.24x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29E8C-56B1-4977-9627-280F31C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3784F-3FD4-4B07-B40D-5E257FD8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D0FED-3B00-4CFD-8B80-812903B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96s -&gt; 42s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63DCF-68CB-4CE5-831A-11482CCD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release，2.29x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3D8C8-0212-4C1B-AF7E-BA465BA0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4BDD4-9A28-40E8-B1B0-F2A72C0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52C68-481D-4FD9-B6CB-B59E980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85s -&gt; 29s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7A001-1915-4281-AE9B-E087B06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7177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aligned reference，2.93x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EDB23-7DB5-43EA-854A-9CA6B1A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速度演进：951s -&gt; 642s -&gt; 515s -&gt; 427s -&gt; 379s -&gt; 341s -&gt; 331s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6C41B-BF9A-4E6F-96D7-D97646E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552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96C28-EBE9-4B6A-BB0B-BC148FC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4060F-B488-45BE-954B-E1CB768F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换底座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0B6FE-2902-42D1-AF9A-5401494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从早期 RISC-V/Docker 慢路径转到 AArch64/HVF，本机虚拟化减少翻译开销。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49C01-6B2F-4EAF-A575-89C37FF1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95800"/>
            <a:ext cx="2552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2EC13-BF35-42B4-882D-5A84FDAD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95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A7D51-F4DA-4E51-B9E7-AF95922D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672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缩短尾段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09BD35-E64C-4BD7-90C5-75010FDD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source/target 放 tmp；关闭 LTO；opt0+cgu256，把 642s 收到 427s。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DC9E8-4920-4C77-9E5D-445D7959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2552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E00BC-C5CA-4FD7-AD0C-EE9B503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8582CD-5740-4BDB-A57A-7743D3B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修 OS 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0FA179-BAD1-45AC-904E-EE51330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wakeup/runqueue、futex、文件系统等修复后，多核 cargo 尾部能继续推进。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508514-D94F-4BC3-BC0E-9F92E4F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552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D394E9-8ABC-4ABC-99A4-12E1EF8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D8C91-A34A-4DAE-9DFF-34065AB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672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统一口径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8C6773-A001-4E1F-8E42-40BBDB6A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331s 是 tuned best；严格 jobs-only 是 422s/341s；host 对照说明 Cargo 本身有并行空间。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B6E302-7758-4D6B-9141-46F7825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下一页开始拆原因：为什么 host 有 2.29x/2.93x，而 guest 同口径只有 1.24x。</a:t>
            </a:r>
          </a:p>
        </p:txBody>
      </p:sp>
    </p:spTree>
    <p:extLst>
      <p:ext uri="{BB962C8B-B14F-4D97-AF65-F5344CB8AC3E}">
        <p14:creationId xmlns:p14="http://schemas.microsoft.com/office/powerpoint/2010/main" val="20131191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27F73-25F6-456D-A98D-26A1C9B7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73F0F-68AC-4EA6-B7F9-464E4E2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A558-5AD3-4EE0-A336-A46EA7B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ABD01-A8DC-47C2-B306-2784953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性能模型与测试细项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DBF3-0839-499D-962C-704A67E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每个瓶颈都用接近 Cargo 行为的微基准拆开验证，而不是只给粗略归因。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727FA-C2E8-4966-9DFF-FAA09AD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36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T_build(N) = T_std/cache + T_serial + T_parallel/N + T_fs(N) + T_smp(N) + T_wait(N)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50C6D-62AB-4575-8A6C-809E00C8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17DC8-7E63-46C8-8AFC-CBEE5FE9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E0A66-1E8E-4380-915F-21FFA73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42BDF-C5AC-454E-9A2C-40427012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152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fork/exec/wait 1000 次：20/11/5/3s，8 路 6.67x。说明 OS 短链路不是完全不能并行。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AC3BD-73CD-42BD-960B-5DFF58E9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778DA-ACB5-449B-986C-2E047A1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FBB43-16F3-4C90-BE34-7966FFB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build-script 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A2174-AE43-4C66-AEFD-8688A9E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0450"/>
            <a:ext cx="2152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 个 build-script：27/22/27/32/32s。2 路最快，说明 build.rs/proc-macro 等短阶段过并行会反吃。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484CB-B269-47EB-BEF0-1BC07E7C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0A962-E9C2-4829-9549-04DAF64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0B4C2-EE35-4E8F-AC89-447F7F76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FS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56CA8-800E-438C-B350-8C3654FE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2152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rsext4 fileio jobs=8：47.5s -&gt; 14.5s。target 小文件 create/write/rename/unlink 是真实压力。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A2864-EFE0-4863-83FF-1EA49DAE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06D15-4755-4ECF-B55D-7E9C7FAB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973CA-6168-4CCA-B6DD-4B911C9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5AC40-CE66-40BF-A260-71486E8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152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 96/42=2.29x；host aligned 85/29=2.93x；guest jobs-only 422/341=1.24x。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3B9C3-5C96-426F-99AD-42A8B3A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模型结论：多核有效，但 full cargo 的收益被 Cargo critical path、长 rustc 窄阶段、build.rs/proc-macro 短阶段和 FS/SMP 共同限制。</a:t>
            </a:r>
          </a:p>
        </p:txBody>
      </p:sp>
    </p:spTree>
    <p:extLst>
      <p:ext uri="{BB962C8B-B14F-4D97-AF65-F5344CB8AC3E}">
        <p14:creationId xmlns:p14="http://schemas.microsoft.com/office/powerpoint/2010/main" val="8630846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D148C-22D5-4603-BB84-B823F6F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9F529-021E-41FD-BDEC-9545629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7C0D2-DF35-4C9F-8C4A-7F69392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D028C-2C04-4BF5-8F08-306820D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 8 核总是打不满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ACE2-BC7D-4F54-ADB6-54F6140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 551s 采样显示：8 核 guest 能短时拉高到 93.2%，但均值只有 48.9%，90% 以上仅 1 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AB58F-22DD-485D-9543-9BF10C3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6581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6cefa6ea04ec9">
            <a:extLst>
              <a:ext uri="{96DAC541-7B7A-43D3-8B79-37D633B846F1}">
                <asvg:svgBlip xmlns:asvg="http://schemas.microsoft.com/office/drawing/2016/SVG/main" r:embed="R1460bda2834543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2190750"/>
            <a:ext cx="72771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DCA6-312A-4C8B-93B5-D20BA935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口径：BUILD-START 到 BUILD-END 全窗口；QEMU 进程 CPU time 按 8 vCPU 归一化，800% QEMU CPU = 100% 容量。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49103-A4F5-4CA1-A5E1-895327A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证据等级：曲线/日志直接测得；原因由 Cargo timing、host 对照和 guest 短基准共同支撑。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28D4-44D9-4D35-89D8-396457B0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89053-DB1A-4009-B802-E2B55F27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E3ED7-DE11-420E-B575-FF19B7C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负载宽度阶段性不足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200CF-5B92-4C2B-B980-FFFBE47C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完整曲线只有 39s &gt;=75%，&gt;=90% 只有 1s；多数时间没有 8 个持续可运行编译任务。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DE304-B17D-4BC9-B9E4-AD6E62B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5756F-27B3-456E-8FF7-18A462B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1AC61-C2DC-4AA2-8A3F-6219FE40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0040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rustc / 尾段有限并行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89BED-BEF2-4106-B996-E7EB54B2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814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约 7:00 后进入窄尾段，QEMU CPU 长时间约 200%，即约 2 个忙 vCPU。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66402-367E-45BE-9BC0-4E186A5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1E17C-6433-4F32-9EB9-E697552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767C0-4DC3-4D32-B291-C6D83AE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短阶段过并行会反吃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84F87-07BF-4B55-87E7-E2D8933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529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 个 build-script wave：j1/j2/j4/j6/j8 = 27/22/27/32/32s，2 路最快。这里指 build.rs/proc-macro，不指 rustc 本体。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61C91-6B90-4514-9427-BDB782B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48C38-AA7B-46FC-9D8A-5B07E33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83086-1005-4EE1-B59C-DE471D45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4350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OS/FS 路径确实影响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6A6A4-3EC5-41F1-A306-AE1E9BB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245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 20/11/5/3s 说明多核有效；rsext4 j8 47.5s -&gt; 14.5s 说明 FS 路径曾是瓶颈。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31337-4A8E-4A67-98C0-D6930A33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结论：setting 已生效，8 核能被用起来；打不满主要来自 Cargo/Rust 负载宽度、尾段串行化和 guest OS/FS 短链路成本。</a:t>
            </a:r>
          </a:p>
        </p:txBody>
      </p:sp>
    </p:spTree>
    <p:extLst>
      <p:ext uri="{BB962C8B-B14F-4D97-AF65-F5344CB8AC3E}">
        <p14:creationId xmlns:p14="http://schemas.microsoft.com/office/powerpoint/2010/main" val="683440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9650FD-EDCA-4820-B034-2EABA8F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12535-FC2A-4395-B643-E593E6A0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5BEA3-046C-41A2-A5B0-14B4F39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65F88-2920-4B06-A666-2E8D6B41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对齐对比：为什么 host 有收益，guest 只有 1.24x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8AA05-04FC-4867-9706-12AE7F60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 证明 Cargo 本身有并行收益；guest jobs-only 更低，说明差距落在 guest OS/FS/SMP 承载成本上。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1A090-D7C3-41B4-BC6C-A13A393E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228E4-3F2B-4A74-8439-57E2868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E4650-8768-4B69-9C17-CBC4661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96s -&gt; 42s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DD9A9-032E-4666-87B2-B4360DE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release，2.29x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6367B-F2F4-471E-991E-2CE85E5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86FB1-BA20-40EB-A40A-5A8B6B7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83380-F161-4A46-AD05-BDE7DF1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85s -&gt; 29s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C0FB9-ED1A-4D94-847E-B2CD052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host aligned reference，2.93x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EBE2D-5147-40F8-BC06-3873F6A1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209DD-A29D-49E3-8844-59E3DAB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C6ED-4C4D-4170-A707-49ED785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422s -&gt; 341s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B7D88-B264-4DD4-A05A-A978C78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jobs-only，1.24x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5465E-96BC-4ABA-B785-25F09C8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810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7e2e4f38943e2">
            <a:extLst>
              <a:ext uri="{96DAC541-7B7A-43D3-8B79-37D633B846F1}">
                <asvg:svgBlip xmlns:asvg="http://schemas.microsoft.com/office/drawing/2016/SVG/main" r:embed="R69cdc6acded349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3886200"/>
            <a:ext cx="5505450" cy="1524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467D5-2D38-4102-BA2A-B889814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同一 native release profile：-j8 比 -j1 快，但 CPU 仍远低于 8 核常满。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D4A86-7D87-4333-BE3E-527DD6DF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A17D-3D80-4D6B-9F8F-A7006031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B5B39-76F0-4C9C-A92B-A6EF623A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76700"/>
            <a:ext cx="3009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对比结论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B7E3E-A630-43BB-99A2-FBFE127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009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Cargo DAG 有可并行空间；但 guest 还要承担 fork/exec、wait/futex、VFS/FS、页分配、调度和 QEMU guest userland 成本。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56561-641F-4674-9820-3CAE037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这自然引出下一页：把慢拆成 Cargo、OS、QEMU 三个边界，而不是把所有问题都说成 QEMU 慢。</a:t>
            </a:r>
          </a:p>
        </p:txBody>
      </p:sp>
    </p:spTree>
    <p:extLst>
      <p:ext uri="{BB962C8B-B14F-4D97-AF65-F5344CB8AC3E}">
        <p14:creationId xmlns:p14="http://schemas.microsoft.com/office/powerpoint/2010/main" val="19348485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EE7F8-5EA8-48E0-8852-786B892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F188E-6B35-4968-989B-8D7D964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290A3-D619-45AE-BF9F-8E68737F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4D57B-4C37-45EF-962A-6B67BD1B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成因拆解：Cargo、OS、QEMU 分别承担什么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6F899-F033-4BFA-A101-D6DA721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最后把瓶颈按归属拆清楚，避免把所有慢都归因给 QEMU 或 Cargo。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C14D0-8AE7-4CDA-9B8D-511C27B4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归属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D1F8F-39DB-4C1F-9E34-F76DE630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C7AA3-E4AA-41EF-838E-5EFAFEF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32A34-78E9-4AAB-AFD9-DBD4C81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7ACB7-606E-40F8-AD33-9A5DDD5E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C061C-D637-4E3C-AA00-E6A487B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DAG / 尾部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9B0BB-DBFE-4FB2-9C8D-C848C3D8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jobs=8 是上限，不保证任意时刻有 8 个可运行 rustc。尾段依赖链变窄，额外核心无事可做。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35267-F474-4A7F-8BA1-3B86B6C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完整 occupancy 图：&gt;=90% 仅 1s；约 7:00 后长期约 2 个忙 vCPU。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AE448-2C49-4C27-8B5D-5CDBFA5E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D473-FACD-4B05-9361-3188450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DAD8D-C39B-458F-B411-6B031BCA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OS 热路径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3F162-CFB4-4022-BA91-B91C7C6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fork/exec/wait、pipe、futex、进程回收、页分配和唤醒路径会被 cargo 大量进程和 build.rs/proc-macro 阶段反复触发。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E10EA-CD98-42E6-8325-721EC202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fork/exec/wait 1000 次 20/11/5/3s；RawMutex/wakeup/topology 等 PR 支撑多核前进。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3F450-00CD-48AB-A432-C744EA2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06574-3A3A-4F7F-8C4F-89E0F56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A22C2-03A2-415F-994E-5424F04A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 / 文件系统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1E183-98F3-4859-9C24-C70A941C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target-dir 会产生大量小文件、rename、metadata 查询、目录遍历和临时文件替换。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72B9E-54B9-404D-9828-474F78E4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rsext4 fileio j8 47.5s -&gt; 14.5s；#695/#844/#800 等修复覆盖真实访问模式。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F4925-7971-4223-856D-DA904DF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F7A48-BD6F-4A73-B2B6-5DB5734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E8498-1CA9-4AAE-90B4-7229C60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虚拟化边界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65900-054F-463C-AC94-02DDABF9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RISC-V TCG 翻译慢；AArch64/HVF 缩短纯翻译成本，但 guest syscall/FS/scheduler 仍是真实开销。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D80FC-DC15-4E17-97BF-B10A4E8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早期带日志约 6h；不打日志约 100min；AArch64/HVF 后进入 951s -&gt; 331s 路线。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222E8F-0496-4AAB-9DA3-CE22110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结论：多核有收益，但收益被 workload 结构和 guest OS 热路径共同限制；这也是后续优化应继续拆的方向。</a:t>
            </a:r>
          </a:p>
        </p:txBody>
      </p:sp>
    </p:spTree>
    <p:extLst>
      <p:ext uri="{BB962C8B-B14F-4D97-AF65-F5344CB8AC3E}">
        <p14:creationId xmlns:p14="http://schemas.microsoft.com/office/powerpoint/2010/main" val="5699236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0151A-D727-4132-994F-3AF546F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16BF6-0D4C-474C-A575-345E188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D8FA2-4EAF-4AF4-AC7B-B22984C7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45F8E-C712-4348-AC0D-4A71739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课程建议与思考：AI 时代的 OS 实验设计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1AE23-AEB7-4EB8-9D85-F3FBECF3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不替代 OS 理解；它更适合把时间花在任务拆解、证据组织、系统验证和真实工程交付上。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B547-AD16-405D-A44E-F05A1EF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3959F-BA5B-4289-98DA-630C948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2A607-24C4-479E-98AA-8B611649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训练任务拆解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98EC4-9D8D-4481-A8B8-86CE1897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Agent 能处理长上下文，但前提是目标、仓库、分支、运行模式和验收标准足够清楚。课程可以重点训练如何把庞大 OS 问题拆成可验证的小任务。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3E9EF-B144-4A2E-8C01-5290EBE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DE784-31EB-4E71-B30A-171B5B1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99EA1-145B-40D1-9316-42599CC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更早接触真实系统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4A501-0956-4559-8DF1-0B7D72C2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AI 辅助下，低年级同学也可以参与读代码、跑测试、看日志、修 bug、提 PR；OS 课可以成为工程能力快速成长的入口。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40B7D-784B-4534-9C02-9DFBD6E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02FB8-D77B-4584-9330-7141F83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50949-0F9A-41D1-B442-7DCDC62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选修课的多元参与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B7333-47B7-4AAD-9F97-BFBA7EC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可以区分基础必做与进阶可选。AI 方向同学能把模型能力用于真实 OS 项目，但最终仍要围绕内存、进程、文件系统、syscall、并发和性能。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E0295-A1FA-4B36-B49D-6FC37AE8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1024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17250-232E-4C4D-9A58-BED8A56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7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我的收获：真实 workload 会同时考验 ABI、文件系统、调度、同步和性能；只有证据链完整，PR 和性能结论才站得住。</a:t>
            </a:r>
          </a:p>
        </p:txBody>
      </p:sp>
    </p:spTree>
    <p:extLst>
      <p:ext uri="{BB962C8B-B14F-4D97-AF65-F5344CB8AC3E}">
        <p14:creationId xmlns:p14="http://schemas.microsoft.com/office/powerpoint/2010/main" val="1569098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2026-05-30T11:51:22.5580000Z</dcterms:created>
  <dcterms:modified xsi:type="dcterms:W3CDTF">2026-05-30T11:51:22.5580000Z</dcterms:modified>
</coreProperties>
</file>